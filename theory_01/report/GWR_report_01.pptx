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2" r:id="rId3"/>
    <p:sldId id="277" r:id="rId4"/>
    <p:sldId id="259" r:id="rId5"/>
    <p:sldId id="258" r:id="rId6"/>
    <p:sldId id="278" r:id="rId7"/>
    <p:sldId id="280" r:id="rId8"/>
    <p:sldId id="279" r:id="rId9"/>
    <p:sldId id="260" r:id="rId10"/>
    <p:sldId id="281" r:id="rId11"/>
    <p:sldId id="282" r:id="rId12"/>
    <p:sldId id="283" r:id="rId13"/>
    <p:sldId id="284" r:id="rId14"/>
    <p:sldId id="285" r:id="rId15"/>
    <p:sldId id="286" r:id="rId16"/>
    <p:sldId id="298" r:id="rId17"/>
    <p:sldId id="300" r:id="rId18"/>
    <p:sldId id="299" r:id="rId19"/>
    <p:sldId id="301" r:id="rId20"/>
    <p:sldId id="302" r:id="rId21"/>
    <p:sldId id="304" r:id="rId22"/>
    <p:sldId id="323" r:id="rId23"/>
    <p:sldId id="308" r:id="rId24"/>
    <p:sldId id="309" r:id="rId25"/>
    <p:sldId id="310" r:id="rId26"/>
    <p:sldId id="324" r:id="rId27"/>
    <p:sldId id="326" r:id="rId28"/>
    <p:sldId id="287" r:id="rId29"/>
    <p:sldId id="289" r:id="rId30"/>
    <p:sldId id="294" r:id="rId31"/>
    <p:sldId id="291" r:id="rId32"/>
    <p:sldId id="292" r:id="rId33"/>
    <p:sldId id="293" r:id="rId34"/>
    <p:sldId id="295" r:id="rId35"/>
    <p:sldId id="296" r:id="rId36"/>
    <p:sldId id="297" r:id="rId37"/>
    <p:sldId id="303" r:id="rId38"/>
    <p:sldId id="306" r:id="rId39"/>
    <p:sldId id="307" r:id="rId40"/>
    <p:sldId id="311" r:id="rId41"/>
    <p:sldId id="325" r:id="rId42"/>
    <p:sldId id="314" r:id="rId43"/>
    <p:sldId id="316" r:id="rId44"/>
    <p:sldId id="317" r:id="rId45"/>
    <p:sldId id="318" r:id="rId46"/>
    <p:sldId id="319" r:id="rId47"/>
    <p:sldId id="320" r:id="rId48"/>
    <p:sldId id="321" r:id="rId49"/>
    <p:sldId id="313" r:id="rId50"/>
    <p:sldId id="322" r:id="rId51"/>
    <p:sldId id="332" r:id="rId52"/>
    <p:sldId id="333" r:id="rId53"/>
    <p:sldId id="340" r:id="rId54"/>
    <p:sldId id="334" r:id="rId55"/>
    <p:sldId id="335" r:id="rId56"/>
    <p:sldId id="336" r:id="rId57"/>
    <p:sldId id="337" r:id="rId58"/>
    <p:sldId id="339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B"/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5184" autoAdjust="0"/>
  </p:normalViewPr>
  <p:slideViewPr>
    <p:cSldViewPr snapToGrid="0">
      <p:cViewPr>
        <p:scale>
          <a:sx n="100" d="100"/>
          <a:sy n="100" d="100"/>
        </p:scale>
        <p:origin x="62" y="-6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26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23.xml"/><Relationship Id="rId7" Type="http://schemas.openxmlformats.org/officeDocument/2006/relationships/image" Target="../media/image29.pn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image" Target="../media/image28.png"/><Relationship Id="rId5" Type="http://schemas.openxmlformats.org/officeDocument/2006/relationships/image" Target="../media/image280.png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33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documentation.org/packages/graphics/versions/3.6.2/topics/image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tags" Target="../tags/tag33.xml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49.png"/><Relationship Id="rId5" Type="http://schemas.openxmlformats.org/officeDocument/2006/relationships/tags" Target="../tags/tag35.xml"/><Relationship Id="rId10" Type="http://schemas.openxmlformats.org/officeDocument/2006/relationships/image" Target="../media/image48.png"/><Relationship Id="rId4" Type="http://schemas.openxmlformats.org/officeDocument/2006/relationships/tags" Target="../tags/tag34.xml"/><Relationship Id="rId9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tags" Target="../tags/tag38.xml"/><Relationship Id="rId7" Type="http://schemas.openxmlformats.org/officeDocument/2006/relationships/image" Target="../media/image52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image" Target="../media/image51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9.xml"/><Relationship Id="rId9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tags" Target="../tags/tag42.xml"/><Relationship Id="rId7" Type="http://schemas.openxmlformats.org/officeDocument/2006/relationships/image" Target="../media/image54.png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image" Target="../media/image53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3.xml"/><Relationship Id="rId9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tags" Target="../tags/tag46.xml"/><Relationship Id="rId7" Type="http://schemas.openxmlformats.org/officeDocument/2006/relationships/image" Target="../media/image57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61.png"/><Relationship Id="rId5" Type="http://schemas.openxmlformats.org/officeDocument/2006/relationships/tags" Target="../tags/tag48.xml"/><Relationship Id="rId10" Type="http://schemas.openxmlformats.org/officeDocument/2006/relationships/image" Target="../media/image60.png"/><Relationship Id="rId4" Type="http://schemas.openxmlformats.org/officeDocument/2006/relationships/tags" Target="../tags/tag47.xml"/><Relationship Id="rId9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5.png"/><Relationship Id="rId3" Type="http://schemas.openxmlformats.org/officeDocument/2006/relationships/tags" Target="../tags/tag5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51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52.png"/><Relationship Id="rId5" Type="http://schemas.openxmlformats.org/officeDocument/2006/relationships/tags" Target="../tags/tag55.xml"/><Relationship Id="rId10" Type="http://schemas.openxmlformats.org/officeDocument/2006/relationships/image" Target="../media/image49.png"/><Relationship Id="rId4" Type="http://schemas.openxmlformats.org/officeDocument/2006/relationships/tags" Target="../tags/tag54.xml"/><Relationship Id="rId9" Type="http://schemas.openxmlformats.org/officeDocument/2006/relationships/image" Target="../media/image48.png"/><Relationship Id="rId14" Type="http://schemas.openxmlformats.org/officeDocument/2006/relationships/image" Target="../media/image6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tags" Target="../tags/tag61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77.png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76.png"/><Relationship Id="rId5" Type="http://schemas.openxmlformats.org/officeDocument/2006/relationships/tags" Target="../tags/tag63.xml"/><Relationship Id="rId10" Type="http://schemas.openxmlformats.org/officeDocument/2006/relationships/image" Target="../media/image75.png"/><Relationship Id="rId4" Type="http://schemas.openxmlformats.org/officeDocument/2006/relationships/tags" Target="../tags/tag62.xml"/><Relationship Id="rId9" Type="http://schemas.openxmlformats.org/officeDocument/2006/relationships/image" Target="../media/image7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83.png"/><Relationship Id="rId3" Type="http://schemas.openxmlformats.org/officeDocument/2006/relationships/tags" Target="../tags/tag67.xml"/><Relationship Id="rId7" Type="http://schemas.openxmlformats.org/officeDocument/2006/relationships/tags" Target="../tags/tag71.xml"/><Relationship Id="rId12" Type="http://schemas.openxmlformats.org/officeDocument/2006/relationships/image" Target="../media/image82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image" Target="../media/image81.png"/><Relationship Id="rId5" Type="http://schemas.openxmlformats.org/officeDocument/2006/relationships/tags" Target="../tags/tag69.xml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4" Type="http://schemas.openxmlformats.org/officeDocument/2006/relationships/tags" Target="../tags/tag68.xml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tags" Target="../tags/tag79.xml"/><Relationship Id="rId13" Type="http://schemas.openxmlformats.org/officeDocument/2006/relationships/image" Target="../media/image86.png"/><Relationship Id="rId18" Type="http://schemas.openxmlformats.org/officeDocument/2006/relationships/image" Target="../media/image91.png"/><Relationship Id="rId3" Type="http://schemas.openxmlformats.org/officeDocument/2006/relationships/tags" Target="../tags/tag74.xml"/><Relationship Id="rId21" Type="http://schemas.openxmlformats.org/officeDocument/2006/relationships/image" Target="../media/image94.png"/><Relationship Id="rId7" Type="http://schemas.openxmlformats.org/officeDocument/2006/relationships/tags" Target="../tags/tag78.xml"/><Relationship Id="rId12" Type="http://schemas.openxmlformats.org/officeDocument/2006/relationships/slideLayout" Target="../slideLayouts/slideLayout2.xml"/><Relationship Id="rId17" Type="http://schemas.openxmlformats.org/officeDocument/2006/relationships/image" Target="../media/image90.png"/><Relationship Id="rId2" Type="http://schemas.openxmlformats.org/officeDocument/2006/relationships/tags" Target="../tags/tag73.xml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tags" Target="../tags/tag72.xml"/><Relationship Id="rId6" Type="http://schemas.openxmlformats.org/officeDocument/2006/relationships/tags" Target="../tags/tag77.xml"/><Relationship Id="rId11" Type="http://schemas.openxmlformats.org/officeDocument/2006/relationships/tags" Target="../tags/tag82.xml"/><Relationship Id="rId5" Type="http://schemas.openxmlformats.org/officeDocument/2006/relationships/tags" Target="../tags/tag76.xml"/><Relationship Id="rId15" Type="http://schemas.openxmlformats.org/officeDocument/2006/relationships/image" Target="../media/image88.png"/><Relationship Id="rId23" Type="http://schemas.openxmlformats.org/officeDocument/2006/relationships/image" Target="../media/image96.png"/><Relationship Id="rId10" Type="http://schemas.openxmlformats.org/officeDocument/2006/relationships/tags" Target="../tags/tag81.xml"/><Relationship Id="rId19" Type="http://schemas.openxmlformats.org/officeDocument/2006/relationships/image" Target="../media/image92.png"/><Relationship Id="rId4" Type="http://schemas.openxmlformats.org/officeDocument/2006/relationships/tags" Target="../tags/tag75.xml"/><Relationship Id="rId9" Type="http://schemas.openxmlformats.org/officeDocument/2006/relationships/tags" Target="../tags/tag80.xml"/><Relationship Id="rId14" Type="http://schemas.openxmlformats.org/officeDocument/2006/relationships/image" Target="../media/image87.png"/><Relationship Id="rId22" Type="http://schemas.openxmlformats.org/officeDocument/2006/relationships/image" Target="../media/image9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632012" y="671792"/>
            <a:ext cx="1104003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Week 2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進度 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PPT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數學式修正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迴歸點修正為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完成套件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+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程式碼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比較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方法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公式推導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尋找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AI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視覺化時使用的套件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(R basic image())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Leung F3 test: Leung 2000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原論文、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套件、原文書參數比較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3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中模擬實驗內容，建構網格並設置真實係數，實作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模擬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模擬流程、程式碼設計、結果比較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流程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補上信賴區間推導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4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預計進度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學習黃金切割搜尋演算法、完成程式碼實作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B9B04A7-7D30-1C7E-DB85-275B0D301329}"/>
              </a:ext>
            </a:extLst>
          </p:cNvPr>
          <p:cNvSpPr txBox="1"/>
          <p:nvPr/>
        </p:nvSpPr>
        <p:spPr>
          <a:xfrm>
            <a:off x="7046259" y="6193393"/>
            <a:ext cx="5145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底部橘色表示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 week 1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 後有更新的簡報頁面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A29C-65D0-7A79-63F9-975BE01F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70856F7C-90E8-729C-A5F7-602427336852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609B215-3F00-2999-5030-2699DBC0CEDF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BD7BF49-76CA-8863-DEB5-E5E4BBF5B5D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725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除了迴歸點本身，也使用其他觀測點的資料訓練模型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701053" y="887632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14" name="圖片 13" descr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 title="IguanaTex Picture Display">
            <a:extLst>
              <a:ext uri="{FF2B5EF4-FFF2-40B4-BE49-F238E27FC236}">
                <a16:creationId xmlns:a16="http://schemas.microsoft.com/office/drawing/2014/main" id="{1BBB9CA3-D0A3-1CC6-BF69-27F4B4EDB48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22" y="1561216"/>
            <a:ext cx="8274684" cy="474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9" name="圖片 28" descr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 title="IguanaTex Picture Display">
            <a:extLst>
              <a:ext uri="{FF2B5EF4-FFF2-40B4-BE49-F238E27FC236}">
                <a16:creationId xmlns:a16="http://schemas.microsoft.com/office/drawing/2014/main" id="{C71CE86A-DD15-09D1-DCAB-AAE36951A5E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92" y="2196932"/>
            <a:ext cx="10207015" cy="419490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823267" y="1744581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823267" y="893704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7" name="圖片 6" descr="\documentclass{article}&#10;\usepackage{amsmath}&#10;\pagestyle{empty}&#10;&#10;\begin{document}&#10;&#10;\[&#10;\hat{\boldsymbol{\beta}}&#10;=&#10;\left(&#10;\mathbf{X}^{T}\mathbf{X}&#10;\right)^{-1}&#10;\mathbf{X}^{T}\mathbf{y}&#10;\]&#10;&#10;\end{document}" title="IguanaTex Picture Display">
            <a:extLst>
              <a:ext uri="{FF2B5EF4-FFF2-40B4-BE49-F238E27FC236}">
                <a16:creationId xmlns:a16="http://schemas.microsoft.com/office/drawing/2014/main" id="{9D8A414E-4B2C-2232-F7FD-6B38D070CD4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836" y="1354825"/>
            <a:ext cx="1962515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100325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資料點多的地方採用小範圍，資料點少的地方採用大範圍，保證每個迴歸點模型都使用合理資料量訓練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7A7A2-5C2C-5E01-A4BA-30E77121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469F2-692B-839C-F32E-E848C395D91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1ED9E0-132C-E9F8-D4E3-C0F129FE01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vs GCV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AD5E4A0-9204-EFFE-5E35-04A7B13CC41A}"/>
              </a:ext>
            </a:extLst>
          </p:cNvPr>
          <p:cNvSpPr txBox="1"/>
          <p:nvPr/>
        </p:nvSpPr>
        <p:spPr>
          <a:xfrm>
            <a:off x="735106" y="2324804"/>
            <a:ext cx="61049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?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比完整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更容易計算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不須排除迴歸點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透過複雜度懲罰避免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wrap-around effect</a:t>
            </a:r>
            <a:endParaRPr lang="zh-TW" altLang="en-US" sz="2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D7193-7708-DB5A-A795-F6B48B74BB56}"/>
              </a:ext>
            </a:extLst>
          </p:cNvPr>
          <p:cNvSpPr txBox="1"/>
          <p:nvPr/>
        </p:nvSpPr>
        <p:spPr>
          <a:xfrm>
            <a:off x="6840070" y="2353386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“An approximation to the cross-validation statistic that is easier to compute is known as the generalized cross-validation criterion (GCV)." p.61</a:t>
            </a:r>
            <a:endParaRPr lang="zh-TW" altLang="en-US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C2EA74-37B2-625B-07DA-663FCE26FA68}"/>
              </a:ext>
            </a:extLst>
          </p:cNvPr>
          <p:cNvSpPr txBox="1"/>
          <p:nvPr/>
        </p:nvSpPr>
        <p:spPr>
          <a:xfrm>
            <a:off x="6840069" y="2986660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“This term prevents the calibration wrapping itself around the data points because v1 would then tend to n and the denominator of equation would tend to 0. p.61</a:t>
            </a:r>
            <a:endParaRPr lang="zh-TW" altLang="en-US" sz="1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B532E27-4338-7EA7-830C-E04DF5F83486}"/>
              </a:ext>
            </a:extLst>
          </p:cNvPr>
          <p:cNvSpPr txBox="1"/>
          <p:nvPr/>
        </p:nvSpPr>
        <p:spPr>
          <a:xfrm>
            <a:off x="735106" y="3519677"/>
            <a:ext cx="61049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 vs GCV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較直接且概念清楚，但計算較慢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用有效參數限制來近似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結果，計算較快，適合大量資料或需要反覆搜尋帶寬的情況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551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2DB81-2B10-BBE2-56B1-871C99459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DDABE62-F235-4343-96E2-86A4AB44BD4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7C74A9-D32A-164F-8E4F-46387B10A09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04EBF62-81F7-6BF5-2FE9-5884E7830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389" y="1200492"/>
            <a:ext cx="5740684" cy="160949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6A2C392-EE68-7144-338D-9A7C9F25C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3" y="3194369"/>
            <a:ext cx="5408148" cy="32211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CC0B12F-E10B-2283-E769-803F505C04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7485" y="3178544"/>
            <a:ext cx="5408148" cy="3252823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269D770B-80A6-20FB-473D-7EDF312120F1}"/>
              </a:ext>
            </a:extLst>
          </p:cNvPr>
          <p:cNvSpPr txBox="1"/>
          <p:nvPr/>
        </p:nvSpPr>
        <p:spPr>
          <a:xfrm>
            <a:off x="3299985" y="819860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20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1A3DC77-0972-4217-3D7F-2318A3DFB77F}"/>
              </a:ext>
            </a:extLst>
          </p:cNvPr>
          <p:cNvSpPr txBox="1"/>
          <p:nvPr/>
        </p:nvSpPr>
        <p:spPr>
          <a:xfrm>
            <a:off x="3299985" y="2830161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29082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6D450-C3F0-0EBA-6381-3F991C71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F8F7A55-2061-40C0-8104-4489426D7E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730C79-0EAF-CDBD-7E45-E5675759E4E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8438594-B76F-5B26-7882-831A76C4F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1" y="1658471"/>
            <a:ext cx="5717972" cy="407042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4634D61-FBBE-6455-7BE9-126EBD399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133" y="1658471"/>
            <a:ext cx="6217612" cy="368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08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1682-ADA6-1F57-6D01-563D161BD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BEEA561-7E37-A8BC-22D8-8453A93DBC0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FEEF29-66E4-B48F-CF7B-3E5E42E216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FD1AD7D-0C85-5B59-7D73-D3FA8B5A12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3203"/>
              </p:ext>
            </p:extLst>
          </p:nvPr>
        </p:nvGraphicFramePr>
        <p:xfrm>
          <a:off x="6436659" y="1254498"/>
          <a:ext cx="5329518" cy="1874520"/>
        </p:xfrm>
        <a:graphic>
          <a:graphicData uri="http://schemas.openxmlformats.org/drawingml/2006/table">
            <a:tbl>
              <a:tblPr/>
              <a:tblGrid>
                <a:gridCol w="2002177">
                  <a:extLst>
                    <a:ext uri="{9D8B030D-6E8A-4147-A177-3AD203B41FA5}">
                      <a16:colId xmlns:a16="http://schemas.microsoft.com/office/drawing/2014/main" val="3128983531"/>
                    </a:ext>
                  </a:extLst>
                </a:gridCol>
                <a:gridCol w="1863927">
                  <a:extLst>
                    <a:ext uri="{9D8B030D-6E8A-4147-A177-3AD203B41FA5}">
                      <a16:colId xmlns:a16="http://schemas.microsoft.com/office/drawing/2014/main" val="1736996794"/>
                    </a:ext>
                  </a:extLst>
                </a:gridCol>
                <a:gridCol w="1463414">
                  <a:extLst>
                    <a:ext uri="{9D8B030D-6E8A-4147-A177-3AD203B41FA5}">
                      <a16:colId xmlns:a16="http://schemas.microsoft.com/office/drawing/2014/main" val="2348390199"/>
                    </a:ext>
                  </a:extLst>
                </a:gridCol>
              </a:tblGrid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364972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最小值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2147.08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12.01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214724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選擇帶寬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140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136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937597"/>
                  </a:ext>
                </a:extLst>
              </a:tr>
              <a:tr h="260802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20</a:t>
                      </a: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次效能測試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800033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執行時間中位數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9.95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9932358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記憶體配置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4.99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9.45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60596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B04A2B07-D39E-1D84-0426-5A71C2978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31" r="3432" b="4240"/>
          <a:stretch>
            <a:fillRect/>
          </a:stretch>
        </p:blipFill>
        <p:spPr>
          <a:xfrm>
            <a:off x="5455023" y="3429000"/>
            <a:ext cx="6736977" cy="297457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A20802D4-5DAC-F80F-14EB-6BF2197C9C2A}"/>
              </a:ext>
            </a:extLst>
          </p:cNvPr>
          <p:cNvSpPr txBox="1"/>
          <p:nvPr/>
        </p:nvSpPr>
        <p:spPr>
          <a:xfrm>
            <a:off x="172572" y="1032229"/>
            <a:ext cx="51793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直接使用理論計算方式，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計算效率優於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</a:p>
          <a:p>
            <a:pPr>
              <a:lnSpc>
                <a:spcPct val="150000"/>
              </a:lnSpc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在理論上為較容易計算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的近似方法，然而實作上在計算有效參數數量時包含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建立對角權重矩陣 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解反矩陣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最耗效能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帽子矩陣軌跡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運算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D011226-555C-25B2-5AE6-E2B601DCD5AC}"/>
              </a:ext>
            </a:extLst>
          </p:cNvPr>
          <p:cNvSpPr txBox="1"/>
          <p:nvPr/>
        </p:nvSpPr>
        <p:spPr>
          <a:xfrm>
            <a:off x="172572" y="3894551"/>
            <a:ext cx="5179358" cy="176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改進方向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用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crossprod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(X, X*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w_i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，避免建立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或許可用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Cholesky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QR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分解，避免解反矩陣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時避免建構大量向量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951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5C572-E077-ED62-5056-BFE5C60F7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B808F47A-5929-BC8A-B9E8-5A784D91B1BC}"/>
              </a:ext>
            </a:extLst>
          </p:cNvPr>
          <p:cNvSpPr/>
          <p:nvPr/>
        </p:nvSpPr>
        <p:spPr>
          <a:xfrm>
            <a:off x="419100" y="725442"/>
            <a:ext cx="11353800" cy="6020078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2804-754D-855A-A282-497EDB729CB7}"/>
              </a:ext>
            </a:extLst>
          </p:cNvPr>
          <p:cNvSpPr/>
          <p:nvPr/>
        </p:nvSpPr>
        <p:spPr>
          <a:xfrm>
            <a:off x="0" y="6777318"/>
            <a:ext cx="12192000" cy="8068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987138-B5CD-92E3-8F91-D7CC1EFC91E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AIC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推導</a:t>
            </a:r>
          </a:p>
        </p:txBody>
      </p:sp>
      <p:pic>
        <p:nvPicPr>
          <p:cNvPr id="14" name="圖片 13" descr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 title="IguanaTex Picture Display">
            <a:extLst>
              <a:ext uri="{FF2B5EF4-FFF2-40B4-BE49-F238E27FC236}">
                <a16:creationId xmlns:a16="http://schemas.microsoft.com/office/drawing/2014/main" id="{A1E4D361-BDEA-45A8-BD44-3EADE7846A8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85" b="13210"/>
          <a:stretch>
            <a:fillRect/>
          </a:stretch>
        </p:blipFill>
        <p:spPr>
          <a:xfrm>
            <a:off x="860608" y="1478307"/>
            <a:ext cx="5223802" cy="5267213"/>
          </a:xfrm>
          <a:prstGeom prst="rect">
            <a:avLst/>
          </a:prstGeom>
        </p:spPr>
      </p:pic>
      <p:pic>
        <p:nvPicPr>
          <p:cNvPr id="20" name="圖片 19" descr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 title="IguanaTex Picture Display">
            <a:extLst>
              <a:ext uri="{FF2B5EF4-FFF2-40B4-BE49-F238E27FC236}">
                <a16:creationId xmlns:a16="http://schemas.microsoft.com/office/drawing/2014/main" id="{7CBC5B4F-77D9-3330-9859-2E7C5E31488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639"/>
          <a:stretch>
            <a:fillRect/>
          </a:stretch>
        </p:blipFill>
        <p:spPr>
          <a:xfrm>
            <a:off x="6204124" y="913431"/>
            <a:ext cx="5223803" cy="5670996"/>
          </a:xfrm>
          <a:prstGeom prst="rect">
            <a:avLst/>
          </a:prstGeom>
        </p:spPr>
      </p:pic>
      <p:pic>
        <p:nvPicPr>
          <p:cNvPr id="26" name="圖片 25" descr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 title="IguanaTex Picture Display">
            <a:extLst>
              <a:ext uri="{FF2B5EF4-FFF2-40B4-BE49-F238E27FC236}">
                <a16:creationId xmlns:a16="http://schemas.microsoft.com/office/drawing/2014/main" id="{18C832D5-0C52-3433-F0B1-894E95C9B8A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08" y="752513"/>
            <a:ext cx="2452536" cy="464214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9BAE6CCA-16C6-F212-2B8A-98D75CE393DD}"/>
              </a:ext>
            </a:extLst>
          </p:cNvPr>
          <p:cNvSpPr txBox="1"/>
          <p:nvPr/>
        </p:nvSpPr>
        <p:spPr>
          <a:xfrm>
            <a:off x="797854" y="1169511"/>
            <a:ext cx="45899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where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Likelihood function,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k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number of estimated parameters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54227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314A0-6F70-1F35-9CB9-D8E9A1A6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8D1AA57-4406-B948-8DF7-8E81067B1F1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F8E4E4-60DC-F033-FDC6-4A733FDC944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516" name="圖片 515" descr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 title="IguanaTex Picture Display">
            <a:extLst>
              <a:ext uri="{FF2B5EF4-FFF2-40B4-BE49-F238E27FC236}">
                <a16:creationId xmlns:a16="http://schemas.microsoft.com/office/drawing/2014/main" id="{7ADD1F87-5C31-4D1D-6378-3F2ED02D925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43" y="1650572"/>
            <a:ext cx="10845599" cy="3556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08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448FA-C369-B897-7059-76BA52F52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D97524-B554-56DC-C8BA-6F61CBE2E4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EE445A-2DC2-B87B-FC61-0BA08A9D967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943B6-EBD4-BB5F-3AF1-E7897674DC61}"/>
              </a:ext>
            </a:extLst>
          </p:cNvPr>
          <p:cNvSpPr txBox="1"/>
          <p:nvPr/>
        </p:nvSpPr>
        <p:spPr>
          <a:xfrm>
            <a:off x="1206874" y="1114905"/>
            <a:ext cx="9778252" cy="4766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檢定範例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令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y: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房價、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所得水準、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u,v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房屋位置、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n=100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個房屋觀測點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得到每個地點所得係數                    ，得市中心所得係數約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0.8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，郊區約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個所得係數標準差，得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隨機打亂房子位置，讓資料失去原本空間結構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，再次計算所得係數標準差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，得大部分標準差           落在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0.05-0.15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，只有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&gt;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0.25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P-value: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結論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5%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顯著水準下，所得對房價的影響具空間非平穩性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/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隨機結果中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比原始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係數標準差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更大的次數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打亂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次數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altLang="zh-TW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2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=0</m:t>
                      </m:r>
                      <m:r>
                        <m:rPr>
                          <m:nor/>
                        </m:rPr>
                        <a:rPr lang="en-US" altLang="zh-TW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.0</m:t>
                      </m:r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 descr="\documentclass{article}&#10;\usepackage{amsmath}&#10;\pagestyle{empty}&#10;\begin{document}&#10;&#10;&#10;\[\hat{\beta}_{income}(u_i,v_i)\]&#10;&#10;\end{document}" title="IguanaTex Picture Display">
            <a:extLst>
              <a:ext uri="{FF2B5EF4-FFF2-40B4-BE49-F238E27FC236}">
                <a16:creationId xmlns:a16="http://schemas.microsoft.com/office/drawing/2014/main" id="{09388A61-AB29-3B6C-7D74-8B4DB96ECC1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584" y="2112311"/>
            <a:ext cx="1378286" cy="275657"/>
          </a:xfrm>
          <a:prstGeom prst="rect">
            <a:avLst/>
          </a:prstGeom>
        </p:spPr>
      </p:pic>
      <p:pic>
        <p:nvPicPr>
          <p:cNvPr id="9" name="圖片 8" descr="\documentclass{article}&#10;\usepackage{amsmath}&#10;\pagestyle{empty}&#10;\begin{document}&#10;&#10;&#10;\[s_{income}^{obs}=0.25\]&#10;&#10;\end{document}" title="IguanaTex Picture Display">
            <a:extLst>
              <a:ext uri="{FF2B5EF4-FFF2-40B4-BE49-F238E27FC236}">
                <a16:creationId xmlns:a16="http://schemas.microsoft.com/office/drawing/2014/main" id="{03EFA247-C7B4-DE2F-5649-7A9F52ABC3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577" y="2524714"/>
            <a:ext cx="1400228" cy="263314"/>
          </a:xfrm>
          <a:prstGeom prst="rect">
            <a:avLst/>
          </a:prstGeom>
        </p:spPr>
      </p:pic>
      <p:pic>
        <p:nvPicPr>
          <p:cNvPr id="14" name="圖片 13" descr="\documentclass{article}&#10;\usepackage{amsmath}&#10;\pagestyle{empty}&#10;\begin{document}&#10;&#10;&#10;\[s_{income}^{rand}\]&#10;&#10;\end{document}" title="IguanaTex Picture Display">
            <a:extLst>
              <a:ext uri="{FF2B5EF4-FFF2-40B4-BE49-F238E27FC236}">
                <a16:creationId xmlns:a16="http://schemas.microsoft.com/office/drawing/2014/main" id="{A8BC189D-16D0-0A43-7070-0CE9B6E0D63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831" y="3768178"/>
            <a:ext cx="685714" cy="26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4232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DC96-E64F-5DBB-39C9-7CD920FD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EF475532-B8B4-5ACC-CD62-8CFC48323CA1}"/>
              </a:ext>
            </a:extLst>
          </p:cNvPr>
          <p:cNvSpPr/>
          <p:nvPr/>
        </p:nvSpPr>
        <p:spPr>
          <a:xfrm>
            <a:off x="419100" y="885966"/>
            <a:ext cx="11353800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C82F5C-0A91-6161-5A70-1CAC4F55A76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640C7-8FE0-8A47-C08B-C4C40FE83E5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2" name="圖片 31" descr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 title="IguanaTex Picture Display">
            <a:extLst>
              <a:ext uri="{FF2B5EF4-FFF2-40B4-BE49-F238E27FC236}">
                <a16:creationId xmlns:a16="http://schemas.microsoft.com/office/drawing/2014/main" id="{6B61E72D-064D-337A-DF39-4B5D36303F5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304" y="1576428"/>
            <a:ext cx="4715428" cy="3705143"/>
          </a:xfrm>
          <a:prstGeom prst="rect">
            <a:avLst/>
          </a:prstGeom>
        </p:spPr>
      </p:pic>
      <p:pic>
        <p:nvPicPr>
          <p:cNvPr id="30" name="圖片 29" descr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 title="IguanaTex Picture Display">
            <a:extLst>
              <a:ext uri="{FF2B5EF4-FFF2-40B4-BE49-F238E27FC236}">
                <a16:creationId xmlns:a16="http://schemas.microsoft.com/office/drawing/2014/main" id="{35CEBAA9-23D4-0BEB-944F-6EF454093C3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1024905"/>
            <a:ext cx="5285714" cy="2770286"/>
          </a:xfrm>
          <a:prstGeom prst="rect">
            <a:avLst/>
          </a:prstGeom>
        </p:spPr>
      </p:pic>
      <p:pic>
        <p:nvPicPr>
          <p:cNvPr id="28" name="圖片 27" descr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 title="IguanaTex Picture Display">
            <a:extLst>
              <a:ext uri="{FF2B5EF4-FFF2-40B4-BE49-F238E27FC236}">
                <a16:creationId xmlns:a16="http://schemas.microsoft.com/office/drawing/2014/main" id="{AE934110-8068-636B-2315-7A548A29871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4090593"/>
            <a:ext cx="4555428" cy="2162286"/>
          </a:xfrm>
          <a:prstGeom prst="rect">
            <a:avLst/>
          </a:prstGeom>
        </p:spPr>
      </p:pic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F8DD886-CAD6-2441-6B96-E4CA1D1AB470}"/>
              </a:ext>
            </a:extLst>
          </p:cNvPr>
          <p:cNvCxnSpPr>
            <a:cxnSpLocks/>
          </p:cNvCxnSpPr>
          <p:nvPr/>
        </p:nvCxnSpPr>
        <p:spPr>
          <a:xfrm>
            <a:off x="6096000" y="1026457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230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273-F941-9C12-53BC-0051652D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A97880A-4F2D-72F1-D3FA-33F9E542AE5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2A2DC8-61BC-090F-2E01-CD10DFB6705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45" name="圖片 44" descr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 title="IguanaTex Picture Display">
            <a:extLst>
              <a:ext uri="{FF2B5EF4-FFF2-40B4-BE49-F238E27FC236}">
                <a16:creationId xmlns:a16="http://schemas.microsoft.com/office/drawing/2014/main" id="{86B58F74-81B0-1185-E5AB-B39B649B589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4463" y="2330837"/>
            <a:ext cx="5383074" cy="2662504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17D0C066-CCF0-017C-B288-B994D7DE7C7D}"/>
              </a:ext>
            </a:extLst>
          </p:cNvPr>
          <p:cNvSpPr txBox="1"/>
          <p:nvPr/>
        </p:nvSpPr>
        <p:spPr>
          <a:xfrm>
            <a:off x="3043518" y="1671031"/>
            <a:ext cx="2559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  <a:endParaRPr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003333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35EFB-DF0C-23AF-E2A2-39A6F71FA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0CBC41-5339-A122-BB53-5DE5FA90D29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C201EE-B56F-6A45-5521-8A02FA5BD4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9069178-0D40-2337-5D96-2E88A5B01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"/>
          <a:stretch>
            <a:fillRect/>
          </a:stretch>
        </p:blipFill>
        <p:spPr>
          <a:xfrm>
            <a:off x="1929697" y="702610"/>
            <a:ext cx="8332607" cy="5796803"/>
          </a:xfrm>
          <a:prstGeom prst="rect">
            <a:avLst/>
          </a:prstGeom>
        </p:spPr>
      </p:pic>
      <p:sp>
        <p:nvSpPr>
          <p:cNvPr id="9" name="矩形: 圓角 8">
            <a:extLst>
              <a:ext uri="{FF2B5EF4-FFF2-40B4-BE49-F238E27FC236}">
                <a16:creationId xmlns:a16="http://schemas.microsoft.com/office/drawing/2014/main" id="{E98F72B2-5A3C-14DE-0FD9-9F02E2098954}"/>
              </a:ext>
            </a:extLst>
          </p:cNvPr>
          <p:cNvSpPr/>
          <p:nvPr/>
        </p:nvSpPr>
        <p:spPr>
          <a:xfrm>
            <a:off x="1929697" y="2734235"/>
            <a:ext cx="8218350" cy="92336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27A7EE6-37F3-BA66-0843-8A4CFF6DDAA5}"/>
              </a:ext>
            </a:extLst>
          </p:cNvPr>
          <p:cNvSpPr/>
          <p:nvPr/>
        </p:nvSpPr>
        <p:spPr>
          <a:xfrm>
            <a:off x="1986825" y="3926541"/>
            <a:ext cx="8218350" cy="139849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5434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E8DF3-E9F4-2E90-BEF6-BA81F0EC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529FB1C6-376A-63D7-03C1-CCAC4CA7F6E1}"/>
              </a:ext>
            </a:extLst>
          </p:cNvPr>
          <p:cNvSpPr/>
          <p:nvPr/>
        </p:nvSpPr>
        <p:spPr>
          <a:xfrm>
            <a:off x="98612" y="1305770"/>
            <a:ext cx="12012706" cy="5086065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6C5C8A-7656-2363-57B0-C280D269F7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DFFCBA-6533-80B2-285B-3EA3C05ABF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信賴區間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AC9A1C1-3E9B-125F-2DC1-93A6BA564578}"/>
              </a:ext>
            </a:extLst>
          </p:cNvPr>
          <p:cNvCxnSpPr>
            <a:cxnSpLocks/>
          </p:cNvCxnSpPr>
          <p:nvPr/>
        </p:nvCxnSpPr>
        <p:spPr>
          <a:xfrm>
            <a:off x="6415856" y="1472960"/>
            <a:ext cx="0" cy="4744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2FF0EA-5B12-616C-C24B-C29818FE5EB0}"/>
              </a:ext>
            </a:extLst>
          </p:cNvPr>
          <p:cNvSpPr txBox="1"/>
          <p:nvPr/>
        </p:nvSpPr>
        <p:spPr>
          <a:xfrm>
            <a:off x="336176" y="905660"/>
            <a:ext cx="70597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信賴區間推導方法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加權最小平方法轉換為矩陣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</a:t>
            </a:r>
            <a:endParaRPr lang="zh-TW" altLang="en-US" sz="2000" b="1" dirty="0"/>
          </a:p>
        </p:txBody>
      </p:sp>
      <p:pic>
        <p:nvPicPr>
          <p:cNvPr id="49" name="圖片 48" descr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 title="IguanaTex Picture Display">
            <a:extLst>
              <a:ext uri="{FF2B5EF4-FFF2-40B4-BE49-F238E27FC236}">
                <a16:creationId xmlns:a16="http://schemas.microsoft.com/office/drawing/2014/main" id="{91A72358-F0FC-8B6F-5263-23E11BB0694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62" y="1631316"/>
            <a:ext cx="5950174" cy="4567773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 title="IguanaTex Picture Display">
            <a:extLst>
              <a:ext uri="{FF2B5EF4-FFF2-40B4-BE49-F238E27FC236}">
                <a16:creationId xmlns:a16="http://schemas.microsoft.com/office/drawing/2014/main" id="{192AAD34-4A01-891E-0606-311F8970B81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486" y="1747859"/>
            <a:ext cx="4682362" cy="2446628"/>
          </a:xfrm>
          <a:prstGeom prst="rect">
            <a:avLst/>
          </a:prstGeom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106CC46D-9944-B661-5A57-7D527A430A81}"/>
              </a:ext>
            </a:extLst>
          </p:cNvPr>
          <p:cNvSpPr txBox="1"/>
          <p:nvPr/>
        </p:nvSpPr>
        <p:spPr>
          <a:xfrm>
            <a:off x="7987551" y="5923283"/>
            <a:ext cx="4105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模擬實驗發現此信賴區間涵蓋率不穩定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10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B6BDD-B458-E43B-8241-FAEA911C2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6A6C778-F190-955C-4DE2-7204C75A300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89EEF527-81B9-3A7A-0067-50EEF92FA32F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1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估計流程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73885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(2002).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7787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621054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流程概述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4581526" y="4263197"/>
            <a:ext cx="19873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最佳近鄰數</a:t>
            </a:r>
            <a:endParaRPr lang="en-US" altLang="zh-TW" dirty="0">
              <a:solidFill>
                <a:srgbClr val="FF0000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algn="ctr"/>
            <a:r>
              <a:rPr lang="en-US" altLang="zh-TW" dirty="0" err="1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,</a:t>
            </a:r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 136</a:t>
            </a:r>
          </a:p>
          <a:p>
            <a:pPr algn="ctr"/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140</a:t>
            </a:r>
            <a:endParaRPr lang="zh-TW" altLang="en-US" dirty="0"/>
          </a:p>
        </p:txBody>
      </p:sp>
      <p:sp>
        <p:nvSpPr>
          <p:cNvPr id="3" name="箭號: 五邊形 2">
            <a:extLst>
              <a:ext uri="{FF2B5EF4-FFF2-40B4-BE49-F238E27FC236}">
                <a16:creationId xmlns:a16="http://schemas.microsoft.com/office/drawing/2014/main" id="{52CC466E-4184-7BFA-D281-899C04AF18A1}"/>
              </a:ext>
            </a:extLst>
          </p:cNvPr>
          <p:cNvSpPr/>
          <p:nvPr/>
        </p:nvSpPr>
        <p:spPr>
          <a:xfrm>
            <a:off x="930650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箭號: 五邊形 5">
            <a:extLst>
              <a:ext uri="{FF2B5EF4-FFF2-40B4-BE49-F238E27FC236}">
                <a16:creationId xmlns:a16="http://schemas.microsoft.com/office/drawing/2014/main" id="{D2467ECC-F66E-F160-2B34-7B7D6A69BAAE}"/>
              </a:ext>
            </a:extLst>
          </p:cNvPr>
          <p:cNvSpPr/>
          <p:nvPr/>
        </p:nvSpPr>
        <p:spPr>
          <a:xfrm>
            <a:off x="2786344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箭號: 五邊形 7">
            <a:extLst>
              <a:ext uri="{FF2B5EF4-FFF2-40B4-BE49-F238E27FC236}">
                <a16:creationId xmlns:a16="http://schemas.microsoft.com/office/drawing/2014/main" id="{44D6FE55-7A77-E37B-7B67-CC1F667F2927}"/>
              </a:ext>
            </a:extLst>
          </p:cNvPr>
          <p:cNvSpPr/>
          <p:nvPr/>
        </p:nvSpPr>
        <p:spPr>
          <a:xfrm>
            <a:off x="4713756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箭號: 五邊形 1">
            <a:extLst>
              <a:ext uri="{FF2B5EF4-FFF2-40B4-BE49-F238E27FC236}">
                <a16:creationId xmlns:a16="http://schemas.microsoft.com/office/drawing/2014/main" id="{5B80516A-4CEC-CBBC-7ABA-5F27307B3785}"/>
              </a:ext>
            </a:extLst>
          </p:cNvPr>
          <p:cNvSpPr/>
          <p:nvPr/>
        </p:nvSpPr>
        <p:spPr>
          <a:xfrm>
            <a:off x="6568888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對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159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個迴歸點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9" name="箭號: 五邊形 8">
            <a:extLst>
              <a:ext uri="{FF2B5EF4-FFF2-40B4-BE49-F238E27FC236}">
                <a16:creationId xmlns:a16="http://schemas.microsoft.com/office/drawing/2014/main" id="{C9173712-C3AF-5A93-859F-8A42FA7F57EA}"/>
              </a:ext>
            </a:extLst>
          </p:cNvPr>
          <p:cNvSpPr/>
          <p:nvPr/>
        </p:nvSpPr>
        <p:spPr>
          <a:xfrm>
            <a:off x="8424020" y="3177347"/>
            <a:ext cx="2665321" cy="1085850"/>
          </a:xfrm>
          <a:prstGeom prst="homePlate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Monte Carlo 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排列檢定、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0E7CAD9-0829-065C-E752-C17CC651F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71244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2.334e-12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6745B402-224D-65F6-954D-54D6C3A7252A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683" y="956857"/>
            <a:ext cx="6777317" cy="482749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6C23CBE-F195-80A1-623B-AFAC3222BCFD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2FF9F-DF64-F181-5388-C4893387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7DB7989-A7C8-ADDE-DAA9-24DF9422A2B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F51722-0E8B-CEC4-1938-0BE35EBA6A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3829C65-64D5-DC1C-2C27-521CFA128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288" y="1113358"/>
            <a:ext cx="6652207" cy="463128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9F0D6197-D0F4-7059-C19E-74CA1175D588}"/>
              </a:ext>
            </a:extLst>
          </p:cNvPr>
          <p:cNvSpPr txBox="1"/>
          <p:nvPr/>
        </p:nvSpPr>
        <p:spPr>
          <a:xfrm>
            <a:off x="125505" y="968992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內建參數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image():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須建立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矩形網格座標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F83D3EFE-457D-8DEC-D674-E0FFC11EB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955981"/>
              </p:ext>
            </p:extLst>
          </p:nvPr>
        </p:nvGraphicFramePr>
        <p:xfrm>
          <a:off x="519953" y="1458334"/>
          <a:ext cx="4296338" cy="2811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169">
                  <a:extLst>
                    <a:ext uri="{9D8B030D-6E8A-4147-A177-3AD203B41FA5}">
                      <a16:colId xmlns:a16="http://schemas.microsoft.com/office/drawing/2014/main" val="1342119825"/>
                    </a:ext>
                  </a:extLst>
                </a:gridCol>
                <a:gridCol w="2148169">
                  <a:extLst>
                    <a:ext uri="{9D8B030D-6E8A-4147-A177-3AD203B41FA5}">
                      <a16:colId xmlns:a16="http://schemas.microsoft.com/office/drawing/2014/main" val="427253541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主要參數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87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6520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19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z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座標值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1391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col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顏色種類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2343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breaks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區間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3736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581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0731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main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大標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377009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31BFAD-BA18-5150-CC3D-0F10BF0F4B1E}"/>
              </a:ext>
            </a:extLst>
          </p:cNvPr>
          <p:cNvSpPr txBox="1"/>
          <p:nvPr/>
        </p:nvSpPr>
        <p:spPr>
          <a:xfrm>
            <a:off x="224117" y="4334415"/>
            <a:ext cx="503816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R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document</a:t>
            </a: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  <a:hlinkClick r:id="rId3"/>
              </a:rPr>
              <a:t>https://www.rdocumentation.org/packages/graphics/versions/3.6.2/topics/image</a:t>
            </a:r>
            <a:endParaRPr lang="en-US" altLang="zh-TW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6A7EDE9-AF0C-DD42-545E-97F24C722FB2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08228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DA448-07C4-F34F-19E0-3161D160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9E1791D-9513-DA30-E953-906967E97682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655E47-8BAB-5A29-35EB-AED52D0E3F0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DED24B1-E0CA-7C37-C8FC-AEDCFB521719}"/>
              </a:ext>
            </a:extLst>
          </p:cNvPr>
          <p:cNvSpPr txBox="1"/>
          <p:nvPr/>
        </p:nvSpPr>
        <p:spPr>
          <a:xfrm>
            <a:off x="300754" y="398096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16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0F96054-0EDC-8EA0-D9B9-E776A46B3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73" y="2578617"/>
            <a:ext cx="5365792" cy="14023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B53EB8F-A0C4-4F37-CE20-0D0724DB5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205" y="745125"/>
            <a:ext cx="5972041" cy="558557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A61C8B9-55B4-2217-0215-8CAE836E4A62}"/>
              </a:ext>
            </a:extLst>
          </p:cNvPr>
          <p:cNvSpPr txBox="1"/>
          <p:nvPr/>
        </p:nvSpPr>
        <p:spPr>
          <a:xfrm>
            <a:off x="6200603" y="625772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782142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17D4-EC3C-EE2D-3F74-ECE458C0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0585BB1-DFDD-F140-63B0-0D9D46A61A4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BB5D3C-6624-3302-3FCC-A49E57BB02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C47097B-3943-D3AC-7BA4-AA4E68733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60769"/>
              </p:ext>
            </p:extLst>
          </p:nvPr>
        </p:nvGraphicFramePr>
        <p:xfrm>
          <a:off x="1797237" y="1973028"/>
          <a:ext cx="8597526" cy="2911945"/>
        </p:xfrm>
        <a:graphic>
          <a:graphicData uri="http://schemas.openxmlformats.org/drawingml/2006/table">
            <a:tbl>
              <a:tblPr/>
              <a:tblGrid>
                <a:gridCol w="2865842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en-US" altLang="zh-TW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0.379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0.324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0.640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324573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9422624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0.433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87544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7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127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AE2C-BD37-49B0-043F-8A162BE2B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0FE49A7-83E4-1982-EAB1-F2344120CB5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D962E7-6793-2A28-3AD0-840EA3A63C2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4CF92C-89E6-84AA-D4DE-7FA31DE47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1" y="1284751"/>
            <a:ext cx="4847419" cy="109629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749C4D3-1157-DE9A-4A20-F6A170A5A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1" y="3596886"/>
            <a:ext cx="4783775" cy="2107906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3D276EC0-4692-6153-1152-6773A959C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377158"/>
              </p:ext>
            </p:extLst>
          </p:nvPr>
        </p:nvGraphicFramePr>
        <p:xfrm>
          <a:off x="5069984" y="1338541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2346310122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273831870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1159255395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378652565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2593961742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69366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48.9944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0.04029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326601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61.83326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0.02144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7843897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51.91984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0.99987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933712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29.99224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286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29.23114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1.19E-09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7615699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64.17467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984046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20B11373-FC10-BC8D-5653-54592D2F6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703621"/>
              </p:ext>
            </p:extLst>
          </p:nvPr>
        </p:nvGraphicFramePr>
        <p:xfrm>
          <a:off x="5069984" y="3628864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1010960133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642626288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307330254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20897109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1512396529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7363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2.660224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0.253384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75889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2.588568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0.248858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191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0.435545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2.77371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0.712558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451265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2.433527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2.55E-07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408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2.40523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2.75E-02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50933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2.355922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0.005122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073536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1CEA70A1-3A44-B8BC-FA9D-D44285EB0DD8}"/>
              </a:ext>
            </a:extLst>
          </p:cNvPr>
          <p:cNvSpPr txBox="1"/>
          <p:nvPr/>
        </p:nvSpPr>
        <p:spPr>
          <a:xfrm>
            <a:off x="80681" y="969209"/>
            <a:ext cx="1564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 err="1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A2826C6-6A6F-E38E-3DEF-C955E8D1A98D}"/>
              </a:ext>
            </a:extLst>
          </p:cNvPr>
          <p:cNvSpPr txBox="1"/>
          <p:nvPr/>
        </p:nvSpPr>
        <p:spPr>
          <a:xfrm>
            <a:off x="80680" y="3283854"/>
            <a:ext cx="2662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et al. (2000)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02810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4A95C-3DB3-F75B-0F85-AD1C3FB8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1CA86CD-626C-EB7D-A8E7-0EC1F012395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7DD135B3-9319-6F51-387C-79330C5BDD4D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2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GWR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網格模擬</a:t>
            </a:r>
          </a:p>
        </p:txBody>
      </p:sp>
    </p:spTree>
    <p:extLst>
      <p:ext uri="{BB962C8B-B14F-4D97-AF65-F5344CB8AC3E}">
        <p14:creationId xmlns:p14="http://schemas.microsoft.com/office/powerpoint/2010/main" val="18733270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24FA4-215D-F4CC-FC13-EC4A7E7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D4A6AB-FC0E-4D8F-6381-FA89F9BD82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8C5220-8EE8-A06C-0684-E9CD0F0F7B2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原論文內容與實作內容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EAF6D4-A5DF-BDC3-2F21-FDB1BBB3ECC2}"/>
              </a:ext>
            </a:extLst>
          </p:cNvPr>
          <p:cNvSpPr txBox="1"/>
          <p:nvPr/>
        </p:nvSpPr>
        <p:spPr>
          <a:xfrm>
            <a:off x="389964" y="1581440"/>
            <a:ext cx="11075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實作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模擬實驗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DAD2EFD-892F-7175-5F37-6E81B20D7FB6}"/>
              </a:ext>
            </a:extLst>
          </p:cNvPr>
          <p:cNvSpPr txBox="1"/>
          <p:nvPr/>
        </p:nvSpPr>
        <p:spPr>
          <a:xfrm>
            <a:off x="1044388" y="2122659"/>
            <a:ext cx="8700247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原論文內容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設計模擬實驗，比較地理加權迴歸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(GWR)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與空間隨位置變動係數過程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(SVCP)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在不同共線性程度下，準確度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(RMSE)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與區間估計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(95%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信賴區間與可信區間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的可靠性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實作內容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3.1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simulation 1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中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模擬流程與結果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83391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7F864-81C3-05AA-E1CA-97B29315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7E438EA-A80C-482F-84A9-D198A3DDE52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BABC17-8E63-9D9E-7592-6BE192A42FF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A0E76AB-C536-089A-BD41-18DEFDF30829}"/>
              </a:ext>
            </a:extLst>
          </p:cNvPr>
          <p:cNvGrpSpPr/>
          <p:nvPr/>
        </p:nvGrpSpPr>
        <p:grpSpPr>
          <a:xfrm>
            <a:off x="408982" y="1118396"/>
            <a:ext cx="11374037" cy="2740372"/>
            <a:chOff x="408982" y="872405"/>
            <a:chExt cx="11374037" cy="2740372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7E90E40B-5669-F77B-789A-7B6BA313822F}"/>
                </a:ext>
              </a:extLst>
            </p:cNvPr>
            <p:cNvSpPr/>
            <p:nvPr/>
          </p:nvSpPr>
          <p:spPr>
            <a:xfrm>
              <a:off x="408982" y="872405"/>
              <a:ext cx="11374037" cy="2740372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D7E582D7-DB94-A5E6-DAE7-26CA2A28AA9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A03FFA-3EDB-CD9C-D263-2E39337558A2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FDC2939-A1DB-E04F-6CD4-8AD5624BDCD1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模擬目的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C28874AF-BF3C-4A47-136D-5AD8C555F1F0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1900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在解釋變數沒有明顯共線性的條件下，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推論是否可靠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能否準確估計隨空間變化的迴歸係數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建立的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95%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信賴區間是否能夠涵蓋真實函數</a:t>
              </a: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不同誤差情形，結果是否一致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084AD7-2822-2F0B-265C-A951A397BE68}"/>
              </a:ext>
            </a:extLst>
          </p:cNvPr>
          <p:cNvGrpSpPr/>
          <p:nvPr/>
        </p:nvGrpSpPr>
        <p:grpSpPr>
          <a:xfrm>
            <a:off x="408982" y="4160938"/>
            <a:ext cx="11374037" cy="1797447"/>
            <a:chOff x="408982" y="3724812"/>
            <a:chExt cx="11374037" cy="1797447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9C7D62E7-2825-29B1-8E26-94E87AAE7F70}"/>
                </a:ext>
              </a:extLst>
            </p:cNvPr>
            <p:cNvSpPr/>
            <p:nvPr/>
          </p:nvSpPr>
          <p:spPr>
            <a:xfrm>
              <a:off x="408982" y="3724812"/>
              <a:ext cx="11374037" cy="1797447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FA89712D-5207-2B8B-E699-2058071F5228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09107986-1A0F-3B8C-E70D-D01F6CDC8541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2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FF8170E0-F9AD-E833-712E-FB7E7266B24B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空間樣本配置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5D668ED6-4266-F27F-79FB-4E044E58B041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97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*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網格，樣本數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n=100</a:t>
              </a: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(1,1), (2,1), …, (10, 10)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4275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F138-90D1-00E3-1B17-7BCB7E56B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6F06412-F176-7A75-0E7C-3B86A254A7B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D0D444-51E1-ACA6-C0F3-BCC91E37ED1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662CB50E-3E76-052A-5CA1-53B80D7D4B30}"/>
              </a:ext>
            </a:extLst>
          </p:cNvPr>
          <p:cNvGrpSpPr/>
          <p:nvPr/>
        </p:nvGrpSpPr>
        <p:grpSpPr>
          <a:xfrm>
            <a:off x="408981" y="880288"/>
            <a:ext cx="11374037" cy="3059531"/>
            <a:chOff x="408982" y="872404"/>
            <a:chExt cx="11374037" cy="305953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339266DA-16E4-0464-887D-19FDDD80B0AD}"/>
                </a:ext>
              </a:extLst>
            </p:cNvPr>
            <p:cNvSpPr/>
            <p:nvPr/>
          </p:nvSpPr>
          <p:spPr>
            <a:xfrm>
              <a:off x="408982" y="872404"/>
              <a:ext cx="11374037" cy="305953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AFFCB160-3875-1DE0-15EB-CDA60524AEE2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0902ED63-56C6-1CB2-2840-9BEFFDD32FA3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192353E-8EF2-5160-5B63-F595B8E5580E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真實迴歸係數設定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DB3D9-A6CB-2F5A-E368-764DCBADDAF7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24006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x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y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呈現情境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平滑的空間變化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清楚的線性空間趨勢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明顯空間非平穩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固定不變的係數表面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52578576-EA90-4288-597F-BE24942EDD6C}"/>
              </a:ext>
            </a:extLst>
          </p:cNvPr>
          <p:cNvGrpSpPr/>
          <p:nvPr/>
        </p:nvGrpSpPr>
        <p:grpSpPr>
          <a:xfrm>
            <a:off x="408981" y="4131261"/>
            <a:ext cx="11374037" cy="2257399"/>
            <a:chOff x="408982" y="3724812"/>
            <a:chExt cx="11374037" cy="2257399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1FACE757-E5B1-A696-5C95-42BD005CA4A4}"/>
                </a:ext>
              </a:extLst>
            </p:cNvPr>
            <p:cNvSpPr/>
            <p:nvPr/>
          </p:nvSpPr>
          <p:spPr>
            <a:xfrm>
              <a:off x="408982" y="3724812"/>
              <a:ext cx="11374037" cy="2257399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A16DB8A9-B14B-4233-0388-18C909906BD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3C6AA49-1EC1-3E67-DF84-D58D9E303833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4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BB483B2-D9ED-EC71-57E9-7D69B7EC140F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解釋變數產生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AEA8950F-4A8B-2EB4-353A-7FD7E23D1BC4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14388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產生十維資料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由                       生成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筆資料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PCA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                      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):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取前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個主成分作為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，模擬無共線性環境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每次模擬皆重新產生資料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pic>
        <p:nvPicPr>
          <p:cNvPr id="6" name="圖片 5">
            <a:extLst>
              <a:ext uri="{FF2B5EF4-FFF2-40B4-BE49-F238E27FC236}">
                <a16:creationId xmlns:a16="http://schemas.microsoft.com/office/drawing/2014/main" id="{C0755B15-AA33-EC65-00FC-BF5083BD90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04"/>
          <a:stretch>
            <a:fillRect/>
          </a:stretch>
        </p:blipFill>
        <p:spPr>
          <a:xfrm>
            <a:off x="6019422" y="1591298"/>
            <a:ext cx="5412696" cy="2174455"/>
          </a:xfrm>
          <a:prstGeom prst="rect">
            <a:avLst/>
          </a:prstGeom>
          <a:ln w="19050">
            <a:solidFill>
              <a:srgbClr val="3333B3"/>
            </a:solidFill>
          </a:ln>
        </p:spPr>
      </p:pic>
      <p:pic>
        <p:nvPicPr>
          <p:cNvPr id="13" name="圖片 12" descr="\documentclass{article}&#10;\usepackage{amsmath}&#10;\pagestyle{empty}&#10;\begin{document}&#10;\[\beta_1^{*}(s)&#10;\]&#10;&#10;&#10;\end{document}" title="IguanaTex Picture Display">
            <a:extLst>
              <a:ext uri="{FF2B5EF4-FFF2-40B4-BE49-F238E27FC236}">
                <a16:creationId xmlns:a16="http://schemas.microsoft.com/office/drawing/2014/main" id="{C8DD7821-A1BF-CDC6-D1FC-E444A336AF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620019"/>
            <a:ext cx="487816" cy="222583"/>
          </a:xfrm>
          <a:prstGeom prst="rect">
            <a:avLst/>
          </a:prstGeom>
        </p:spPr>
      </p:pic>
      <p:pic>
        <p:nvPicPr>
          <p:cNvPr id="22" name="圖片 21" descr="\documentclass{article}&#10;\usepackage{amsmath}&#10;\pagestyle{empty}&#10;\begin{document}&#10;\[\beta_2^{*}(s)&#10;\]&#10;&#10;&#10;\end{document}" title="IguanaTex Picture Display">
            <a:extLst>
              <a:ext uri="{FF2B5EF4-FFF2-40B4-BE49-F238E27FC236}">
                <a16:creationId xmlns:a16="http://schemas.microsoft.com/office/drawing/2014/main" id="{15FE6E9A-1CB7-696F-0126-03CF294C2E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923460"/>
            <a:ext cx="487816" cy="222583"/>
          </a:xfrm>
          <a:prstGeom prst="rect">
            <a:avLst/>
          </a:prstGeom>
        </p:spPr>
      </p:pic>
      <p:pic>
        <p:nvPicPr>
          <p:cNvPr id="43" name="圖片 42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711FA9AB-D319-EAC4-FA05-504BC3DD20A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564" y="4976770"/>
            <a:ext cx="1739347" cy="246724"/>
          </a:xfrm>
          <a:prstGeom prst="rect">
            <a:avLst/>
          </a:prstGeom>
        </p:spPr>
      </p:pic>
      <p:pic>
        <p:nvPicPr>
          <p:cNvPr id="45" name="圖片 44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65535915-627C-2D1C-55C0-5C584113CD8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414" y="5498019"/>
            <a:ext cx="600381" cy="160000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\[100\times 10\rightarrow100 \times 2\]&#10;&#10;&#10;\end{document}" title="IguanaTex Picture Display">
            <a:extLst>
              <a:ext uri="{FF2B5EF4-FFF2-40B4-BE49-F238E27FC236}">
                <a16:creationId xmlns:a16="http://schemas.microsoft.com/office/drawing/2014/main" id="{A72CCEDE-0C82-F146-85F2-19D6FAEF203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65" y="5477783"/>
            <a:ext cx="2116571" cy="17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819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4644E-4905-410F-CE14-9015ABE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0038C9E-A3D7-B635-46D7-9C4A748607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254E0F-DC27-8CF9-61F1-E1EB902FCD6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AC61068-A38B-5B29-F5BC-B46B4BAB58C6}"/>
              </a:ext>
            </a:extLst>
          </p:cNvPr>
          <p:cNvGrpSpPr/>
          <p:nvPr/>
        </p:nvGrpSpPr>
        <p:grpSpPr>
          <a:xfrm>
            <a:off x="408981" y="1092844"/>
            <a:ext cx="11374037" cy="1728441"/>
            <a:chOff x="408981" y="880288"/>
            <a:chExt cx="11374037" cy="172844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F430D3AC-1767-A111-C711-CBC5B2D0AB32}"/>
                </a:ext>
              </a:extLst>
            </p:cNvPr>
            <p:cNvSpPr/>
            <p:nvPr/>
          </p:nvSpPr>
          <p:spPr>
            <a:xfrm>
              <a:off x="408981" y="880288"/>
              <a:ext cx="11374037" cy="172844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26098E43-7FF2-4498-9E1F-4F50A7E334D6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3" y="1435370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22504417-2A82-1684-2363-994043287F73}"/>
                </a:ext>
              </a:extLst>
            </p:cNvPr>
            <p:cNvSpPr/>
            <p:nvPr/>
          </p:nvSpPr>
          <p:spPr>
            <a:xfrm>
              <a:off x="762784" y="992324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5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EF53BE-977C-5DA9-B4A6-0D69B24528A7}"/>
                </a:ext>
              </a:extLst>
            </p:cNvPr>
            <p:cNvSpPr txBox="1"/>
            <p:nvPr/>
          </p:nvSpPr>
          <p:spPr>
            <a:xfrm>
              <a:off x="1148080" y="907499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反應變數產生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80A52DF-E478-D3DE-5D07-B6A6AA60CB2B}"/>
                </a:ext>
              </a:extLst>
            </p:cNvPr>
            <p:cNvSpPr txBox="1"/>
            <p:nvPr/>
          </p:nvSpPr>
          <p:spPr>
            <a:xfrm>
              <a:off x="955432" y="1539162"/>
              <a:ext cx="913951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無截距模型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</p:txBody>
        </p:sp>
        <p:pic>
          <p:nvPicPr>
            <p:cNvPr id="8" name="圖片 7" descr="\documentclass{article}&#10;\usepackage{amsmath}&#10;\pagestyle{empty}&#10;\begin{document}&#10;&#10;\[y(s_i)=\beta_1^*(s_i)x_1(s_i)+\beta_2^*(s_i)x_2(x)+\epsilon(s_i)\]&#10;&#10;&#10;\end{document}" title="IguanaTex Picture Display">
              <a:extLst>
                <a:ext uri="{FF2B5EF4-FFF2-40B4-BE49-F238E27FC236}">
                  <a16:creationId xmlns:a16="http://schemas.microsoft.com/office/drawing/2014/main" id="{2816004F-8960-01EF-2C38-04F108236866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2015924"/>
              <a:ext cx="4560762" cy="254476"/>
            </a:xfrm>
            <a:prstGeom prst="rect">
              <a:avLst/>
            </a:prstGeom>
          </p:spPr>
        </p:pic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46198670-D0D1-92E0-45BB-E58AF6EB09F2}"/>
              </a:ext>
            </a:extLst>
          </p:cNvPr>
          <p:cNvGrpSpPr/>
          <p:nvPr/>
        </p:nvGrpSpPr>
        <p:grpSpPr>
          <a:xfrm>
            <a:off x="408981" y="3212825"/>
            <a:ext cx="11374037" cy="2815844"/>
            <a:chOff x="408980" y="2774603"/>
            <a:chExt cx="11374037" cy="2815844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345B1183-7920-A51B-1462-8863C521735D}"/>
                </a:ext>
              </a:extLst>
            </p:cNvPr>
            <p:cNvGrpSpPr/>
            <p:nvPr/>
          </p:nvGrpSpPr>
          <p:grpSpPr>
            <a:xfrm>
              <a:off x="408980" y="2774603"/>
              <a:ext cx="11374037" cy="2815844"/>
              <a:chOff x="408982" y="3724812"/>
              <a:chExt cx="11374037" cy="2815844"/>
            </a:xfrm>
          </p:grpSpPr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B87C51F3-1835-C6AF-4F94-6016EAB60276}"/>
                  </a:ext>
                </a:extLst>
              </p:cNvPr>
              <p:cNvSpPr/>
              <p:nvPr/>
            </p:nvSpPr>
            <p:spPr>
              <a:xfrm>
                <a:off x="408982" y="3724812"/>
                <a:ext cx="11374037" cy="2815844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8" name="直線接點 17">
                <a:extLst>
                  <a:ext uri="{FF2B5EF4-FFF2-40B4-BE49-F238E27FC236}">
                    <a16:creationId xmlns:a16="http://schemas.microsoft.com/office/drawing/2014/main" id="{4B06D9E3-B272-E8A9-74E4-B182A7416A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4279893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9D3D5324-A47E-6BF5-5527-B75BC853FD3C}"/>
                  </a:ext>
                </a:extLst>
              </p:cNvPr>
              <p:cNvSpPr/>
              <p:nvPr/>
            </p:nvSpPr>
            <p:spPr>
              <a:xfrm>
                <a:off x="762785" y="3836847"/>
                <a:ext cx="385296" cy="356041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6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EA9BCA4-F1BC-19FA-4F2C-6D214B79DCE6}"/>
                  </a:ext>
                </a:extLst>
              </p:cNvPr>
              <p:cNvSpPr txBox="1"/>
              <p:nvPr/>
            </p:nvSpPr>
            <p:spPr>
              <a:xfrm>
                <a:off x="1148081" y="3752022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誤差項設定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426472A-9394-32F3-3776-EB653DC7BC78}"/>
                  </a:ext>
                </a:extLst>
              </p:cNvPr>
              <p:cNvSpPr txBox="1"/>
              <p:nvPr/>
            </p:nvSpPr>
            <p:spPr>
              <a:xfrm>
                <a:off x="955432" y="4383685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在各地間獨立生成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A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極小誤差           ，檢查乾淨資料下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GWR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能否準確還原真實係數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B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較大誤差        ，確認結果是否會因誤差程度改變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</p:grpSp>
        <p:pic>
          <p:nvPicPr>
            <p:cNvPr id="16" name="圖片 15" descr="\documentclass{article}&#10;\usepackage{amsmath}&#10;\pagestyle{empty}&#10;\begin{document}&#10;&#10;\[\epsilon(s_i)\overset{ind.}{\sim}N(0,\tau^{2*})\]&#10;&#10;&#10;\end{document}" title="IguanaTex Picture Display">
              <a:extLst>
                <a:ext uri="{FF2B5EF4-FFF2-40B4-BE49-F238E27FC236}">
                  <a16:creationId xmlns:a16="http://schemas.microsoft.com/office/drawing/2014/main" id="{8E430DED-01CD-CF1D-7BE7-7AB5552BEF0C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9380" y="3866765"/>
              <a:ext cx="1991619" cy="330667"/>
            </a:xfrm>
            <a:prstGeom prst="rect">
              <a:avLst/>
            </a:prstGeom>
          </p:spPr>
        </p:pic>
        <p:pic>
          <p:nvPicPr>
            <p:cNvPr id="26" name="圖片 25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21C6A45F-C60E-056C-FF3C-DC04473A167D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829" y="4514906"/>
              <a:ext cx="1243428" cy="228571"/>
            </a:xfrm>
            <a:prstGeom prst="rect">
              <a:avLst/>
            </a:prstGeom>
          </p:spPr>
        </p:pic>
        <p:pic>
          <p:nvPicPr>
            <p:cNvPr id="28" name="圖片 27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C1DCC6E2-7858-5719-CE8A-75ABC50CCB6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4971081"/>
              <a:ext cx="793905" cy="2255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210670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6CE62-6B66-B2D2-7D5B-5AB8374E7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0F851AA-2F68-9BBD-D927-820C67EABD2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9894074-639B-9AF2-4CDE-7A84A715CC1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0CF6F00-7746-8FC3-807D-36508B932416}"/>
              </a:ext>
            </a:extLst>
          </p:cNvPr>
          <p:cNvGrpSpPr/>
          <p:nvPr/>
        </p:nvGrpSpPr>
        <p:grpSpPr>
          <a:xfrm>
            <a:off x="408980" y="990435"/>
            <a:ext cx="11374037" cy="2740372"/>
            <a:chOff x="408982" y="1118396"/>
            <a:chExt cx="11374037" cy="2740372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8A199E5A-8522-33BC-CE56-72AF4756AD9A}"/>
                </a:ext>
              </a:extLst>
            </p:cNvPr>
            <p:cNvGrpSpPr/>
            <p:nvPr/>
          </p:nvGrpSpPr>
          <p:grpSpPr>
            <a:xfrm>
              <a:off x="408982" y="1118396"/>
              <a:ext cx="11374037" cy="2740372"/>
              <a:chOff x="408982" y="872405"/>
              <a:chExt cx="11374037" cy="2740372"/>
            </a:xfrm>
          </p:grpSpPr>
          <p:sp>
            <p:nvSpPr>
              <p:cNvPr id="3" name="矩形: 圓角 2">
                <a:extLst>
                  <a:ext uri="{FF2B5EF4-FFF2-40B4-BE49-F238E27FC236}">
                    <a16:creationId xmlns:a16="http://schemas.microsoft.com/office/drawing/2014/main" id="{65ACDBF9-A59F-0907-D977-EA19E0E47C13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740372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7" name="直線接點 6">
                <a:extLst>
                  <a:ext uri="{FF2B5EF4-FFF2-40B4-BE49-F238E27FC236}">
                    <a16:creationId xmlns:a16="http://schemas.microsoft.com/office/drawing/2014/main" id="{6008CA73-FF94-4ABC-1587-852E59134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1FC02FB4-2025-D16A-5477-89D9B43AB5B1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7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8D193004-82B2-456D-4312-4F4CBDE6282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模擬次數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D51B252-3A6D-A3B9-74A4-E67A9AFD3AE5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R=200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                  與             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在每次模擬中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空間網格座標固定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真實係數固定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解釋變數重新生成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誤差重新生成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反應變數重新計算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LOOCV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選擇帶寬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重新估計所有迴歸係數</a:t>
                </a:r>
              </a:p>
            </p:txBody>
          </p:sp>
        </p:grpSp>
        <p:pic>
          <p:nvPicPr>
            <p:cNvPr id="2" name="圖片 1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3B293D56-9CAE-94EE-3718-4D2461FE9A4B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21040" y="1944669"/>
              <a:ext cx="1243428" cy="228571"/>
            </a:xfrm>
            <a:prstGeom prst="rect">
              <a:avLst/>
            </a:prstGeom>
          </p:spPr>
        </p:pic>
        <p:pic>
          <p:nvPicPr>
            <p:cNvPr id="6" name="圖片 5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6FB7BF4C-C3E3-EC2C-3DD2-9DE9B923DB1B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4701" y="1944669"/>
              <a:ext cx="793905" cy="225524"/>
            </a:xfrm>
            <a:prstGeom prst="rect">
              <a:avLst/>
            </a:prstGeom>
          </p:spPr>
        </p:pic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72125580-1CDF-43DC-5173-B0FEED13FAB1}"/>
              </a:ext>
            </a:extLst>
          </p:cNvPr>
          <p:cNvGrpSpPr/>
          <p:nvPr/>
        </p:nvGrpSpPr>
        <p:grpSpPr>
          <a:xfrm>
            <a:off x="408980" y="3896312"/>
            <a:ext cx="11374037" cy="2411756"/>
            <a:chOff x="408982" y="3969991"/>
            <a:chExt cx="11374037" cy="241175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DE690ECF-2BC3-D821-C2E6-4E624302528B}"/>
                </a:ext>
              </a:extLst>
            </p:cNvPr>
            <p:cNvGrpSpPr/>
            <p:nvPr/>
          </p:nvGrpSpPr>
          <p:grpSpPr>
            <a:xfrm>
              <a:off x="408982" y="3969991"/>
              <a:ext cx="11374037" cy="2411756"/>
              <a:chOff x="408982" y="872405"/>
              <a:chExt cx="11374037" cy="2411756"/>
            </a:xfrm>
          </p:grpSpPr>
          <p:sp>
            <p:nvSpPr>
              <p:cNvPr id="35" name="矩形: 圓角 34">
                <a:extLst>
                  <a:ext uri="{FF2B5EF4-FFF2-40B4-BE49-F238E27FC236}">
                    <a16:creationId xmlns:a16="http://schemas.microsoft.com/office/drawing/2014/main" id="{8258607A-38B1-0784-01B3-4D8C6431D035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411756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B614FB4A-C95F-5961-52B9-1C0844A4AC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矩形: 圓角 36">
                <a:extLst>
                  <a:ext uri="{FF2B5EF4-FFF2-40B4-BE49-F238E27FC236}">
                    <a16:creationId xmlns:a16="http://schemas.microsoft.com/office/drawing/2014/main" id="{B0A6CB6A-3D5D-DB5E-E3C6-FE19BB4F2A49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8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C80BD18C-ABD8-7B9E-276A-FDB8AEDF125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核函數設定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44CB444-9995-D72F-8AC0-D0E5E930A517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438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指數核函數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其中     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迴歸點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s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與觀測點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j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的距離；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b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帶寬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41" name="圖片 40" descr="\documentclass{article}&#10;\usepackage{amsmath}&#10;\pagestyle{empty}&#10;\begin{document}&#10;&#10;&#10;\[w_j(s)=exp(-\frac{d_{sj}}{b})\]&#10;&#10;\end{document}" title="IguanaTex Picture Display">
              <a:extLst>
                <a:ext uri="{FF2B5EF4-FFF2-40B4-BE49-F238E27FC236}">
                  <a16:creationId xmlns:a16="http://schemas.microsoft.com/office/drawing/2014/main" id="{A3B49AE1-B114-2758-3F17-8099B06F72DD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52952" y="5035014"/>
              <a:ext cx="2086095" cy="522667"/>
            </a:xfrm>
            <a:prstGeom prst="rect">
              <a:avLst/>
            </a:prstGeom>
          </p:spPr>
        </p:pic>
        <p:pic>
          <p:nvPicPr>
            <p:cNvPr id="43" name="圖片 42" descr="\documentclass{article}&#10;\usepackage{amsmath}&#10;\pagestyle{empty}&#10;\begin{document}&#10;\[d_{sj}\]&#10;&#10;&#10;&#10;\end{document}" title="IguanaTex Picture Display">
              <a:extLst>
                <a:ext uri="{FF2B5EF4-FFF2-40B4-BE49-F238E27FC236}">
                  <a16:creationId xmlns:a16="http://schemas.microsoft.com/office/drawing/2014/main" id="{987CED3D-1819-A696-5E2C-3F2183A5938C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854" y="5739289"/>
              <a:ext cx="295619" cy="2499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8715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94AC-E3D9-F62A-4C3A-4F686982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CB95E-39A0-4A8E-C328-D03FC117BBB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E5E8C9-7715-422C-85D3-317D878F2B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DA027BD-2259-2CB5-72AD-D9E1C049B0BC}"/>
              </a:ext>
            </a:extLst>
          </p:cNvPr>
          <p:cNvSpPr/>
          <p:nvPr/>
        </p:nvSpPr>
        <p:spPr>
          <a:xfrm>
            <a:off x="188788" y="974033"/>
            <a:ext cx="3746718" cy="978411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7E23243-D2E7-F57F-6835-B2650C39CB2D}"/>
              </a:ext>
            </a:extLst>
          </p:cNvPr>
          <p:cNvSpPr/>
          <p:nvPr/>
        </p:nvSpPr>
        <p:spPr>
          <a:xfrm>
            <a:off x="420125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9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F482A8-3DB6-9A08-5CCB-2204AFD7405D}"/>
              </a:ext>
            </a:extLst>
          </p:cNvPr>
          <p:cNvSpPr txBox="1"/>
          <p:nvPr/>
        </p:nvSpPr>
        <p:spPr>
          <a:xfrm>
            <a:off x="927887" y="1232406"/>
            <a:ext cx="30076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LOOCV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C07B766-4AEF-204F-8810-CE89E7E8F079}"/>
              </a:ext>
            </a:extLst>
          </p:cNvPr>
          <p:cNvSpPr/>
          <p:nvPr/>
        </p:nvSpPr>
        <p:spPr>
          <a:xfrm>
            <a:off x="8240310" y="982780"/>
            <a:ext cx="3746717" cy="960916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638F0CC-E6EB-A261-DFCE-28176999D1B4}"/>
              </a:ext>
            </a:extLst>
          </p:cNvPr>
          <p:cNvSpPr/>
          <p:nvPr/>
        </p:nvSpPr>
        <p:spPr>
          <a:xfrm>
            <a:off x="8471649" y="1285218"/>
            <a:ext cx="507760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11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84FD144-E830-5256-CFD2-44173B272E54}"/>
              </a:ext>
            </a:extLst>
          </p:cNvPr>
          <p:cNvSpPr txBox="1"/>
          <p:nvPr/>
        </p:nvSpPr>
        <p:spPr>
          <a:xfrm>
            <a:off x="8979409" y="1047740"/>
            <a:ext cx="30076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計算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係數標準誤與信賴區間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157CBD5-B90F-D7E8-5352-3296F1F8D3C6}"/>
              </a:ext>
            </a:extLst>
          </p:cNvPr>
          <p:cNvSpPr/>
          <p:nvPr/>
        </p:nvSpPr>
        <p:spPr>
          <a:xfrm>
            <a:off x="4234736" y="986735"/>
            <a:ext cx="3706343" cy="953007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B62F802-1C66-5F0E-D6FB-973F980CFA59}"/>
              </a:ext>
            </a:extLst>
          </p:cNvPr>
          <p:cNvSpPr/>
          <p:nvPr/>
        </p:nvSpPr>
        <p:spPr>
          <a:xfrm>
            <a:off x="4425699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10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D60F888-3CD8-D27E-3130-0826963EF4C9}"/>
              </a:ext>
            </a:extLst>
          </p:cNvPr>
          <p:cNvSpPr txBox="1"/>
          <p:nvPr/>
        </p:nvSpPr>
        <p:spPr>
          <a:xfrm>
            <a:off x="4953648" y="1232406"/>
            <a:ext cx="2967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模型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51B25852-412F-C7E7-1481-311AF32F48E4}"/>
              </a:ext>
            </a:extLst>
          </p:cNvPr>
          <p:cNvGrpSpPr/>
          <p:nvPr/>
        </p:nvGrpSpPr>
        <p:grpSpPr>
          <a:xfrm>
            <a:off x="188788" y="2061430"/>
            <a:ext cx="11798238" cy="4194012"/>
            <a:chOff x="81212" y="2057528"/>
            <a:chExt cx="11798238" cy="4194012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9D717FC1-A86D-B0EE-9D39-62647D925C04}"/>
                </a:ext>
              </a:extLst>
            </p:cNvPr>
            <p:cNvGrpSpPr/>
            <p:nvPr/>
          </p:nvGrpSpPr>
          <p:grpSpPr>
            <a:xfrm>
              <a:off x="81212" y="2057528"/>
              <a:ext cx="11798238" cy="4194012"/>
              <a:chOff x="408983" y="872405"/>
              <a:chExt cx="11798238" cy="4194012"/>
            </a:xfrm>
          </p:grpSpPr>
          <p:sp>
            <p:nvSpPr>
              <p:cNvPr id="28" name="矩形: 圓角 27">
                <a:extLst>
                  <a:ext uri="{FF2B5EF4-FFF2-40B4-BE49-F238E27FC236}">
                    <a16:creationId xmlns:a16="http://schemas.microsoft.com/office/drawing/2014/main" id="{573C40C3-A0EE-3252-E738-BB7EBAEF5BF7}"/>
                  </a:ext>
                </a:extLst>
              </p:cNvPr>
              <p:cNvSpPr/>
              <p:nvPr/>
            </p:nvSpPr>
            <p:spPr>
              <a:xfrm>
                <a:off x="408983" y="872405"/>
                <a:ext cx="11798238" cy="4194012"/>
              </a:xfrm>
              <a:prstGeom prst="roundRect">
                <a:avLst>
                  <a:gd name="adj" fmla="val 2974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1A6292C1-F4DD-F0C0-DF62-EB3CC82D3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0321" y="1427486"/>
                <a:ext cx="11225026" cy="921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矩形: 圓角 30">
                <a:extLst>
                  <a:ext uri="{FF2B5EF4-FFF2-40B4-BE49-F238E27FC236}">
                    <a16:creationId xmlns:a16="http://schemas.microsoft.com/office/drawing/2014/main" id="{4C6A11F5-B7C9-CEAF-F141-DD4CA49DCC50}"/>
                  </a:ext>
                </a:extLst>
              </p:cNvPr>
              <p:cNvSpPr/>
              <p:nvPr/>
            </p:nvSpPr>
            <p:spPr>
              <a:xfrm>
                <a:off x="640321" y="984440"/>
                <a:ext cx="507760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12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89D35B-5557-5A02-03EA-D15D86DD736F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信賴區間涵蓋率計算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975671B-E0E5-E9D1-3288-82CFED5EAEF9}"/>
                  </a:ext>
                </a:extLst>
              </p:cNvPr>
              <p:cNvSpPr txBox="1"/>
              <p:nvPr/>
            </p:nvSpPr>
            <p:spPr>
              <a:xfrm>
                <a:off x="759885" y="1531278"/>
                <a:ext cx="11105462" cy="3285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先計算每個地點在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次模擬的涵蓋率，再對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個地點取平均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每次模擬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r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，對每個位置   ，每個係數         ，檢查是否落在該次模擬得到的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95%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信賴區間內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對特定位置涵蓋率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將同一位置在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個位置中的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CP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取平均，得到論文結果中的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50" name="圖片 49" descr="\documentclass{article}&#10;\usepackage{amsmath}&#10;\pagestyle{empty}&#10;\begin{document}&#10;\[s_i\]&#10;&#10;&#10;&#10;\end{document}" title="IguanaTex Picture Display">
              <a:extLst>
                <a:ext uri="{FF2B5EF4-FFF2-40B4-BE49-F238E27FC236}">
                  <a16:creationId xmlns:a16="http://schemas.microsoft.com/office/drawing/2014/main" id="{BB6AB912-CA5E-A6E9-8785-EF875672605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6823" y="3429000"/>
              <a:ext cx="169143" cy="150857"/>
            </a:xfrm>
            <a:prstGeom prst="rect">
              <a:avLst/>
            </a:prstGeom>
          </p:spPr>
        </p:pic>
        <p:pic>
          <p:nvPicPr>
            <p:cNvPr id="52" name="圖片 51" descr="\documentclass{article}&#10;\usepackage{amsmath}&#10;\pagestyle{empty}&#10;\begin{document}&#10;&#10;\[\beta_k^*(s_i)\]&#10;&#10;&#10;\end{document}" title="IguanaTex Picture Display">
              <a:extLst>
                <a:ext uri="{FF2B5EF4-FFF2-40B4-BE49-F238E27FC236}">
                  <a16:creationId xmlns:a16="http://schemas.microsoft.com/office/drawing/2014/main" id="{6ED87CF5-178C-1CCE-A11D-FFF5755E669F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4002" y="3360262"/>
              <a:ext cx="641524" cy="254476"/>
            </a:xfrm>
            <a:prstGeom prst="rect">
              <a:avLst/>
            </a:prstGeom>
          </p:spPr>
        </p:pic>
        <p:pic>
          <p:nvPicPr>
            <p:cNvPr id="54" name="圖片 53" descr="\documentclass{article}&#10;\usepackage{amsmath}&#10;\pagestyle{empty}&#10;\begin{document}&#10;&#10;\[I_{ikr}= \begin{cases}&#10;1,\beta_k^*(s_i)\in CI_{ikr}^{95\%}\\&#10;0, ow&#10;\end{cases}\]&#10;&#10;&#10;\end{document}" title="IguanaTex Picture Display">
              <a:extLst>
                <a:ext uri="{FF2B5EF4-FFF2-40B4-BE49-F238E27FC236}">
                  <a16:creationId xmlns:a16="http://schemas.microsoft.com/office/drawing/2014/main" id="{34F10406-8C94-F959-8570-1A8706DAB31F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7855" y="3821261"/>
              <a:ext cx="2844952" cy="758857"/>
            </a:xfrm>
            <a:prstGeom prst="rect">
              <a:avLst/>
            </a:prstGeom>
          </p:spPr>
        </p:pic>
        <p:pic>
          <p:nvPicPr>
            <p:cNvPr id="56" name="圖片 55" descr="\documentclass{article}&#10;\usepackage{amsmath}&#10;\pagestyle{empty}&#10;\begin{document}&#10;&#10;\[CP_{ik}=\frac{1}{200}\sum_{r=1}^{200}I_{ikr}\]&#10;&#10;&#10;\end{document}" title="IguanaTex Picture Display">
              <a:extLst>
                <a:ext uri="{FF2B5EF4-FFF2-40B4-BE49-F238E27FC236}">
                  <a16:creationId xmlns:a16="http://schemas.microsoft.com/office/drawing/2014/main" id="{9825B8EE-A7A0-98BC-B4F7-B15C042C716D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1474" y="4786641"/>
              <a:ext cx="2157714" cy="729905"/>
            </a:xfrm>
            <a:prstGeom prst="rect">
              <a:avLst/>
            </a:prstGeom>
          </p:spPr>
        </p:pic>
        <p:pic>
          <p:nvPicPr>
            <p:cNvPr id="58" name="圖片 57" descr="\documentclass{article}&#10;\usepackage{amsmath}&#10;\pagestyle{empty}&#10;\begin{document}&#10;\[MeanCP(\beta_k)\]&#10;&#10;\end{document}" title="IguanaTex Picture Display">
              <a:extLst>
                <a:ext uri="{FF2B5EF4-FFF2-40B4-BE49-F238E27FC236}">
                  <a16:creationId xmlns:a16="http://schemas.microsoft.com/office/drawing/2014/main" id="{159A7DEC-BDA2-D798-84FB-4114946C22B4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6447" y="5661123"/>
              <a:ext cx="1502476" cy="2544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17788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DCB0-E1C4-438A-99F5-5E0E68FD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6015FBA-B7FD-3F37-1395-B04CA9C7EF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6D3468-1826-A3AE-8933-D3FE335E3E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D0D6B607-1B94-ABAC-FBF7-95FADAA06A30}"/>
              </a:ext>
            </a:extLst>
          </p:cNvPr>
          <p:cNvGrpSpPr/>
          <p:nvPr/>
        </p:nvGrpSpPr>
        <p:grpSpPr>
          <a:xfrm>
            <a:off x="196881" y="1380293"/>
            <a:ext cx="11798238" cy="4097414"/>
            <a:chOff x="408983" y="872405"/>
            <a:chExt cx="11798238" cy="409741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AE9C27AC-C6F5-513C-42D3-C2CBD8CBEFFC}"/>
                </a:ext>
              </a:extLst>
            </p:cNvPr>
            <p:cNvSpPr/>
            <p:nvPr/>
          </p:nvSpPr>
          <p:spPr>
            <a:xfrm>
              <a:off x="408983" y="872405"/>
              <a:ext cx="11798238" cy="4097414"/>
            </a:xfrm>
            <a:prstGeom prst="roundRect">
              <a:avLst>
                <a:gd name="adj" fmla="val 2974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62B693CD-712F-CE8F-DDEC-ECE9DB04CAFB}"/>
                </a:ext>
              </a:extLst>
            </p:cNvPr>
            <p:cNvCxnSpPr>
              <a:cxnSpLocks/>
            </p:cNvCxnSpPr>
            <p:nvPr/>
          </p:nvCxnSpPr>
          <p:spPr>
            <a:xfrm>
              <a:off x="640321" y="1427486"/>
              <a:ext cx="11225026" cy="921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20B64BEE-9EBF-3FE5-C79F-8588F2336DFC}"/>
                </a:ext>
              </a:extLst>
            </p:cNvPr>
            <p:cNvSpPr/>
            <p:nvPr/>
          </p:nvSpPr>
          <p:spPr>
            <a:xfrm>
              <a:off x="640321" y="984440"/>
              <a:ext cx="507760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BD7E13A8-5829-640E-DEF7-0EA3970FD310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計算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D8DF381-342B-1140-EA65-4C9A2964ECD8}"/>
                </a:ext>
              </a:extLst>
            </p:cNvPr>
            <p:cNvSpPr txBox="1"/>
            <p:nvPr/>
          </p:nvSpPr>
          <p:spPr>
            <a:xfrm>
              <a:off x="759885" y="1531278"/>
              <a:ext cx="11105462" cy="34009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對每次模擬，計算全部空間位置與係數的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個位置、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個係數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)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再將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次模擬的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取平均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20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將此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平均作為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係數準確度的衡量指標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</p:txBody>
        </p:sp>
      </p:grpSp>
      <p:pic>
        <p:nvPicPr>
          <p:cNvPr id="6" name="圖片 5" descr="\documentclass{article}&#10;\usepackage{amsmath}&#10;\pagestyle{empty}&#10;\begin{document}&#10;&#10;\[RMSE_r=\sqrt{\frac{1}{200}\sum_{i=1}^{100}\sum_{k=1}^2[\hat{\beta}_{k,r}(s_i)-\beta_k^*(s_i)]^2}\]&#10;&#10;&#10;\end{document}" title="IguanaTex Picture Display">
            <a:extLst>
              <a:ext uri="{FF2B5EF4-FFF2-40B4-BE49-F238E27FC236}">
                <a16:creationId xmlns:a16="http://schemas.microsoft.com/office/drawing/2014/main" id="{22BFC738-821D-3E88-4FE9-14F59B6159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095" y="2767211"/>
            <a:ext cx="4851809" cy="911238"/>
          </a:xfrm>
          <a:prstGeom prst="rect">
            <a:avLst/>
          </a:prstGeom>
        </p:spPr>
      </p:pic>
      <p:pic>
        <p:nvPicPr>
          <p:cNvPr id="15" name="圖片 14" descr="\documentclass{article}&#10;\usepackage{amsmath}&#10;\pagestyle{empty}&#10;\begin{document}&#10;&#10;\[\overline{RMSE}=\frac{1}{200}RMSE_r\]&#10;&#10;&#10;\end{document}" title="IguanaTex Picture Display">
            <a:extLst>
              <a:ext uri="{FF2B5EF4-FFF2-40B4-BE49-F238E27FC236}">
                <a16:creationId xmlns:a16="http://schemas.microsoft.com/office/drawing/2014/main" id="{04C56764-1330-EED0-CB4A-C8F40230750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475" y="4347593"/>
            <a:ext cx="2531047" cy="51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19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2C6AF-7934-68A9-F7F9-F1D04B4C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1638388-2CC7-49A5-51FB-7355DF141FA0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C89337-1567-69ED-6169-B5F37D1B8ED8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程式碼架構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39DAE8C1-D18F-1615-14FC-9622453554EB}"/>
              </a:ext>
            </a:extLst>
          </p:cNvPr>
          <p:cNvGrpSpPr/>
          <p:nvPr/>
        </p:nvGrpSpPr>
        <p:grpSpPr>
          <a:xfrm>
            <a:off x="141337" y="614187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8BC4FAC-9053-40D0-138C-99F4F7BEAAF4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主要函數與流程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1D56A549-0B81-40B8-7999-16C92CD5A913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4E3D17E-C2B7-E8AF-270E-BFDDAF92B244}"/>
              </a:ext>
            </a:extLst>
          </p:cNvPr>
          <p:cNvSpPr/>
          <p:nvPr/>
        </p:nvSpPr>
        <p:spPr>
          <a:xfrm>
            <a:off x="287805" y="1052075"/>
            <a:ext cx="2673582" cy="2114977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global_parameter_config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設定模擬參數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10 * 10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空間網格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(n =100)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raw_dim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=10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PCA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後保留 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2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個解釋變數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sims=200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={0.001, 1}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95% CI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seed = 123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GWR 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無截距、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exponential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kernel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fixed bandwidth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LOOCV 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6983A9-9D04-2FF0-E70F-592CDE1BA4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062148"/>
            <a:ext cx="12192000" cy="6119533"/>
          </a:xfrm>
          <a:prstGeom prst="rect">
            <a:avLst/>
          </a:prstGeom>
        </p:spPr>
      </p:pic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39CAB897-AB99-327D-091A-0C302AC333C0}"/>
              </a:ext>
            </a:extLst>
          </p:cNvPr>
          <p:cNvSpPr/>
          <p:nvPr/>
        </p:nvSpPr>
        <p:spPr>
          <a:xfrm>
            <a:off x="3086842" y="1052074"/>
            <a:ext cx="2242509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grid_setup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建立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座標網格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取出所有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計算距離矩陣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DB7608DA-43AE-5502-692C-E5368690CE7D}"/>
              </a:ext>
            </a:extLst>
          </p:cNvPr>
          <p:cNvSpPr/>
          <p:nvPr/>
        </p:nvSpPr>
        <p:spPr>
          <a:xfrm>
            <a:off x="5454807" y="1052074"/>
            <a:ext cx="2108805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(grid)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設定真實係數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beta1_true=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grid$x_coord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beta2_true=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grid$y_coord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9B77AF66-F58F-2701-F68A-0004E1619D64}"/>
              </a:ext>
            </a:extLst>
          </p:cNvPr>
          <p:cNvSpPr/>
          <p:nvPr/>
        </p:nvSpPr>
        <p:spPr>
          <a:xfrm>
            <a:off x="7689068" y="1052074"/>
            <a:ext cx="2108805" cy="2114765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run_sim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(parameter, grid,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核心模擬函數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外層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兩種誤差情境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={0.001, 1})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內層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每種情境模擬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200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次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EB13A9E-A2CD-AE98-F008-45C8F9F349D0}"/>
              </a:ext>
            </a:extLst>
          </p:cNvPr>
          <p:cNvSpPr/>
          <p:nvPr/>
        </p:nvSpPr>
        <p:spPr>
          <a:xfrm>
            <a:off x="9923328" y="1052075"/>
            <a:ext cx="2082803" cy="2114764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5. </a:t>
            </a:r>
            <a:r>
              <a:rPr lang="zh-TW" altLang="en-US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輸出結果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all_results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summary_table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BA1C23AA-7296-0ADA-9653-8F7B22018A09}"/>
              </a:ext>
            </a:extLst>
          </p:cNvPr>
          <p:cNvGrpSpPr/>
          <p:nvPr/>
        </p:nvGrpSpPr>
        <p:grpSpPr>
          <a:xfrm>
            <a:off x="141337" y="3335420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C02981B-7818-B49F-25B9-93A4D03DD90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1" dirty="0" err="1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run_sim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內圈 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200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次模擬流程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ADC6064B-2F10-DA86-B486-2762AE7B21D7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A5ABD20-1053-C5E5-F7DA-AD691463452C}"/>
              </a:ext>
            </a:extLst>
          </p:cNvPr>
          <p:cNvGrpSpPr/>
          <p:nvPr/>
        </p:nvGrpSpPr>
        <p:grpSpPr>
          <a:xfrm>
            <a:off x="287805" y="3726977"/>
            <a:ext cx="4591905" cy="283545"/>
            <a:chOff x="216088" y="3940509"/>
            <a:chExt cx="4591905" cy="283545"/>
          </a:xfrm>
        </p:grpSpPr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D3F8BC8E-748B-1ABD-DF01-E0B64263007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產生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100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*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原始資料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5CA0B7E1-F03E-5981-B57D-AF02BF84A8A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11A67AC-825C-9DF6-5ED9-FEC9FFC9DF8F}"/>
              </a:ext>
            </a:extLst>
          </p:cNvPr>
          <p:cNvGrpSpPr/>
          <p:nvPr/>
        </p:nvGrpSpPr>
        <p:grpSpPr>
          <a:xfrm>
            <a:off x="287805" y="4097621"/>
            <a:ext cx="4591905" cy="283545"/>
            <a:chOff x="216088" y="3940509"/>
            <a:chExt cx="4591905" cy="283545"/>
          </a:xfrm>
        </p:grpSpPr>
        <p:sp>
          <p:nvSpPr>
            <p:cNvPr id="25" name="矩形: 圓角 24">
              <a:extLst>
                <a:ext uri="{FF2B5EF4-FFF2-40B4-BE49-F238E27FC236}">
                  <a16:creationId xmlns:a16="http://schemas.microsoft.com/office/drawing/2014/main" id="{5D1982EC-29CF-8673-2CB9-003B3ABB07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PCA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取前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主成分作為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B55034B-F45C-0AB2-9684-0C5BF69EECE7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F0FC23E-9EA9-9FDA-49C1-8925BA7D6E4D}"/>
              </a:ext>
            </a:extLst>
          </p:cNvPr>
          <p:cNvGrpSpPr/>
          <p:nvPr/>
        </p:nvGrpSpPr>
        <p:grpSpPr>
          <a:xfrm>
            <a:off x="287805" y="4448627"/>
            <a:ext cx="4591905" cy="283545"/>
            <a:chOff x="216088" y="3940509"/>
            <a:chExt cx="4591905" cy="283545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FFFD01D3-42DD-783A-BB96-9A89DC615E5A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生成誤差</a:t>
              </a:r>
            </a:p>
          </p:txBody>
        </p:sp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65D72F0C-AC82-0BC5-E512-B762DC9EB86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612341D2-CE8F-698F-6EB1-1218FAABCB8B}"/>
              </a:ext>
            </a:extLst>
          </p:cNvPr>
          <p:cNvGrpSpPr/>
          <p:nvPr/>
        </p:nvGrpSpPr>
        <p:grpSpPr>
          <a:xfrm>
            <a:off x="287805" y="4815305"/>
            <a:ext cx="4591905" cy="283545"/>
            <a:chOff x="216088" y="3940509"/>
            <a:chExt cx="4591905" cy="283545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AD832BC-118B-64A8-1BA5-E85FDECA53E7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建立反應變數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721EAEC6-8ABF-AF98-FCF7-5A3A42E5CB66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984689C5-245D-9AE6-6FED-C883237ACD44}"/>
              </a:ext>
            </a:extLst>
          </p:cNvPr>
          <p:cNvGrpSpPr/>
          <p:nvPr/>
        </p:nvGrpSpPr>
        <p:grpSpPr>
          <a:xfrm>
            <a:off x="287805" y="5172690"/>
            <a:ext cx="4591905" cy="283545"/>
            <a:chOff x="216088" y="3940509"/>
            <a:chExt cx="4591905" cy="283545"/>
          </a:xfrm>
        </p:grpSpPr>
        <p:sp>
          <p:nvSpPr>
            <p:cNvPr id="34" name="矩形: 圓角 33">
              <a:extLst>
                <a:ext uri="{FF2B5EF4-FFF2-40B4-BE49-F238E27FC236}">
                  <a16:creationId xmlns:a16="http://schemas.microsoft.com/office/drawing/2014/main" id="{5ABEA5D1-B2D9-25F7-9BC1-C4DBF1D3C054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bw_gwr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選最佳帶寬</a:t>
              </a:r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9BDF39BE-F740-A145-2A2B-4DD22F492469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5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11556B80-E67F-1049-FE1C-A179DB2B1B5F}"/>
              </a:ext>
            </a:extLst>
          </p:cNvPr>
          <p:cNvGrpSpPr/>
          <p:nvPr/>
        </p:nvGrpSpPr>
        <p:grpSpPr>
          <a:xfrm>
            <a:off x="287805" y="5511393"/>
            <a:ext cx="4591905" cy="283545"/>
            <a:chOff x="216088" y="3940509"/>
            <a:chExt cx="4591905" cy="283545"/>
          </a:xfrm>
        </p:grpSpPr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1A47F5ED-FBF4-FD5E-E2A9-165CE8BAEBF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gwr.basic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估計各點係數</a:t>
              </a:r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5D21A4DD-15F9-C353-C272-2D38474F6B53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6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69D533D9-0DF4-E473-D0DE-5FF68874AC39}"/>
              </a:ext>
            </a:extLst>
          </p:cNvPr>
          <p:cNvGrpSpPr/>
          <p:nvPr/>
        </p:nvGrpSpPr>
        <p:grpSpPr>
          <a:xfrm>
            <a:off x="287805" y="5856475"/>
            <a:ext cx="4591905" cy="283545"/>
            <a:chOff x="216088" y="3940509"/>
            <a:chExt cx="4591905" cy="283545"/>
          </a:xfrm>
        </p:grpSpPr>
        <p:sp>
          <p:nvSpPr>
            <p:cNvPr id="40" name="矩形: 圓角 39">
              <a:extLst>
                <a:ext uri="{FF2B5EF4-FFF2-40B4-BE49-F238E27FC236}">
                  <a16:creationId xmlns:a16="http://schemas.microsoft.com/office/drawing/2014/main" id="{EACEBD16-B196-B791-02F8-67BEBA9852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計算係數標準誤並建立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95%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CI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BE3B175A-57BD-4210-A9CD-A2924D50BA6F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7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CAB33592-ADFC-8E42-9D11-E955965D8120}"/>
              </a:ext>
            </a:extLst>
          </p:cNvPr>
          <p:cNvGrpSpPr/>
          <p:nvPr/>
        </p:nvGrpSpPr>
        <p:grpSpPr>
          <a:xfrm>
            <a:off x="287805" y="6201557"/>
            <a:ext cx="4591905" cy="283545"/>
            <a:chOff x="216088" y="3940509"/>
            <a:chExt cx="4591905" cy="283545"/>
          </a:xfrm>
        </p:grpSpPr>
        <p:sp>
          <p:nvSpPr>
            <p:cNvPr id="43" name="矩形: 圓角 42">
              <a:extLst>
                <a:ext uri="{FF2B5EF4-FFF2-40B4-BE49-F238E27FC236}">
                  <a16:creationId xmlns:a16="http://schemas.microsoft.com/office/drawing/2014/main" id="{ADDB71C3-8A4C-6502-7FA7-77DC8721A0A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計算信賴區間涵蓋率與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RMSE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6B14BD12-EE1B-AB24-A80C-33F1ECABA91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8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9DFA031-0E9E-3DE2-1ABD-77D43667848D}"/>
              </a:ext>
            </a:extLst>
          </p:cNvPr>
          <p:cNvGrpSpPr/>
          <p:nvPr/>
        </p:nvGrpSpPr>
        <p:grpSpPr>
          <a:xfrm>
            <a:off x="5454807" y="3380932"/>
            <a:ext cx="4401670" cy="336176"/>
            <a:chOff x="2376723" y="1192307"/>
            <a:chExt cx="4401670" cy="336176"/>
          </a:xfrm>
        </p:grpSpPr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76BEFB19-4D6F-026F-3E43-A8EB13F3A5D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模擬重點與輸出指標</a:t>
              </a:r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7D319414-3A63-D708-90CB-61B1CDAB909B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3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CDACBFD6-FA42-A292-F8CD-511D8C033CF7}"/>
              </a:ext>
            </a:extLst>
          </p:cNvPr>
          <p:cNvSpPr/>
          <p:nvPr/>
        </p:nvSpPr>
        <p:spPr>
          <a:xfrm>
            <a:off x="5540498" y="3799175"/>
            <a:ext cx="3324022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模擬目的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解釋變數無明顯共線性情況下，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推論是否可靠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是否能準確還原空間變動係數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95%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CI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是否能涵蓋真實係數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結果是否受誤差大小影響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19BA65A-84DB-D2EC-E34D-BB668E5DE71B}"/>
              </a:ext>
            </a:extLst>
          </p:cNvPr>
          <p:cNvSpPr/>
          <p:nvPr/>
        </p:nvSpPr>
        <p:spPr>
          <a:xfrm>
            <a:off x="8960007" y="3801564"/>
            <a:ext cx="2466210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主要評估指標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RMSE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</p:txBody>
      </p:sp>
      <p:cxnSp>
        <p:nvCxnSpPr>
          <p:cNvPr id="61" name="直線單箭頭接點 60">
            <a:extLst>
              <a:ext uri="{FF2B5EF4-FFF2-40B4-BE49-F238E27FC236}">
                <a16:creationId xmlns:a16="http://schemas.microsoft.com/office/drawing/2014/main" id="{34811DBD-6F37-B103-4CE4-5E9DBE45CD49}"/>
              </a:ext>
            </a:extLst>
          </p:cNvPr>
          <p:cNvCxnSpPr/>
          <p:nvPr/>
        </p:nvCxnSpPr>
        <p:spPr>
          <a:xfrm flipH="1">
            <a:off x="4670612" y="2429435"/>
            <a:ext cx="3514164" cy="9485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圖片 64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1BB610C2-F159-C3C3-87C5-194B785ACD4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293" y="3792966"/>
            <a:ext cx="1226667" cy="178133"/>
          </a:xfrm>
          <a:prstGeom prst="rect">
            <a:avLst/>
          </a:prstGeom>
        </p:spPr>
      </p:pic>
      <p:pic>
        <p:nvPicPr>
          <p:cNvPr id="69" name="圖片 68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A18D3FB7-AE8E-9F18-FD6F-AB27C82D077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315" y="4201755"/>
            <a:ext cx="420267" cy="112000"/>
          </a:xfrm>
          <a:prstGeom prst="rect">
            <a:avLst/>
          </a:prstGeom>
        </p:spPr>
      </p:pic>
      <p:pic>
        <p:nvPicPr>
          <p:cNvPr id="75" name="圖片 74" descr="\documentclass{article}&#10;\usepackage{amsmath}&#10;\pagestyle{empty}&#10;\begin{document}&#10;&#10;\[\epsilon(s_i)\overset{ind.}{\sim}N(0,\tau^{2*})\]&#10;&#10;&#10;\end{document}" title="IguanaTex Picture Display">
            <a:extLst>
              <a:ext uri="{FF2B5EF4-FFF2-40B4-BE49-F238E27FC236}">
                <a16:creationId xmlns:a16="http://schemas.microsoft.com/office/drawing/2014/main" id="{23B27D86-75D7-A480-B190-768E988C9FD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91" y="4479269"/>
            <a:ext cx="1219860" cy="202533"/>
          </a:xfrm>
          <a:prstGeom prst="rect">
            <a:avLst/>
          </a:prstGeom>
        </p:spPr>
      </p:pic>
      <p:pic>
        <p:nvPicPr>
          <p:cNvPr id="79" name="圖片 78" descr="\documentclass{article}&#10;\usepackage{amsmath}&#10;\pagestyle{empty}&#10;\begin{document}&#10;&#10;&#10;\[y(s_i)=\beta_1^*(s_i)x_1(s_i)+\beta_2^*(s_i)x_2(x)+\epsilon(s_i)\]&#10;&#10;\end{document}" title="IguanaTex Picture Display">
            <a:extLst>
              <a:ext uri="{FF2B5EF4-FFF2-40B4-BE49-F238E27FC236}">
                <a16:creationId xmlns:a16="http://schemas.microsoft.com/office/drawing/2014/main" id="{9F0C6AC3-6AC6-152B-F00C-3A709858D48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518" y="4886975"/>
            <a:ext cx="2717308" cy="151617"/>
          </a:xfrm>
          <a:prstGeom prst="rect">
            <a:avLst/>
          </a:prstGeom>
        </p:spPr>
      </p:pic>
      <p:pic>
        <p:nvPicPr>
          <p:cNvPr id="81" name="圖片 80" descr="\documentclass{article}&#10;\usepackage{amsmath}&#10;\pagestyle{empty}&#10;\begin{document}&#10;&#10;\[\beta_1\]&#10;&#10;&#10;\end{document}" title="IguanaTex Picture Display">
            <a:extLst>
              <a:ext uri="{FF2B5EF4-FFF2-40B4-BE49-F238E27FC236}">
                <a16:creationId xmlns:a16="http://schemas.microsoft.com/office/drawing/2014/main" id="{365B61F6-0A62-A369-DC91-00C606E1F4A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7" y="4448627"/>
            <a:ext cx="154667" cy="160000"/>
          </a:xfrm>
          <a:prstGeom prst="rect">
            <a:avLst/>
          </a:prstGeom>
        </p:spPr>
      </p:pic>
      <p:pic>
        <p:nvPicPr>
          <p:cNvPr id="84" name="圖片 83" descr="\documentclass{article}&#10;\usepackage{amsmath}&#10;\pagestyle{empty}&#10;\begin{document}&#10;&#10;\[\beta_2\]&#10;&#10;&#10;\end{document}" title="IguanaTex Picture Display">
            <a:extLst>
              <a:ext uri="{FF2B5EF4-FFF2-40B4-BE49-F238E27FC236}">
                <a16:creationId xmlns:a16="http://schemas.microsoft.com/office/drawing/2014/main" id="{CDE012DD-D0CA-04C1-2B46-451FCE55416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6" y="4702048"/>
            <a:ext cx="158934" cy="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41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5107-2881-44C0-03B3-73EBA68FC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6099D4-5C25-A742-1833-194D364A4E3A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F1FD09-32B2-FC80-3D94-5F69DF075D87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94A2E3F-ADE9-75F0-2057-CF5A73D439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173759"/>
            <a:ext cx="12192000" cy="6119533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7CF6CDCC-D315-3952-78AC-38F6462ED0B4}"/>
              </a:ext>
            </a:extLst>
          </p:cNvPr>
          <p:cNvGrpSpPr/>
          <p:nvPr/>
        </p:nvGrpSpPr>
        <p:grpSpPr>
          <a:xfrm>
            <a:off x="3895165" y="828986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A6FC970E-80CF-262C-9653-2C980819A8F1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論文模擬實驗結果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57EA3D58-2DCA-7E23-5508-5BEF8884C67A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423C766-8AF8-CBD1-CD12-580C6311B3AC}"/>
              </a:ext>
            </a:extLst>
          </p:cNvPr>
          <p:cNvGrpSpPr/>
          <p:nvPr/>
        </p:nvGrpSpPr>
        <p:grpSpPr>
          <a:xfrm>
            <a:off x="3895165" y="4748818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E43D8506-C69A-6064-92A3-E5994524BC82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復刻模擬實驗結果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42040123-7FFA-3603-04E1-2F04EF5312C4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B8402CE7-7CB3-61C9-486E-20799FB1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44" y="1258583"/>
            <a:ext cx="6595913" cy="1600950"/>
          </a:xfrm>
          <a:prstGeom prst="rect">
            <a:avLst/>
          </a:prstGeom>
          <a:ln w="19050">
            <a:noFill/>
          </a:ln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A823BB8-179E-F6B1-0461-E2E3DCD4F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44" y="2980998"/>
            <a:ext cx="6595913" cy="1573083"/>
          </a:xfrm>
          <a:prstGeom prst="rect">
            <a:avLst/>
          </a:prstGeom>
          <a:ln w="19050">
            <a:noFill/>
          </a:ln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8E79165B-339E-33ED-AF52-DB27683119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6453"/>
          <a:stretch>
            <a:fillRect/>
          </a:stretch>
        </p:blipFill>
        <p:spPr>
          <a:xfrm>
            <a:off x="2650797" y="5235827"/>
            <a:ext cx="6890405" cy="1140986"/>
          </a:xfrm>
          <a:prstGeom prst="rect">
            <a:avLst/>
          </a:prstGeom>
          <a:ln w="28575">
            <a:noFill/>
          </a:ln>
        </p:spPr>
      </p:pic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145A3260-D618-3C4D-8EC5-DE88DFD2974A}"/>
              </a:ext>
            </a:extLst>
          </p:cNvPr>
          <p:cNvSpPr/>
          <p:nvPr/>
        </p:nvSpPr>
        <p:spPr>
          <a:xfrm>
            <a:off x="2798043" y="2465679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027BDDC-4F9C-1BE5-9BC5-10BC9632DF06}"/>
              </a:ext>
            </a:extLst>
          </p:cNvPr>
          <p:cNvSpPr/>
          <p:nvPr/>
        </p:nvSpPr>
        <p:spPr>
          <a:xfrm>
            <a:off x="2798043" y="4188954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692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C0CF-87A7-0096-7D0D-40723CA04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871D5C7-ABED-AB1C-5CFE-A0C1464EAA2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729AA185-79F7-C2F3-928C-6162E77455D1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3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黃金分割搜尋演算法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773575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79FF-DA42-CCEB-C702-4ED46279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126DFAB-A211-E37A-BA2C-F3B51E039519}"/>
              </a:ext>
            </a:extLst>
          </p:cNvPr>
          <p:cNvSpPr/>
          <p:nvPr/>
        </p:nvSpPr>
        <p:spPr>
          <a:xfrm>
            <a:off x="242048" y="984575"/>
            <a:ext cx="11707905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CDB0FC95-A2F6-3F86-6122-C31D0C1B6C00}"/>
              </a:ext>
            </a:extLst>
          </p:cNvPr>
          <p:cNvCxnSpPr>
            <a:cxnSpLocks/>
          </p:cNvCxnSpPr>
          <p:nvPr/>
        </p:nvCxnSpPr>
        <p:spPr>
          <a:xfrm>
            <a:off x="6096000" y="1125066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1116A4-64FC-C9E3-377B-3CC27012745C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0E2710-32C9-7097-A989-BE6435161C5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43" name="圖片 42" descr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34394DDA-F58B-31D2-9298-9479EA494E2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67" y="1344703"/>
            <a:ext cx="5202895" cy="4949333"/>
          </a:xfrm>
          <a:prstGeom prst="rect">
            <a:avLst/>
          </a:prstGeom>
        </p:spPr>
      </p:pic>
      <p:pic>
        <p:nvPicPr>
          <p:cNvPr id="41" name="圖片 40" descr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2167D324-3191-BEFC-D71A-11D2759618C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904" y="1344703"/>
            <a:ext cx="5240685" cy="5039542"/>
          </a:xfrm>
          <a:prstGeom prst="rect">
            <a:avLst/>
          </a:prstGeom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991C5328-9B04-7DC2-82F6-256F0DA86D20}"/>
              </a:ext>
            </a:extLst>
          </p:cNvPr>
          <p:cNvSpPr txBox="1"/>
          <p:nvPr/>
        </p:nvSpPr>
        <p:spPr>
          <a:xfrm>
            <a:off x="242047" y="744184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基本觀念與推導</a:t>
            </a:r>
            <a:endParaRPr lang="zh-TW" altLang="en-US" sz="2400" b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35348D6-CE0C-4D29-222B-80C02B0BD1E2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6005460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1AA3C-04E8-F0AE-5774-97B5EC669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48DF662-A469-D3DA-EDA5-7097D94EE1A1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50EB5D-7C09-7517-A115-9388D204F24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74" name="圖片 73">
            <a:extLst>
              <a:ext uri="{FF2B5EF4-FFF2-40B4-BE49-F238E27FC236}">
                <a16:creationId xmlns:a16="http://schemas.microsoft.com/office/drawing/2014/main" id="{0D9E848D-8A68-40DF-0E5F-C22FE1C11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" t="14641" r="2181" b="14771"/>
          <a:stretch>
            <a:fillRect/>
          </a:stretch>
        </p:blipFill>
        <p:spPr>
          <a:xfrm>
            <a:off x="926725" y="1971425"/>
            <a:ext cx="9872383" cy="4097684"/>
          </a:xfrm>
          <a:prstGeom prst="rect">
            <a:avLst/>
          </a:prstGeom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22AC4A29-A33C-0AAE-7DC8-A22138C12995}"/>
              </a:ext>
            </a:extLst>
          </p:cNvPr>
          <p:cNvSpPr txBox="1"/>
          <p:nvPr/>
        </p:nvSpPr>
        <p:spPr>
          <a:xfrm>
            <a:off x="3043517" y="1117337"/>
            <a:ext cx="61049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黃金分割搜尋概念圖解</a:t>
            </a:r>
            <a:endParaRPr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7587338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48672-A5EC-D75C-92DF-930E907A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A4A9A39-0BA8-4E9D-528E-DFB6B8B233D2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9FBD33-4119-5FEA-94DD-4FEA90639D7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217BBFC-91E2-31D1-FD74-E2F0AB247F38}"/>
              </a:ext>
            </a:extLst>
          </p:cNvPr>
          <p:cNvSpPr txBox="1"/>
          <p:nvPr/>
        </p:nvSpPr>
        <p:spPr>
          <a:xfrm>
            <a:off x="1214718" y="1717582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定位精度設置</a:t>
            </a:r>
            <a:endParaRPr lang="zh-TW" altLang="en-US" sz="2400" b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17011E2-7FBD-A348-0CA3-860BF8E4D18B}"/>
              </a:ext>
            </a:extLst>
          </p:cNvPr>
          <p:cNvSpPr txBox="1"/>
          <p:nvPr/>
        </p:nvSpPr>
        <p:spPr>
          <a:xfrm>
            <a:off x="1584512" y="2179247"/>
            <a:ext cx="1029596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當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非常接近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，雖然不完全相同，但函數值已小到電腦無法分辨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最小值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附近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泰勒展開近似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因此函數值變化和距離平方成正比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尋找最小值時，橫座標的合理相對精度通常約為機器精度的平方根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單精度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 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雙精度 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&#10;\[f^\prime(b)=0\]&#10;&#10;\end{document}" title="IguanaTex Picture Display">
            <a:extLst>
              <a:ext uri="{FF2B5EF4-FFF2-40B4-BE49-F238E27FC236}">
                <a16:creationId xmlns:a16="http://schemas.microsoft.com/office/drawing/2014/main" id="{9A53DF07-63A8-DE81-F00F-C93F79A337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160" y="2897826"/>
            <a:ext cx="970667" cy="268190"/>
          </a:xfrm>
          <a:prstGeom prst="rect">
            <a:avLst/>
          </a:prstGeom>
        </p:spPr>
      </p:pic>
      <p:pic>
        <p:nvPicPr>
          <p:cNvPr id="8" name="圖片 7" descr="\documentclass{article}&#10;\usepackage{amsmath}&#10;\pagestyle{empty}&#10;\begin{document}&#10;&#10;\begin{align}&#10;f(x)&amp;\approx f(b)+\frac{1}{2}f^{\prime\prime}(b)(x-b)^2\\&#10;&amp;\Rightarrow f(x) - f(b) \propto (x-b)^2&#10;\end{align}&#10;&#10;&#10;\end{document}" title="IguanaTex Picture Display">
            <a:extLst>
              <a:ext uri="{FF2B5EF4-FFF2-40B4-BE49-F238E27FC236}">
                <a16:creationId xmlns:a16="http://schemas.microsoft.com/office/drawing/2014/main" id="{287FCFEB-E2D5-4A0E-3E6A-14DF5B1A6C0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347"/>
          <a:stretch>
            <a:fillRect/>
          </a:stretch>
        </p:blipFill>
        <p:spPr>
          <a:xfrm>
            <a:off x="5061830" y="3365721"/>
            <a:ext cx="3341325" cy="896000"/>
          </a:xfrm>
          <a:prstGeom prst="rect">
            <a:avLst/>
          </a:prstGeom>
        </p:spPr>
      </p:pic>
      <p:pic>
        <p:nvPicPr>
          <p:cNvPr id="16" name="圖片 15" descr="\documentclass{article}&#10;\usepackage{amsmath}&#10;\pagestyle{empty}&#10;\begin{document}&#10;&#10;\[\epsilon\sim10^{-7}\]&#10;&#10;&#10;\end{document}" title="IguanaTex Picture Display">
            <a:extLst>
              <a:ext uri="{FF2B5EF4-FFF2-40B4-BE49-F238E27FC236}">
                <a16:creationId xmlns:a16="http://schemas.microsoft.com/office/drawing/2014/main" id="{547A54EE-EFC6-8B3A-8CD6-91DB029DBA9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4995570"/>
            <a:ext cx="750933" cy="185295"/>
          </a:xfrm>
          <a:prstGeom prst="rect">
            <a:avLst/>
          </a:prstGeom>
        </p:spPr>
      </p:pic>
      <p:pic>
        <p:nvPicPr>
          <p:cNvPr id="19" name="圖片 18" descr="\documentclass{article}&#10;\usepackage{amsmath}&#10;\pagestyle{empty}&#10;\begin{document}&#10;&#10;\[\epsilon\sim10^{-16}\]&#10;&#10;&#10;\end{document}" title="IguanaTex Picture Display">
            <a:extLst>
              <a:ext uri="{FF2B5EF4-FFF2-40B4-BE49-F238E27FC236}">
                <a16:creationId xmlns:a16="http://schemas.microsoft.com/office/drawing/2014/main" id="{61DBE955-FD1C-2DE5-A8CF-32FCDCEF0F0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5326346"/>
            <a:ext cx="826514" cy="182857"/>
          </a:xfrm>
          <a:prstGeom prst="rect">
            <a:avLst/>
          </a:prstGeom>
        </p:spPr>
      </p:pic>
      <p:pic>
        <p:nvPicPr>
          <p:cNvPr id="23" name="圖片 22" descr="\documentclass{article}&#10;\usepackage{amsmath}&#10;\pagestyle{empty}&#10;\begin{document}&#10;\[10^{-4}\]&#10;&#10;&#10;&#10;\end{document}" title="IguanaTex Picture Display">
            <a:extLst>
              <a:ext uri="{FF2B5EF4-FFF2-40B4-BE49-F238E27FC236}">
                <a16:creationId xmlns:a16="http://schemas.microsoft.com/office/drawing/2014/main" id="{B1318BFC-BA53-0364-1D90-9A9AFB26C7F6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378" y="4984674"/>
            <a:ext cx="436114" cy="207086"/>
          </a:xfrm>
          <a:prstGeom prst="rect">
            <a:avLst/>
          </a:prstGeom>
        </p:spPr>
      </p:pic>
      <p:pic>
        <p:nvPicPr>
          <p:cNvPr id="26" name="圖片 25" descr="\documentclass{article}&#10;\usepackage{amsmath}&#10;\pagestyle{empty}&#10;\begin{document}&#10;\[10^{-8}\]&#10;&#10;&#10;&#10;\end{document}" title="IguanaTex Picture Display">
            <a:extLst>
              <a:ext uri="{FF2B5EF4-FFF2-40B4-BE49-F238E27FC236}">
                <a16:creationId xmlns:a16="http://schemas.microsoft.com/office/drawing/2014/main" id="{638779C5-D801-E6D9-8E95-8D1F1ACFDC0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062" y="5285954"/>
            <a:ext cx="433371" cy="20571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E20532F9-CB6A-A98D-D9D2-1F3E577D74F1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07431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6C656-662D-A903-2278-734A77FB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FD6B231-FEA9-56AA-11F3-428550AE80F1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4F7843-4D21-EEF0-71EC-BED02CAB19C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BA5BF5FD-4131-650F-621F-B454D5F9D96B}"/>
              </a:ext>
            </a:extLst>
          </p:cNvPr>
          <p:cNvGrpSpPr/>
          <p:nvPr/>
        </p:nvGrpSpPr>
        <p:grpSpPr>
          <a:xfrm>
            <a:off x="2567423" y="1389699"/>
            <a:ext cx="7057154" cy="4595306"/>
            <a:chOff x="2147047" y="1389699"/>
            <a:chExt cx="7057154" cy="4595306"/>
          </a:xfrm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BE63C43B-A18B-EBCF-EF3A-1F1DCC1A6332}"/>
                </a:ext>
              </a:extLst>
            </p:cNvPr>
            <p:cNvSpPr txBox="1"/>
            <p:nvPr/>
          </p:nvSpPr>
          <p:spPr>
            <a:xfrm>
              <a:off x="2147047" y="4534666"/>
              <a:ext cx="10578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優點</a:t>
              </a:r>
              <a:endParaRPr lang="zh-TW" altLang="en-US" sz="2400" b="1" dirty="0"/>
            </a:p>
          </p:txBody>
        </p:sp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B46031C6-C84F-96C1-C875-CED78CC52A97}"/>
                </a:ext>
              </a:extLst>
            </p:cNvPr>
            <p:cNvSpPr txBox="1"/>
            <p:nvPr/>
          </p:nvSpPr>
          <p:spPr>
            <a:xfrm>
              <a:off x="2594971" y="1865540"/>
              <a:ext cx="6609230" cy="2362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假設目前已知最小值位於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[a, c]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中，在區間放兩個內部點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若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             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，丟掉       ，留        進入下一輪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若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             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，丟掉       ，留        進入下一輪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重複過程，直到區間足夠小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pic>
          <p:nvPicPr>
            <p:cNvPr id="7" name="圖片 6" descr="\documentclass{article}&#10;\usepackage{amsmath}&#10;\pagestyle{empty}&#10;\begin{document}&#10;&#10;\begin{align}&#10;x_1=c-0.618034(c-a)=a+0.381966(c-a)\\&#10;x_2=a+0.618034(c-a)=c-0.381966(c-a)&#10;\end{align}&#10;&#10;&#10;\end{document}" title="IguanaTex Picture Display">
              <a:extLst>
                <a:ext uri="{FF2B5EF4-FFF2-40B4-BE49-F238E27FC236}">
                  <a16:creationId xmlns:a16="http://schemas.microsoft.com/office/drawing/2014/main" id="{93646D5F-6CC3-DEDC-B0DF-67B4435F51AB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4520"/>
            <a:stretch>
              <a:fillRect/>
            </a:stretch>
          </p:blipFill>
          <p:spPr>
            <a:xfrm>
              <a:off x="3641600" y="2392679"/>
              <a:ext cx="4710952" cy="570514"/>
            </a:xfrm>
            <a:prstGeom prst="rect">
              <a:avLst/>
            </a:prstGeom>
          </p:spPr>
        </p:pic>
        <p:pic>
          <p:nvPicPr>
            <p:cNvPr id="17" name="圖片 16" descr="\documentclass{article}&#10;\usepackage{amsmath}&#10;\pagestyle{empty}&#10;\begin{document}&#10;&#10;\[f(x_1)&lt;f(x_2)\]&#10;&#10;&#10;\end{document}" title="IguanaTex Picture Display">
              <a:extLst>
                <a:ext uri="{FF2B5EF4-FFF2-40B4-BE49-F238E27FC236}">
                  <a16:creationId xmlns:a16="http://schemas.microsoft.com/office/drawing/2014/main" id="{67B8ECEB-D0D1-A812-8C1A-9101D45471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9264" y="3170601"/>
              <a:ext cx="1360457" cy="229029"/>
            </a:xfrm>
            <a:prstGeom prst="rect">
              <a:avLst/>
            </a:prstGeom>
          </p:spPr>
        </p:pic>
        <p:pic>
          <p:nvPicPr>
            <p:cNvPr id="22" name="圖片 21" descr="\documentclass{article}&#10;\usepackage{amsmath}&#10;\pagestyle{empty}&#10;\begin{document}&#10;\[[x_2,c]\]&#10;&#10;&#10;&#10;\end{document}" title="IguanaTex Picture Display">
              <a:extLst>
                <a:ext uri="{FF2B5EF4-FFF2-40B4-BE49-F238E27FC236}">
                  <a16:creationId xmlns:a16="http://schemas.microsoft.com/office/drawing/2014/main" id="{039FB392-666B-0209-9FC3-B648B273369A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4540" y="3170600"/>
              <a:ext cx="506057" cy="229029"/>
            </a:xfrm>
            <a:prstGeom prst="rect">
              <a:avLst/>
            </a:prstGeom>
          </p:spPr>
        </p:pic>
        <p:pic>
          <p:nvPicPr>
            <p:cNvPr id="25" name="圖片 24" descr="\documentclass{article}&#10;\usepackage{amsmath}&#10;\pagestyle{empty}&#10;\begin{document}&#10;&#10;\[[a,x_2]\]&#10;&#10;&#10;\end{document}" title="IguanaTex Picture Display">
              <a:extLst>
                <a:ext uri="{FF2B5EF4-FFF2-40B4-BE49-F238E27FC236}">
                  <a16:creationId xmlns:a16="http://schemas.microsoft.com/office/drawing/2014/main" id="{94CF81D4-588C-96E2-476E-69CC32087E56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50315" y="3170599"/>
              <a:ext cx="528000" cy="229029"/>
            </a:xfrm>
            <a:prstGeom prst="rect">
              <a:avLst/>
            </a:prstGeom>
          </p:spPr>
        </p:pic>
        <p:pic>
          <p:nvPicPr>
            <p:cNvPr id="29" name="圖片 28" descr="\documentclass{article}&#10;\usepackage{amsmath}&#10;\pagestyle{empty}&#10;\begin{document}&#10;&#10;\[f(x_1)&gt;f(x_2)\]&#10;&#10;&#10;\end{document}" title="IguanaTex Picture Display">
              <a:extLst>
                <a:ext uri="{FF2B5EF4-FFF2-40B4-BE49-F238E27FC236}">
                  <a16:creationId xmlns:a16="http://schemas.microsoft.com/office/drawing/2014/main" id="{8BBA2647-1958-AC81-FD53-0FD438945AA0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9264" y="3490332"/>
              <a:ext cx="1360457" cy="229029"/>
            </a:xfrm>
            <a:prstGeom prst="rect">
              <a:avLst/>
            </a:prstGeom>
          </p:spPr>
        </p:pic>
        <p:pic>
          <p:nvPicPr>
            <p:cNvPr id="34" name="圖片 33" descr="\documentclass{article}&#10;\usepackage{amsmath}&#10;\pagestyle{empty}&#10;\begin{document}&#10;\[[a,x_1]\]&#10;&#10;&#10;&#10;\end{document}" title="IguanaTex Picture Display">
              <a:extLst>
                <a:ext uri="{FF2B5EF4-FFF2-40B4-BE49-F238E27FC236}">
                  <a16:creationId xmlns:a16="http://schemas.microsoft.com/office/drawing/2014/main" id="{7938CFCF-1F4D-342F-BA7B-8294C1232BBB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2533" y="3474856"/>
              <a:ext cx="528000" cy="229029"/>
            </a:xfrm>
            <a:prstGeom prst="rect">
              <a:avLst/>
            </a:prstGeom>
          </p:spPr>
        </p:pic>
        <p:pic>
          <p:nvPicPr>
            <p:cNvPr id="37" name="圖片 36" descr="\documentclass{article}&#10;\usepackage{amsmath}&#10;\pagestyle{empty}&#10;\begin{document}&#10;&#10;\[[x_1,c]\]&#10;&#10;&#10;\end{document}" title="IguanaTex Picture Display">
              <a:extLst>
                <a:ext uri="{FF2B5EF4-FFF2-40B4-BE49-F238E27FC236}">
                  <a16:creationId xmlns:a16="http://schemas.microsoft.com/office/drawing/2014/main" id="{1B385743-9FE8-5682-9CB8-878714B1C2DB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52321" y="3474856"/>
              <a:ext cx="506057" cy="229029"/>
            </a:xfrm>
            <a:prstGeom prst="rect">
              <a:avLst/>
            </a:prstGeom>
          </p:spPr>
        </p:pic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8C83CE17-ABBD-6468-F5E0-6DF672F3DFE4}"/>
                </a:ext>
              </a:extLst>
            </p:cNvPr>
            <p:cNvSpPr txBox="1"/>
            <p:nvPr/>
          </p:nvSpPr>
          <p:spPr>
            <a:xfrm>
              <a:off x="2594971" y="4969342"/>
              <a:ext cx="660923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原先其中一個內部點，會自動成為新區間中的分割點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最壞情況最佳化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舊點可重複利用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F92CB3C-619E-5006-532B-4D59FB53B3F7}"/>
                </a:ext>
              </a:extLst>
            </p:cNvPr>
            <p:cNvSpPr txBox="1"/>
            <p:nvPr/>
          </p:nvSpPr>
          <p:spPr>
            <a:xfrm>
              <a:off x="2147047" y="1389699"/>
              <a:ext cx="239805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實際作法</a:t>
              </a:r>
              <a:endParaRPr lang="zh-TW" altLang="en-US" sz="2400" b="1" dirty="0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E6528F14-DB3F-1E11-DAE9-2063AF84AFD6}"/>
              </a:ext>
            </a:extLst>
          </p:cNvPr>
          <p:cNvSpPr txBox="1"/>
          <p:nvPr/>
        </p:nvSpPr>
        <p:spPr>
          <a:xfrm>
            <a:off x="5262282" y="6465499"/>
            <a:ext cx="6929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Reference: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Press et al., Numerical Recipes, 3rd ed., Cambridge University Press, 2007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9354366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5C093-329F-33D6-028A-9C01FF882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6DC087E-ED57-2191-E188-679D9E3E594B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FA9435-46C3-DA88-E454-4269E24D228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7A30EA-CCC1-9E8D-F1E2-65B622C90594}"/>
              </a:ext>
            </a:extLst>
          </p:cNvPr>
          <p:cNvSpPr txBox="1"/>
          <p:nvPr/>
        </p:nvSpPr>
        <p:spPr>
          <a:xfrm>
            <a:off x="4254770" y="865498"/>
            <a:ext cx="3482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gold() </a:t>
            </a:r>
            <a:r>
              <a:rPr lang="zh-TW" altLang="en-US" sz="18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演算法 </a:t>
            </a:r>
            <a:endParaRPr lang="zh-TW" altLang="en-US" b="1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74B11BC-B43C-5DAF-8335-A1C9A56385AB}"/>
              </a:ext>
            </a:extLst>
          </p:cNvPr>
          <p:cNvSpPr txBox="1"/>
          <p:nvPr/>
        </p:nvSpPr>
        <p:spPr>
          <a:xfrm>
            <a:off x="6203576" y="6430955"/>
            <a:ext cx="60242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</a:t>
            </a:r>
            <a:r>
              <a:rPr lang="zh-TW" altLang="en-US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R package source code, R/</a:t>
            </a:r>
            <a:r>
              <a:rPr lang="en-US" altLang="zh-TW" sz="1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bw.sel.r</a:t>
            </a:r>
            <a:r>
              <a:rPr lang="en-US" altLang="zh-TW" sz="1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, accessed via rdrr.io.</a:t>
            </a:r>
            <a:endParaRPr lang="zh-TW" altLang="en-US" sz="1200" b="1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2285FD4-94F0-AAB6-8529-6A9C74317DB6}"/>
              </a:ext>
            </a:extLst>
          </p:cNvPr>
          <p:cNvGrpSpPr/>
          <p:nvPr/>
        </p:nvGrpSpPr>
        <p:grpSpPr>
          <a:xfrm>
            <a:off x="1295400" y="1295399"/>
            <a:ext cx="4591905" cy="283545"/>
            <a:chOff x="216088" y="3940509"/>
            <a:chExt cx="4591905" cy="283545"/>
          </a:xfrm>
        </p:grpSpPr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6DB5179B-5F9C-E519-2DA7-45CCF0AA6C5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設定搜尋區間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8F2E096A-8E25-9F40-75A1-D49F636F031E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014B22B-05D2-AB63-A92F-11BDB66F5F7B}"/>
              </a:ext>
            </a:extLst>
          </p:cNvPr>
          <p:cNvSpPr/>
          <p:nvPr/>
        </p:nvSpPr>
        <p:spPr>
          <a:xfrm>
            <a:off x="1485635" y="1661985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52FF6AEC-3A25-FA16-70F1-9435399E5AB4}"/>
              </a:ext>
            </a:extLst>
          </p:cNvPr>
          <p:cNvGrpSpPr/>
          <p:nvPr/>
        </p:nvGrpSpPr>
        <p:grpSpPr>
          <a:xfrm>
            <a:off x="1295400" y="2282328"/>
            <a:ext cx="4591905" cy="283545"/>
            <a:chOff x="216088" y="3940509"/>
            <a:chExt cx="4591905" cy="283545"/>
          </a:xfrm>
        </p:grpSpPr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5A51563-2AAB-D638-930A-6E75689E08A5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計算黃金比例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4E00B1A0-6AB2-F0C8-EF52-98BFD712080B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BB17C605-4448-CEBA-34FE-5F29E08B3094}"/>
              </a:ext>
            </a:extLst>
          </p:cNvPr>
          <p:cNvSpPr/>
          <p:nvPr/>
        </p:nvSpPr>
        <p:spPr>
          <a:xfrm>
            <a:off x="1485635" y="264891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00C80BE9-7EAC-CB3B-1F35-EECE33841DB7}"/>
              </a:ext>
            </a:extLst>
          </p:cNvPr>
          <p:cNvGrpSpPr/>
          <p:nvPr/>
        </p:nvGrpSpPr>
        <p:grpSpPr>
          <a:xfrm>
            <a:off x="1295400" y="3276886"/>
            <a:ext cx="4591905" cy="283545"/>
            <a:chOff x="216088" y="3940509"/>
            <a:chExt cx="4591905" cy="283545"/>
          </a:xfrm>
        </p:grpSpPr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DCED8C34-81F7-A000-A4F1-9D64403C707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建立初始步長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9E329EA1-A915-FE23-FF58-EDA5DA1DCF8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6563683B-1881-AF4A-8068-198B0B06BAE7}"/>
              </a:ext>
            </a:extLst>
          </p:cNvPr>
          <p:cNvSpPr/>
          <p:nvPr/>
        </p:nvSpPr>
        <p:spPr>
          <a:xfrm>
            <a:off x="1485635" y="3643472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472C940D-6948-82E9-6D0E-4699C5CE8732}"/>
              </a:ext>
            </a:extLst>
          </p:cNvPr>
          <p:cNvGrpSpPr/>
          <p:nvPr/>
        </p:nvGrpSpPr>
        <p:grpSpPr>
          <a:xfrm>
            <a:off x="1295400" y="4271445"/>
            <a:ext cx="4591905" cy="283545"/>
            <a:chOff x="216088" y="3940509"/>
            <a:chExt cx="4591905" cy="283545"/>
          </a:xfrm>
        </p:grpSpPr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9D91F189-D2AB-183B-2681-B3C16F970D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建立兩個候選點</a:t>
              </a:r>
            </a:p>
          </p:txBody>
        </p:sp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2C778B80-CE42-BF67-C7B8-D725A76137B3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E1C7A615-2762-391A-F950-338942318B91}"/>
              </a:ext>
            </a:extLst>
          </p:cNvPr>
          <p:cNvSpPr/>
          <p:nvPr/>
        </p:nvSpPr>
        <p:spPr>
          <a:xfrm>
            <a:off x="1485635" y="463803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D47F598-5AB4-DB1D-B1D7-19B6F14A09E4}"/>
              </a:ext>
            </a:extLst>
          </p:cNvPr>
          <p:cNvGrpSpPr/>
          <p:nvPr/>
        </p:nvGrpSpPr>
        <p:grpSpPr>
          <a:xfrm>
            <a:off x="1295400" y="5282115"/>
            <a:ext cx="4591905" cy="283545"/>
            <a:chOff x="216088" y="3940509"/>
            <a:chExt cx="4591905" cy="283545"/>
          </a:xfrm>
        </p:grpSpPr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32D1465A-19D1-B79C-8EB9-C83EE354CCC2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計算目標函數</a:t>
              </a:r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65F85338-8135-DCD7-5C9F-9987737A0AAE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5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94F2E870-E80F-0504-AB38-5AEB9EF9B642}"/>
              </a:ext>
            </a:extLst>
          </p:cNvPr>
          <p:cNvSpPr/>
          <p:nvPr/>
        </p:nvSpPr>
        <p:spPr>
          <a:xfrm>
            <a:off x="1485635" y="564870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EF9BFA0-64AD-CD4C-12A0-4F2FDC6CB6C6}"/>
              </a:ext>
            </a:extLst>
          </p:cNvPr>
          <p:cNvGrpSpPr/>
          <p:nvPr/>
        </p:nvGrpSpPr>
        <p:grpSpPr>
          <a:xfrm>
            <a:off x="6077540" y="1295399"/>
            <a:ext cx="4591905" cy="283545"/>
            <a:chOff x="216088" y="3940509"/>
            <a:chExt cx="4591905" cy="283545"/>
          </a:xfrm>
        </p:grpSpPr>
        <p:sp>
          <p:nvSpPr>
            <p:cNvPr id="43" name="矩形: 圓角 42">
              <a:extLst>
                <a:ext uri="{FF2B5EF4-FFF2-40B4-BE49-F238E27FC236}">
                  <a16:creationId xmlns:a16="http://schemas.microsoft.com/office/drawing/2014/main" id="{218D678D-EDEE-9C8B-CC58-C2327D467085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比較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f1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f2	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AF8D4171-4C65-E79B-8193-731FA4793D6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6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1F7E7386-112B-2181-FD88-240AF2D74344}"/>
              </a:ext>
            </a:extLst>
          </p:cNvPr>
          <p:cNvSpPr/>
          <p:nvPr/>
        </p:nvSpPr>
        <p:spPr>
          <a:xfrm>
            <a:off x="6267775" y="1661985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                  ，保留右側區間   </a:t>
            </a:r>
            <a:endParaRPr lang="en-US" altLang="zh-TW" sz="140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                  ，保留左側區間</a:t>
            </a: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D22C2D25-8842-F481-9E1C-99C8DADD2DCA}"/>
              </a:ext>
            </a:extLst>
          </p:cNvPr>
          <p:cNvGrpSpPr/>
          <p:nvPr/>
        </p:nvGrpSpPr>
        <p:grpSpPr>
          <a:xfrm>
            <a:off x="6077540" y="2282328"/>
            <a:ext cx="4591905" cy="283545"/>
            <a:chOff x="216088" y="3940509"/>
            <a:chExt cx="4591905" cy="283545"/>
          </a:xfrm>
        </p:grpSpPr>
        <p:sp>
          <p:nvSpPr>
            <p:cNvPr id="48" name="矩形: 圓角 47">
              <a:extLst>
                <a:ext uri="{FF2B5EF4-FFF2-40B4-BE49-F238E27FC236}">
                  <a16:creationId xmlns:a16="http://schemas.microsoft.com/office/drawing/2014/main" id="{572A6C29-4036-5BC2-174A-5BF4AE068BC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更新步長</a:t>
              </a:r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D57E4A9F-3AEC-2437-E6C9-08508FFD428F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7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04D94F-E317-7894-B51A-90E861685553}"/>
              </a:ext>
            </a:extLst>
          </p:cNvPr>
          <p:cNvSpPr/>
          <p:nvPr/>
        </p:nvSpPr>
        <p:spPr>
          <a:xfrm>
            <a:off x="6267775" y="264891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C57C3CDF-6520-2A74-4D6D-3462BB2B87F6}"/>
              </a:ext>
            </a:extLst>
          </p:cNvPr>
          <p:cNvGrpSpPr/>
          <p:nvPr/>
        </p:nvGrpSpPr>
        <p:grpSpPr>
          <a:xfrm>
            <a:off x="6077540" y="3276886"/>
            <a:ext cx="4591905" cy="283545"/>
            <a:chOff x="216088" y="3940509"/>
            <a:chExt cx="4591905" cy="283545"/>
          </a:xfrm>
        </p:grpSpPr>
        <p:sp>
          <p:nvSpPr>
            <p:cNvPr id="52" name="矩形: 圓角 51">
              <a:extLst>
                <a:ext uri="{FF2B5EF4-FFF2-40B4-BE49-F238E27FC236}">
                  <a16:creationId xmlns:a16="http://schemas.microsoft.com/office/drawing/2014/main" id="{E432C3AC-3730-4525-2479-25B29317769C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重複利用舊點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64D292CB-37DE-FD4A-40FA-CFB80923179A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8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8464A60B-F0AC-5F17-B39C-0115976783A7}"/>
              </a:ext>
            </a:extLst>
          </p:cNvPr>
          <p:cNvSpPr/>
          <p:nvPr/>
        </p:nvSpPr>
        <p:spPr>
          <a:xfrm>
            <a:off x="6267775" y="3643472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舊的其中一個候選點保留，只建立一個新的候選點，每輪只需重新計算一次目標函數</a:t>
            </a:r>
            <a:endParaRPr lang="en-US" altLang="zh-TW" sz="140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3D654CA-8470-B5C7-6C12-D0DA8B5769AF}"/>
              </a:ext>
            </a:extLst>
          </p:cNvPr>
          <p:cNvGrpSpPr/>
          <p:nvPr/>
        </p:nvGrpSpPr>
        <p:grpSpPr>
          <a:xfrm>
            <a:off x="6077540" y="4271445"/>
            <a:ext cx="4591905" cy="283545"/>
            <a:chOff x="216088" y="3940509"/>
            <a:chExt cx="4591905" cy="283545"/>
          </a:xfrm>
        </p:grpSpPr>
        <p:sp>
          <p:nvSpPr>
            <p:cNvPr id="56" name="矩形: 圓角 55">
              <a:extLst>
                <a:ext uri="{FF2B5EF4-FFF2-40B4-BE49-F238E27FC236}">
                  <a16:creationId xmlns:a16="http://schemas.microsoft.com/office/drawing/2014/main" id="{B7A6A5D8-C80D-D975-44A6-38966265FB8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停止條件</a:t>
              </a:r>
            </a:p>
          </p:txBody>
        </p:sp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C4711B10-9D0C-2AA0-81ED-CFC5FD56BFF2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9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F36EE684-A84D-A123-BD31-50B9C86E5E97}"/>
              </a:ext>
            </a:extLst>
          </p:cNvPr>
          <p:cNvSpPr/>
          <p:nvPr/>
        </p:nvSpPr>
        <p:spPr>
          <a:xfrm>
            <a:off x="6267775" y="4638031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BCACE2C9-8802-1C01-03CF-5028059EFEC7}"/>
              </a:ext>
            </a:extLst>
          </p:cNvPr>
          <p:cNvGrpSpPr/>
          <p:nvPr/>
        </p:nvGrpSpPr>
        <p:grpSpPr>
          <a:xfrm>
            <a:off x="6077540" y="5282115"/>
            <a:ext cx="4591905" cy="283545"/>
            <a:chOff x="216088" y="3940509"/>
            <a:chExt cx="4591905" cy="283545"/>
          </a:xfrm>
        </p:grpSpPr>
        <p:sp>
          <p:nvSpPr>
            <p:cNvPr id="60" name="矩形: 圓角 59">
              <a:extLst>
                <a:ext uri="{FF2B5EF4-FFF2-40B4-BE49-F238E27FC236}">
                  <a16:creationId xmlns:a16="http://schemas.microsoft.com/office/drawing/2014/main" id="{ADABE15F-1C78-DC16-5CEC-C42DA403D8EA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回傳最佳帶寬</a:t>
              </a:r>
            </a:p>
          </p:txBody>
        </p:sp>
        <p:sp>
          <p:nvSpPr>
            <p:cNvPr id="61" name="橢圓 60">
              <a:extLst>
                <a:ext uri="{FF2B5EF4-FFF2-40B4-BE49-F238E27FC236}">
                  <a16:creationId xmlns:a16="http://schemas.microsoft.com/office/drawing/2014/main" id="{A1BAEB25-445E-0512-F67D-15C211FA57F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2652B662-2519-5DF3-14E3-EE8EB2617652}"/>
              </a:ext>
            </a:extLst>
          </p:cNvPr>
          <p:cNvSpPr txBox="1"/>
          <p:nvPr/>
        </p:nvSpPr>
        <p:spPr>
          <a:xfrm>
            <a:off x="5996164" y="5280855"/>
            <a:ext cx="413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zh-TW" altLang="en-US" sz="1400" b="1" dirty="0">
              <a:solidFill>
                <a:schemeClr val="bg1"/>
              </a:solidFill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66" name="圖片 65" descr="\documentclass{article}&#10;\usepackage{amsmath}&#10;\pagestyle{empty}&#10;\begin{document}&#10;&#10;\[\left[x_L,x_U\right]\]&#10;&#10;&#10;\end{document}" title="IguanaTex Picture Display">
            <a:extLst>
              <a:ext uri="{FF2B5EF4-FFF2-40B4-BE49-F238E27FC236}">
                <a16:creationId xmlns:a16="http://schemas.microsoft.com/office/drawing/2014/main" id="{38031E27-B6D9-0865-D265-94D3956B4C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184" y="1808136"/>
            <a:ext cx="804571" cy="254476"/>
          </a:xfrm>
          <a:prstGeom prst="rect">
            <a:avLst/>
          </a:prstGeom>
        </p:spPr>
      </p:pic>
      <p:pic>
        <p:nvPicPr>
          <p:cNvPr id="70" name="圖片 69" descr="\documentclass{article}&#10;\usepackage{amsmath}&#10;\pagestyle{empty}&#10;\begin{document}&#10;&#10;\[R = \frac{\sqrt{5}-1}{2}\approx0.618\]&#10;&#10;&#10;\end{document}" title="IguanaTex Picture Display">
            <a:extLst>
              <a:ext uri="{FF2B5EF4-FFF2-40B4-BE49-F238E27FC236}">
                <a16:creationId xmlns:a16="http://schemas.microsoft.com/office/drawing/2014/main" id="{86445913-FA71-1F92-61A2-DB0DAF5B556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155" y="2706590"/>
            <a:ext cx="1806628" cy="451048"/>
          </a:xfrm>
          <a:prstGeom prst="rect">
            <a:avLst/>
          </a:prstGeom>
        </p:spPr>
      </p:pic>
      <p:pic>
        <p:nvPicPr>
          <p:cNvPr id="76" name="圖片 75" descr="\documentclass{article}&#10;\usepackage{amsmath}&#10;\pagestyle{empty}&#10;\begin{document}&#10;&#10;\[d = R \times (X_U-X_L)\]&#10;&#10;&#10;\end{document}" title="IguanaTex Picture Display">
            <a:extLst>
              <a:ext uri="{FF2B5EF4-FFF2-40B4-BE49-F238E27FC236}">
                <a16:creationId xmlns:a16="http://schemas.microsoft.com/office/drawing/2014/main" id="{72D74FDC-B18B-2F59-E4FF-F981A0D2C15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021" y="3852819"/>
            <a:ext cx="1746895" cy="203581"/>
          </a:xfrm>
          <a:prstGeom prst="rect">
            <a:avLst/>
          </a:prstGeom>
        </p:spPr>
      </p:pic>
      <p:pic>
        <p:nvPicPr>
          <p:cNvPr id="80" name="圖片 79" descr="\documentclass{article}&#10;\usepackage{amsmath}&#10;\pagestyle{empty}&#10;\begin{document}&#10;&#10;\[x_1=x_L+d,\quad x_2=x_U-d\]&#10;&#10;&#10;\end{document}" title="IguanaTex Picture Display">
            <a:extLst>
              <a:ext uri="{FF2B5EF4-FFF2-40B4-BE49-F238E27FC236}">
                <a16:creationId xmlns:a16="http://schemas.microsoft.com/office/drawing/2014/main" id="{17662320-B556-F155-0941-A8E9F3FA6D81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468" y="4687776"/>
            <a:ext cx="2432000" cy="179200"/>
          </a:xfrm>
          <a:prstGeom prst="rect">
            <a:avLst/>
          </a:prstGeom>
        </p:spPr>
      </p:pic>
      <p:pic>
        <p:nvPicPr>
          <p:cNvPr id="83" name="圖片 82" descr="\documentclass{article}&#10;\usepackage{amsmath}&#10;\pagestyle{empty}&#10;\begin{document}&#10;&#10;\[x_1=round(x_1),\quad x_2=round(x_2)\]&#10;&#10;&#10;\end{document}" title="IguanaTex Picture Display">
            <a:extLst>
              <a:ext uri="{FF2B5EF4-FFF2-40B4-BE49-F238E27FC236}">
                <a16:creationId xmlns:a16="http://schemas.microsoft.com/office/drawing/2014/main" id="{1F047C7F-1613-7331-FD4D-0EDB9D5F369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817" y="4931994"/>
            <a:ext cx="3022019" cy="20358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2637EF21-7491-66CA-AF7C-74FBA9E1E7F3}"/>
              </a:ext>
            </a:extLst>
          </p:cNvPr>
          <p:cNvSpPr txBox="1"/>
          <p:nvPr/>
        </p:nvSpPr>
        <p:spPr>
          <a:xfrm>
            <a:off x="1646878" y="4866976"/>
            <a:ext cx="1136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Adaptive:</a:t>
            </a:r>
            <a:endParaRPr lang="zh-TW" altLang="en-US" sz="1600" dirty="0"/>
          </a:p>
        </p:txBody>
      </p:sp>
      <p:pic>
        <p:nvPicPr>
          <p:cNvPr id="92" name="圖片 91" descr="\documentclass{article}&#10;\usepackage{amsmath}&#10;\pagestyle{empty}&#10;\begin{document}&#10;\[f_1=f(x_1), f_2=f(x_2)\]&#10;&#10;&#10;&#10;&#10;\end{document}" title="IguanaTex Picture Display">
            <a:extLst>
              <a:ext uri="{FF2B5EF4-FFF2-40B4-BE49-F238E27FC236}">
                <a16:creationId xmlns:a16="http://schemas.microsoft.com/office/drawing/2014/main" id="{38D08A08-DE27-22D6-FCCF-ACE5F11375E2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659" y="5708987"/>
            <a:ext cx="1949257" cy="203581"/>
          </a:xfrm>
          <a:prstGeom prst="rect">
            <a:avLst/>
          </a:prstGeom>
        </p:spPr>
      </p:pic>
      <p:sp>
        <p:nvSpPr>
          <p:cNvPr id="93" name="文字方塊 92">
            <a:extLst>
              <a:ext uri="{FF2B5EF4-FFF2-40B4-BE49-F238E27FC236}">
                <a16:creationId xmlns:a16="http://schemas.microsoft.com/office/drawing/2014/main" id="{76E0C906-BD4A-2121-3611-E87F929563F8}"/>
              </a:ext>
            </a:extLst>
          </p:cNvPr>
          <p:cNvSpPr txBox="1"/>
          <p:nvPr/>
        </p:nvSpPr>
        <p:spPr>
          <a:xfrm>
            <a:off x="2833756" y="5907735"/>
            <a:ext cx="15030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f: </a:t>
            </a:r>
            <a:r>
              <a:rPr lang="en-US" altLang="zh-TW" sz="16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or CV</a:t>
            </a:r>
            <a:endParaRPr lang="zh-TW" altLang="en-US" sz="1600" dirty="0"/>
          </a:p>
        </p:txBody>
      </p:sp>
      <p:pic>
        <p:nvPicPr>
          <p:cNvPr id="97" name="圖片 96" descr="\documentclass{article}&#10;\usepackage{amsmath}&#10;\pagestyle{empty}&#10;\begin{document}&#10;&#10;\[f_1&lt;f_2\]&#10;&#10;&#10;\end{document}" title="IguanaTex Picture Display">
            <a:extLst>
              <a:ext uri="{FF2B5EF4-FFF2-40B4-BE49-F238E27FC236}">
                <a16:creationId xmlns:a16="http://schemas.microsoft.com/office/drawing/2014/main" id="{B261F793-55C3-94C7-4400-C02588408932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5124" y="1721226"/>
            <a:ext cx="620495" cy="184076"/>
          </a:xfrm>
          <a:prstGeom prst="rect">
            <a:avLst/>
          </a:prstGeom>
        </p:spPr>
      </p:pic>
      <p:pic>
        <p:nvPicPr>
          <p:cNvPr id="101" name="圖片 100" descr="\documentclass{article}&#10;\usepackage{amsmath}&#10;\pagestyle{empty}&#10;\begin{document}&#10;&#10;\[f_1\geq f_2\]&#10;&#10;&#10;\end{document}" title="IguanaTex Picture Display">
            <a:extLst>
              <a:ext uri="{FF2B5EF4-FFF2-40B4-BE49-F238E27FC236}">
                <a16:creationId xmlns:a16="http://schemas.microsoft.com/office/drawing/2014/main" id="{A3080631-8E4C-1919-F75B-D81F46618363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5124" y="1943143"/>
            <a:ext cx="620495" cy="184076"/>
          </a:xfrm>
          <a:prstGeom prst="rect">
            <a:avLst/>
          </a:prstGeom>
        </p:spPr>
      </p:pic>
      <p:pic>
        <p:nvPicPr>
          <p:cNvPr id="106" name="圖片 105" descr="\documentclass{article}&#10;\usepackage{amsmath}&#10;\pagestyle{empty}&#10;\begin{document}&#10;&#10;\[d = R \times d\]&#10;&#10;&#10;\end{document}" title="IguanaTex Picture Display">
            <a:extLst>
              <a:ext uri="{FF2B5EF4-FFF2-40B4-BE49-F238E27FC236}">
                <a16:creationId xmlns:a16="http://schemas.microsoft.com/office/drawing/2014/main" id="{217C33DA-FBCA-2B3E-93B6-0EE2599A8743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0972" y="2847339"/>
            <a:ext cx="875276" cy="145067"/>
          </a:xfrm>
          <a:prstGeom prst="rect">
            <a:avLst/>
          </a:prstGeom>
        </p:spPr>
      </p:pic>
      <p:pic>
        <p:nvPicPr>
          <p:cNvPr id="115" name="圖片 114" descr="\documentclass{article}&#10;\usepackage{amsmath}&#10;\pagestyle{empty}&#10;\begin{document}&#10;&#10;\[|d|\leq\epsilon \;or\; |f_2-f_1|\leq\epsilon,\quad where\;\epsilon = 10^{-4}\]&#10;&#10;&#10;\end{document}" title="IguanaTex Picture Display">
            <a:extLst>
              <a:ext uri="{FF2B5EF4-FFF2-40B4-BE49-F238E27FC236}">
                <a16:creationId xmlns:a16="http://schemas.microsoft.com/office/drawing/2014/main" id="{39F5DBF1-96D1-1598-B333-9595FA8D4C85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857" y="4793471"/>
            <a:ext cx="3603505" cy="230400"/>
          </a:xfrm>
          <a:prstGeom prst="rect">
            <a:avLst/>
          </a:prstGeom>
        </p:spPr>
      </p:pic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B37EA365-8D96-229E-EF87-0B91A38DE9AE}"/>
              </a:ext>
            </a:extLst>
          </p:cNvPr>
          <p:cNvSpPr/>
          <p:nvPr/>
        </p:nvSpPr>
        <p:spPr>
          <a:xfrm>
            <a:off x="6265268" y="5639084"/>
            <a:ext cx="4401670" cy="537302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pic>
        <p:nvPicPr>
          <p:cNvPr id="122" name="圖片 121" descr="\documentclass{article}&#10;\usepackage{amsmath}&#10;\pagestyle{empty}&#10;\begin{document}&#10;&#10;\[&#10;bw=&#10;\begin{cases}&#10;x_1, &amp; f_1&lt;f_2 \\&#10;x_2, &amp; f_2\leq f_1&#10;\end{cases}&#10;\]&#10;&#10;&#10;\end{document}" title="IguanaTex Picture Display">
            <a:extLst>
              <a:ext uri="{FF2B5EF4-FFF2-40B4-BE49-F238E27FC236}">
                <a16:creationId xmlns:a16="http://schemas.microsoft.com/office/drawing/2014/main" id="{41D117D4-9641-D34C-D95E-E5031BE34A06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085" y="5643000"/>
            <a:ext cx="1537067" cy="53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666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C835-33EC-EB6D-B832-0E2EDF3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023C3F7-DE80-16C9-4046-D66FD2D25767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DA2AE-0FF9-B707-897B-B6EF7F1E172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1CF5581-1609-E126-CFBC-0C62E000CD52}"/>
              </a:ext>
            </a:extLst>
          </p:cNvPr>
          <p:cNvSpPr txBox="1"/>
          <p:nvPr/>
        </p:nvSpPr>
        <p:spPr>
          <a:xfrm>
            <a:off x="2790426" y="974488"/>
            <a:ext cx="66111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32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3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gold() </a:t>
            </a:r>
            <a:r>
              <a:rPr lang="zh-TW" altLang="en-US" sz="32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缺點</a:t>
            </a:r>
            <a:endParaRPr lang="zh-TW" altLang="en-US" sz="3200" b="1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787094F-244C-1E1F-9DD3-87CDE6D75D3A}"/>
              </a:ext>
            </a:extLst>
          </p:cNvPr>
          <p:cNvSpPr/>
          <p:nvPr/>
        </p:nvSpPr>
        <p:spPr>
          <a:xfrm>
            <a:off x="502669" y="2263182"/>
            <a:ext cx="5700907" cy="666750"/>
          </a:xfrm>
          <a:prstGeom prst="roundRect">
            <a:avLst>
              <a:gd name="adj" fmla="val 11159"/>
            </a:avLst>
          </a:prstGeom>
          <a:solidFill>
            <a:schemeClr val="bg1"/>
          </a:solidFill>
          <a:ln w="3175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</a:p>
        </p:txBody>
      </p:sp>
      <p:pic>
        <p:nvPicPr>
          <p:cNvPr id="62" name="圖片 61" descr="\documentclass{article}&#10;\usepackage{amsmath}&#10;\pagestyle{empty}&#10;\begin{document}&#10;&#10;\[|d|\leq\epsilon \;or\; |f_2-f_1|\leq\epsilon,\quad where\;\epsilon = 10^{-4}\]&#10;&#10;&#10;\end{document}" title="IguanaTex Picture Display">
            <a:extLst>
              <a:ext uri="{FF2B5EF4-FFF2-40B4-BE49-F238E27FC236}">
                <a16:creationId xmlns:a16="http://schemas.microsoft.com/office/drawing/2014/main" id="{74307C9B-7F3D-B4D1-F448-DEC934E5C3E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89" y="2401682"/>
            <a:ext cx="5405257" cy="345600"/>
          </a:xfrm>
          <a:prstGeom prst="rect">
            <a:avLst/>
          </a:prstGeom>
        </p:spPr>
      </p:pic>
      <p:sp>
        <p:nvSpPr>
          <p:cNvPr id="21" name="手繪多邊形: 圖案 20">
            <a:extLst>
              <a:ext uri="{FF2B5EF4-FFF2-40B4-BE49-F238E27FC236}">
                <a16:creationId xmlns:a16="http://schemas.microsoft.com/office/drawing/2014/main" id="{5A0D7654-3D25-180B-6F0D-1B90DFCABF84}"/>
              </a:ext>
            </a:extLst>
          </p:cNvPr>
          <p:cNvSpPr/>
          <p:nvPr/>
        </p:nvSpPr>
        <p:spPr>
          <a:xfrm>
            <a:off x="7676558" y="2106706"/>
            <a:ext cx="3872753" cy="2644588"/>
          </a:xfrm>
          <a:custGeom>
            <a:avLst/>
            <a:gdLst>
              <a:gd name="connsiteX0" fmla="*/ 0 w 3872753"/>
              <a:gd name="connsiteY0" fmla="*/ 0 h 2644588"/>
              <a:gd name="connsiteX1" fmla="*/ 1757083 w 3872753"/>
              <a:gd name="connsiteY1" fmla="*/ 2644588 h 2644588"/>
              <a:gd name="connsiteX2" fmla="*/ 3872753 w 3872753"/>
              <a:gd name="connsiteY2" fmla="*/ 8965 h 2644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2753" h="2644588">
                <a:moveTo>
                  <a:pt x="0" y="0"/>
                </a:moveTo>
                <a:cubicBezTo>
                  <a:pt x="555812" y="1321547"/>
                  <a:pt x="1111624" y="2643094"/>
                  <a:pt x="1757083" y="2644588"/>
                </a:cubicBezTo>
                <a:cubicBezTo>
                  <a:pt x="2402542" y="2646082"/>
                  <a:pt x="3538071" y="508000"/>
                  <a:pt x="3872753" y="8965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10D7F1C0-0344-127A-7E7D-39A3533284BD}"/>
              </a:ext>
            </a:extLst>
          </p:cNvPr>
          <p:cNvSpPr/>
          <p:nvPr/>
        </p:nvSpPr>
        <p:spPr>
          <a:xfrm>
            <a:off x="8671640" y="4192785"/>
            <a:ext cx="125506" cy="116541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211A57FF-6A70-6513-8B55-428A61443335}"/>
              </a:ext>
            </a:extLst>
          </p:cNvPr>
          <p:cNvSpPr/>
          <p:nvPr/>
        </p:nvSpPr>
        <p:spPr>
          <a:xfrm>
            <a:off x="10092547" y="4165889"/>
            <a:ext cx="125506" cy="116541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07B6E979-56F5-8298-B58F-A1E3C5A52B15}"/>
              </a:ext>
            </a:extLst>
          </p:cNvPr>
          <p:cNvSpPr txBox="1"/>
          <p:nvPr/>
        </p:nvSpPr>
        <p:spPr>
          <a:xfrm>
            <a:off x="8216681" y="4224159"/>
            <a:ext cx="580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x2</a:t>
            </a:r>
            <a:endParaRPr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5B137E7A-2255-0BBF-C91C-24A191E1DCF2}"/>
              </a:ext>
            </a:extLst>
          </p:cNvPr>
          <p:cNvSpPr txBox="1"/>
          <p:nvPr/>
        </p:nvSpPr>
        <p:spPr>
          <a:xfrm>
            <a:off x="10047722" y="4203504"/>
            <a:ext cx="580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x1</a:t>
            </a:r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4B2B0343-7709-ED29-B434-ADA4796C7F67}"/>
              </a:ext>
            </a:extLst>
          </p:cNvPr>
          <p:cNvSpPr txBox="1"/>
          <p:nvPr/>
        </p:nvSpPr>
        <p:spPr>
          <a:xfrm>
            <a:off x="395092" y="1801517"/>
            <a:ext cx="34827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停止條件</a:t>
            </a:r>
            <a:endParaRPr lang="zh-TW" altLang="en-US" sz="2400" b="1" dirty="0"/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A470C546-E6A1-2473-0182-7ADD27CA10AD}"/>
              </a:ext>
            </a:extLst>
          </p:cNvPr>
          <p:cNvCxnSpPr>
            <a:cxnSpLocks/>
          </p:cNvCxnSpPr>
          <p:nvPr/>
        </p:nvCxnSpPr>
        <p:spPr>
          <a:xfrm flipV="1">
            <a:off x="7756648" y="4494883"/>
            <a:ext cx="540123" cy="216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CB7C615-E28E-A554-1CA5-23522E372B44}"/>
              </a:ext>
            </a:extLst>
          </p:cNvPr>
          <p:cNvSpPr txBox="1"/>
          <p:nvPr/>
        </p:nvSpPr>
        <p:spPr>
          <a:xfrm>
            <a:off x="7409858" y="1928663"/>
            <a:ext cx="266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</a:t>
            </a:r>
            <a:endParaRPr lang="zh-TW" altLang="en-US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89BA066-D9B9-1EB6-F20C-236872D087ED}"/>
              </a:ext>
            </a:extLst>
          </p:cNvPr>
          <p:cNvSpPr txBox="1"/>
          <p:nvPr/>
        </p:nvSpPr>
        <p:spPr>
          <a:xfrm>
            <a:off x="5858963" y="4742190"/>
            <a:ext cx="28126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可能選不到真正的最小值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83372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0331-3D20-B767-532D-48AE6F3A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1D9D051-5DCB-5B07-48AC-BE6F35E01739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684BD86-E078-DF97-C4F2-E881F2B3C59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9" name="圖片 68">
            <a:extLst>
              <a:ext uri="{FF2B5EF4-FFF2-40B4-BE49-F238E27FC236}">
                <a16:creationId xmlns:a16="http://schemas.microsoft.com/office/drawing/2014/main" id="{F10FEC57-660A-A81F-06C6-BA4832996C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81" r="17374"/>
          <a:stretch>
            <a:fillRect/>
          </a:stretch>
        </p:blipFill>
        <p:spPr>
          <a:xfrm>
            <a:off x="5857551" y="666750"/>
            <a:ext cx="5697954" cy="6041204"/>
          </a:xfrm>
          <a:prstGeom prst="rect">
            <a:avLst/>
          </a:prstGeom>
        </p:spPr>
      </p:pic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67EF2F-F455-8F59-2CB7-5B429F7954A1}"/>
              </a:ext>
            </a:extLst>
          </p:cNvPr>
          <p:cNvSpPr txBox="1"/>
          <p:nvPr/>
        </p:nvSpPr>
        <p:spPr>
          <a:xfrm>
            <a:off x="116541" y="979557"/>
            <a:ext cx="6490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golden_search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(f, a, c, adaptive, error, </a:t>
            </a:r>
            <a:r>
              <a:rPr lang="en-US" altLang="zh-TW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max_iter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D29DC44C-9656-A915-6A1A-07A47AF92B98}"/>
              </a:ext>
            </a:extLst>
          </p:cNvPr>
          <p:cNvSpPr txBox="1"/>
          <p:nvPr/>
        </p:nvSpPr>
        <p:spPr>
          <a:xfrm>
            <a:off x="551330" y="2582614"/>
            <a:ext cx="487143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與套件 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gold()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主要差異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x1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調整至左側，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x2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調整至右側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若為可變帶寬，則先使用黃金分割搜尋演算法得到最後區間，再將最後區間內的整數使用暴力法找出最小值。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1699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96.25"/>
  <p:tag name="ORIGINALWIDTH" val=" 3482.565"/>
  <p:tag name="OUTPUTTYPE" val="PNG"/>
  <p:tag name="IGUANATEXVERSION" val="162"/>
  <p:tag name="LATEXADDIN" val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/>
  <p:tag name="IGUANATEXSIZE" val="20"/>
  <p:tag name="IGUANATEXCURSOR" val="21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62.955"/>
  <p:tag name="ORIGINALWIDTH" val=" 5749.531"/>
  <p:tag name="OUTPUTTYPE" val="PNG"/>
  <p:tag name="IGUANATEXVERSION" val="162"/>
  <p:tag name="LATEXADDIN" val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/>
  <p:tag name="IGUANATEXSIZE" val="18"/>
  <p:tag name="IGUANATEXCURSOR" val="52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3.116"/>
  <p:tag name="OUTPUTTYPE" val="PNG"/>
  <p:tag name="IGUANATEXVERSION" val="162"/>
  <p:tag name="LATEXADDIN" val="\documentclass{article}&#10;\usepackage{amsmath}&#10;\pagestyle{empty}&#10;&#10;\begin{document}&#10;&#10;\[&#10;\hat{\boldsymbol{\beta}}&#10;=&#10;\left(&#10;\mathbf{X}^{T}\mathbf{X}&#10;\right)^{-1}&#10;\mathbf{X}^{T}\mathbf{y}&#10;\]&#10;&#10;\end{document}"/>
  <p:tag name="IGUANATEXSIZE" val="18"/>
  <p:tag name="IGUANATEXCURSOR" val="20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57.855"/>
  <p:tag name="ORIGINALWIDTH" val=" 4848.894"/>
  <p:tag name="OUTPUTTYPE" val="PNG"/>
  <p:tag name="IGUANATEXVERSION" val="162"/>
  <p:tag name="LATEXADDIN" val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/>
  <p:tag name="IGUANATEXSIZE" val="20"/>
  <p:tag name="IGUANATEXCURSOR" val="13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76.603"/>
  <p:tag name="ORIGINALWIDTH" val=" 4849.644"/>
  <p:tag name="OUTPUTTYPE" val="PNG"/>
  <p:tag name="IGUANATEXVERSION" val="162"/>
  <p:tag name="LATEXADDIN" val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/>
  <p:tag name="IGUANATEXSIZE" val="20"/>
  <p:tag name="IGUANATEXCURSOR" val="10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9.2126"/>
  <p:tag name="ORIGINALWIDTH" val=" 1580.802"/>
  <p:tag name="OUTPUTTYPE" val="PNG"/>
  <p:tag name="IGUANATEXVERSION" val="162"/>
  <p:tag name="LATEXADDIN" val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/>
  <p:tag name="IGUANATEXSIZE" val="20"/>
  <p:tag name="IGUANATEXCURSOR" val="209"/>
  <p:tag name="TRANSPARENCY" val="True"/>
  <p:tag name="CHOOSECOLOR" val="False"/>
  <p:tag name="COLORHEX" val="000000"/>
  <p:tag name="LATEXENGINEID" val="0"/>
  <p:tag name="TEMPFOLDER" val="c:\temp\"/>
  <p:tag name="LATEXFORMHEIGHT" val=" 308.4"/>
  <p:tag name="LATEXFORMWIDTH" val=" 38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06.787"/>
  <p:tag name="ORIGINALWIDTH" val=" 5204.349"/>
  <p:tag name="OUTPUTTYPE" val="PNG"/>
  <p:tag name="IGUANATEXVERSION" val="162"/>
  <p:tag name="LATEXADDIN" val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/>
  <p:tag name="IGUANATEXSIZE" val="12"/>
  <p:tag name="IGUANATEXCURSOR" val="451"/>
  <p:tag name="TRANSPARENCY" val="True"/>
  <p:tag name="CHOOSECOLOR" val="False"/>
  <p:tag name="COLORHEX" val="000000"/>
  <p:tag name="LATEXENGINEID" val="0"/>
  <p:tag name="TEMPFOLDER" val="c:\temp\"/>
  <p:tag name="LATEXFORMHEIGHT" val=" 388.2"/>
  <p:tag name="LATEXFORMWIDTH" val=" 385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.7312"/>
  <p:tag name="ORIGINALWIDTH" val=" 753.6558"/>
  <p:tag name="OUTPUTTYPE" val="PNG"/>
  <p:tag name="IGUANATEXVERSION" val="162"/>
  <p:tag name="LATEXADDIN" val="\documentclass{article}&#10;\usepackage{amsmath}&#10;\pagestyle{empty}&#10;\begin{document}&#10;&#10;&#10;\[\hat{\beta}_{income}(u_i,v_i)\]&#10;&#10;\end{document}"/>
  <p:tag name="IGUANATEXSIZE" val="18"/>
  <p:tag name="IGUANATEXCURSOR" val="11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765.6542"/>
  <p:tag name="OUTPUTTYPE" val="PNG"/>
  <p:tag name="IGUANATEXVERSION" val="162"/>
  <p:tag name="LATEXADDIN" val="\documentclass{article}&#10;\usepackage{amsmath}&#10;\pagestyle{empty}&#10;\begin{document}&#10;&#10;&#10;\[s_{income}^{obs}=0.25\]&#10;&#10;\end{document}"/>
  <p:tag name="IGUANATEXSIZE" val="1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374.9532"/>
  <p:tag name="OUTPUTTYPE" val="PNG"/>
  <p:tag name="IGUANATEXVERSION" val="162"/>
  <p:tag name="LATEXADDIN" val="\documentclass{article}&#10;\usepackage{amsmath}&#10;\pagestyle{empty}&#10;\begin{document}&#10;&#10;&#10;\[s_{income}^{rand}\]&#10;&#10;\end{document}"/>
  <p:tag name="IGUANATEXSIZE" val="18"/>
  <p:tag name="IGUANATEXCURSOR" val="1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31.196"/>
  <p:tag name="ORIGINALWIDTH" val=" 3094.113"/>
  <p:tag name="OUTPUTTYPE" val="PNG"/>
  <p:tag name="IGUANATEXVERSION" val="162"/>
  <p:tag name="LATEXADDIN" val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/>
  <p:tag name="IGUANATEXSIZE" val="15"/>
  <p:tag name="IGUANATEXCURSOR" val="9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7.773"/>
  <p:tag name="ORIGINALWIDTH" val=" 3468.317"/>
  <p:tag name="OUTPUTTYPE" val="PNG"/>
  <p:tag name="IGUANATEXVERSION" val="162"/>
  <p:tag name="LATEXADDIN" val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/>
  <p:tag name="IGUANATEXSIZE" val="15"/>
  <p:tag name="IGUANATEXCURSOR" val="64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8.823"/>
  <p:tag name="ORIGINALWIDTH" val=" 2989.126"/>
  <p:tag name="OUTPUTTYPE" val="PNG"/>
  <p:tag name="IGUANATEXVERSION" val="162"/>
  <p:tag name="LATEXADDIN" val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/>
  <p:tag name="IGUANATEXSIZE" val="15"/>
  <p:tag name="IGUANATEXCURSOR" val="7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69.104"/>
  <p:tag name="ORIGINALWIDTH" val=" 2363.705"/>
  <p:tag name="OUTPUTTYPE" val="PNG"/>
  <p:tag name="IGUANATEXVERSION" val="162"/>
  <p:tag name="LATEXADDIN" val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/>
  <p:tag name="IGUANATEXSIZE" val="20"/>
  <p:tag name="IGUANATEXCURSOR" val="40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09.899"/>
  <p:tag name="ORIGINALWIDTH" val=" 3660.292"/>
  <p:tag name="OUTPUTTYPE" val="PNG"/>
  <p:tag name="IGUANATEXVERSION" val="162"/>
  <p:tag name="LATEXADDIN" val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/>
  <p:tag name="IGUANATEXSIZE" val="16"/>
  <p:tag name="IGUANATEXCURSOR" val="9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5.062"/>
  <p:tag name="ORIGINALWIDTH" val=" 2880.39"/>
  <p:tag name="OUTPUTTYPE" val="PNG"/>
  <p:tag name="IGUANATEXVERSION" val="162"/>
  <p:tag name="LATEXADDIN" val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/>
  <p:tag name="IGUANATEXSIZE" val="16"/>
  <p:tag name="IGUANATEXCURSOR" val="5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1^{*}(s)&#10;\]&#10;&#10;&#10;\end{document}"/>
  <p:tag name="IGUANATEXSIZE" val="20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2^{*}(s)&#10;\]&#10;&#10;&#10;\end{document}"/>
  <p:tag name="IGUANATEXSIZE" val="20"/>
  <p:tag name="IGUANATEXCURSOR" val="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20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20"/>
  <p:tag name="IGUANATEXCURSOR" val="9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5.48929"/>
  <p:tag name="ORIGINALWIDTH" val=" 1041.62"/>
  <p:tag name="OUTPUTTYPE" val="PNG"/>
  <p:tag name="IGUANATEXVERSION" val="162"/>
  <p:tag name="LATEXADDIN" val="\documentclass{article}&#10;\usepackage{amsmath}&#10;\pagestyle{empty}&#10;\begin{document}&#10;&#10;\[100\times 10\rightarrow100 \times 2\]&#10;&#10;&#10;\end{document}"/>
  <p:tag name="IGUANATEXSIZE" val="20"/>
  <p:tag name="IGUANATEXCURSOR" val="1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20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\[y(s_i)=\beta_1^*(s_i)x_1(s_i)+\beta_2^*(s_i)x_2(x)+\epsilon(s_i)\]&#10;&#10;&#10;\end{document}"/>
  <p:tag name="IGUANATEXSIZE" val="20"/>
  <p:tag name="IGUANATEXCURSOR" val="14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7.2179"/>
  <p:tag name="ORIGINALWIDTH" val=" 1026.622"/>
  <p:tag name="OUTPUTTYPE" val="PNG"/>
  <p:tag name="IGUANATEXVERSION" val="162"/>
  <p:tag name="LATEXADDIN" val="\documentclass{article}&#10;\usepackage{amsmath}&#10;\pagestyle{empty}&#10;\begin{document}&#10;&#10;&#10;\[w_j(s)=exp(-\frac{d_{sj}}{b})\]&#10;&#10;\end{document}"/>
  <p:tag name="IGUANATEXSIZE" val="20"/>
  <p:tag name="IGUANATEXCURSOR" val="11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145.4818"/>
  <p:tag name="OUTPUTTYPE" val="PNG"/>
  <p:tag name="IGUANATEXVERSION" val="162"/>
  <p:tag name="LATEXADDIN" val="\documentclass{article}&#10;\usepackage{amsmath}&#10;\pagestyle{empty}&#10;\begin{document}&#10;\[d_{sj}\]&#10;&#10;&#10;&#10;\end{document}"/>
  <p:tag name="IGUANATEXSIZE" val="20"/>
  <p:tag name="IGUANATEXCURSOR" val="8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4.24071"/>
  <p:tag name="ORIGINALWIDTH" val=" 83.23961"/>
  <p:tag name="OUTPUTTYPE" val="PNG"/>
  <p:tag name="IGUANATEXVERSION" val="162"/>
  <p:tag name="LATEXADDIN" val="\documentclass{article}&#10;\usepackage{amsmath}&#10;\pagestyle{empty}&#10;\begin{document}&#10;\[s_i\]&#10;&#10;&#10;&#10;\end{document}"/>
  <p:tag name="IGUANATEXSIZE" val="2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15.7105"/>
  <p:tag name="OUTPUTTYPE" val="PNG"/>
  <p:tag name="IGUANATEXVERSION" val="162"/>
  <p:tag name="LATEXADDIN" val="\documentclass{article}&#10;\usepackage{amsmath}&#10;\pagestyle{empty}&#10;\begin{document}&#10;&#10;\[\beta_k^*(s_i)\]&#10;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1400.075"/>
  <p:tag name="OUTPUTTYPE" val="PNG"/>
  <p:tag name="IGUANATEXVERSION" val="162"/>
  <p:tag name="LATEXADDIN" val="\documentclass{article}&#10;\usepackage{amsmath}&#10;\pagestyle{empty}&#10;\begin{document}&#10;&#10;\[I_{ikr}= \begin{cases}&#10;1,\beta_k^*(s_i)\in CI_{ikr}^{95\%}\\&#10;0, ow&#10;\end{cases}\]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59.2051"/>
  <p:tag name="ORIGINALWIDTH" val=" 1061.867"/>
  <p:tag name="OUTPUTTYPE" val="PNG"/>
  <p:tag name="IGUANATEXVERSION" val="162"/>
  <p:tag name="LATEXADDIN" val="\documentclass{article}&#10;\usepackage{amsmath}&#10;\pagestyle{empty}&#10;\begin{document}&#10;&#10;\[CP_{ik}=\frac{1}{200}\sum_{r=1}^{200}I_{ikr}\]&#10;&#10;&#10;\end{document}"/>
  <p:tag name="IGUANATEXSIZE" val="20"/>
  <p:tag name="IGUANATEXCURSOR" val="12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39.4075"/>
  <p:tag name="OUTPUTTYPE" val="PNG"/>
  <p:tag name="IGUANATEXVERSION" val="162"/>
  <p:tag name="LATEXADDIN" val="\documentclass{article}&#10;\usepackage{amsmath}&#10;\pagestyle{empty}&#10;\begin{document}&#10;\[MeanCP(\beta_k)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8.4439"/>
  <p:tag name="ORIGINALWIDTH" val=" 2387.701"/>
  <p:tag name="OUTPUTTYPE" val="PNG"/>
  <p:tag name="IGUANATEXVERSION" val="162"/>
  <p:tag name="LATEXADDIN" val="\documentclass{article}&#10;\usepackage{amsmath}&#10;\pagestyle{empty}&#10;\begin{document}&#10;&#10;\[RMSE_r=\sqrt{\frac{1}{200}\sum_{i=1}^{100}\sum_{k=1}^2[\hat{\beta}_{k,r}(s_i)-\beta_k^*(s_i)]^2}\]&#10;&#10;&#10;\end{document}"/>
  <p:tag name="IGUANATEXSIZE" val="20"/>
  <p:tag name="IGUANATEXCURSOR" val="17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1245.594"/>
  <p:tag name="OUTPUTTYPE" val="PNG"/>
  <p:tag name="IGUANATEXVERSION" val="162"/>
  <p:tag name="LATEXADDIN" val="\documentclass{article}&#10;\usepackage{amsmath}&#10;\pagestyle{empty}&#10;\begin{document}&#10;&#10;\[\overline{RMSE}=\frac{1}{200}RMSE_r\]&#10;&#10;&#10;\end{document}"/>
  <p:tag name="IGUANATEXSIZE" val="20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14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14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14"/>
  <p:tag name="IGUANATEXCURSOR" val="1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&#10;\[y(s_i)=\beta_1^*(s_i)x_1(s_i)+\beta_2^*(s_i)x_2(x)+\epsilon(s_i)\]&#10;&#10;\end{document}"/>
  <p:tag name="IGUANATEXSIZE" val="14"/>
  <p:tag name="IGUANATEXCURSOR" val="15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08.7364"/>
  <p:tag name="OUTPUTTYPE" val="PNG"/>
  <p:tag name="IGUANATEXVERSION" val="162"/>
  <p:tag name="LATEXADDIN" val="\documentclass{article}&#10;\usepackage{amsmath}&#10;\pagestyle{empty}&#10;\begin{document}&#10;&#10;\[\beta_1\]&#10;&#10;&#10;\end{document}"/>
  <p:tag name="IGUANATEXSIZE" val="14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11.7361"/>
  <p:tag name="OUTPUTTYPE" val="PNG"/>
  <p:tag name="IGUANATEXVERSION" val="162"/>
  <p:tag name="LATEXADDIN" val="\documentclass{article}&#10;\usepackage{amsmath}&#10;\pagestyle{empty}&#10;\begin{document}&#10;&#10;\[\beta_2\]&#10;&#10;&#10;\end{document}"/>
  <p:tag name="IGUANATEXSIZE" val="14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44.619"/>
  <p:tag name="ORIGINALWIDTH" val=" 3200.6"/>
  <p:tag name="OUTPUTTYPE" val="PNG"/>
  <p:tag name="IGUANATEXVERSION" val="162"/>
  <p:tag name="LATEXADDIN" val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/>
  <p:tag name="IGUANATEXSIZE" val="16"/>
  <p:tag name="IGUANATEXCURSOR" val="5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00.113"/>
  <p:tag name="ORIGINALWIDTH" val=" 3223.847"/>
  <p:tag name="OUTPUTTYPE" val="PNG"/>
  <p:tag name="IGUANATEXVERSION" val="162"/>
  <p:tag name="LATEXADDIN" val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/>
  <p:tag name="IGUANATEXSIZE" val="16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1.9835"/>
  <p:tag name="ORIGINALWIDTH" val=" 477.6903"/>
  <p:tag name="OUTPUTTYPE" val="PNG"/>
  <p:tag name="IGUANATEXVERSION" val="162"/>
  <p:tag name="LATEXADDIN" val="\documentclass{article}&#10;\usepackage{amsmath}&#10;\pagestyle{empty}&#10;\begin{document}&#10;&#10;\[f^\prime(b)=0\]&#10;&#10;\end{document}"/>
  <p:tag name="IGUANATEXSIZE" val="20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0.9449"/>
  <p:tag name="ORIGINALWIDTH" val=" 2954.631"/>
  <p:tag name="OUTPUTTYPE" val="PNG"/>
  <p:tag name="IGUANATEXVERSION" val="162"/>
  <p:tag name="LATEXADDIN" val="\documentclass{article}&#10;\usepackage{amsmath}&#10;\pagestyle{empty}&#10;\begin{document}&#10;&#10;\begin{align}&#10;f(x)&amp;\approx f(b)+\frac{1}{2}f^{\prime\prime}(b)(x-b)^2\\&#10;&amp;\Rightarrow f(x) - f(b) \propto (x-b)^2&#10;\end{align}&#10;&#10;&#10;\end{document}"/>
  <p:tag name="IGUANATEXSIZE" val="20"/>
  <p:tag name="IGUANATEXCURSOR" val="20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61.9423"/>
  <p:tag name="OUTPUTTYPE" val="PNG"/>
  <p:tag name="IGUANATEXVERSION" val="162"/>
  <p:tag name="LATEXADDIN" val="\documentclass{article}&#10;\usepackage{amsmath}&#10;\pagestyle{empty}&#10;\begin{document}&#10;&#10;\[\epsilon\sim10^{-7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508.4365"/>
  <p:tag name="OUTPUTTYPE" val="PNG"/>
  <p:tag name="IGUANATEXVERSION" val="162"/>
  <p:tag name="LATEXADDIN" val="\documentclass{article}&#10;\usepackage{amsmath}&#10;\pagestyle{empty}&#10;\begin{document}&#10;&#10;\[\epsilon\sim10^{-16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238.4702"/>
  <p:tag name="OUTPUTTYPE" val="PNG"/>
  <p:tag name="IGUANATEXVERSION" val="162"/>
  <p:tag name="LATEXADDIN" val="\documentclass{article}&#10;\usepackage{amsmath}&#10;\pagestyle{empty}&#10;\begin{document}&#10;\[10^{-4}\]&#10;&#10;&#10;&#10;\end{document}"/>
  <p:tag name="IGUANATEXSIZE" val="18"/>
  <p:tag name="IGUANATEXCURSOR" val="8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236.9704"/>
  <p:tag name="OUTPUTTYPE" val="PNG"/>
  <p:tag name="IGUANATEXVERSION" val="162"/>
  <p:tag name="LATEXADDIN" val="\documentclass{article}&#10;\usepackage{amsmath}&#10;\pagestyle{empty}&#10;\begin{document}&#10;\[10^{-8}\]&#10;&#10;&#10;&#10;\end{document}"/>
  <p:tag name="IGUANATEXSIZE" val="18"/>
  <p:tag name="IGUANATEXCURSOR" val="8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1.961"/>
  <p:tag name="ORIGINALWIDTH" val=" 3412.823"/>
  <p:tag name="OUTPUTTYPE" val="PNG"/>
  <p:tag name="IGUANATEXVERSION" val="162"/>
  <p:tag name="LATEXADDIN" val="\documentclass{article}&#10;\usepackage{amsmath}&#10;\pagestyle{empty}&#10;\begin{document}&#10;&#10;\begin{align}&#10;x_1=c-0.618034(c-a)=a+0.381966(c-a)\\&#10;x_2=a+0.618034(c-a)=c-0.381966(c-a)&#10;\end{align}&#10;&#10;&#10;\end{document}"/>
  <p:tag name="IGUANATEXSIZE" val="18"/>
  <p:tag name="IGUANATEXCURSOR" val="18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43.907"/>
  <p:tag name="OUTPUTTYPE" val="PNG"/>
  <p:tag name="IGUANATEXVERSION" val="162"/>
  <p:tag name="LATEXADDIN" val="\documentclass{article}&#10;\usepackage{amsmath}&#10;\pagestyle{empty}&#10;\begin{document}&#10;&#10;\[f(x_1)&lt;f(x_2)\]&#10;&#10;&#10;\end{document}"/>
  <p:tag name="IGUANATEXSIZE" val="18"/>
  <p:tag name="IGUANATEXCURSOR" val="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6.7154"/>
  <p:tag name="OUTPUTTYPE" val="PNG"/>
  <p:tag name="IGUANATEXVERSION" val="162"/>
  <p:tag name="LATEXADDIN" val="\documentclass{article}&#10;\usepackage{amsmath}&#10;\pagestyle{empty}&#10;\begin{document}&#10;\[[x_2,c]\]&#10;&#10;&#10;&#10;\end{document}"/>
  <p:tag name="IGUANATEXSIZE" val="18"/>
  <p:tag name="IGUANATEXCURSOR" val="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88.7139"/>
  <p:tag name="OUTPUTTYPE" val="PNG"/>
  <p:tag name="IGUANATEXVERSION" val="162"/>
  <p:tag name="LATEXADDIN" val="\documentclass{article}&#10;\usepackage{amsmath}&#10;\pagestyle{empty}&#10;\begin{document}&#10;&#10;\[[a,x_2]\]&#10;&#10;&#10;\end{document}"/>
  <p:tag name="IGUANATEXSIZE" val="18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43.907"/>
  <p:tag name="OUTPUTTYPE" val="PNG"/>
  <p:tag name="IGUANATEXVERSION" val="162"/>
  <p:tag name="LATEXADDIN" val="\documentclass{article}&#10;\usepackage{amsmath}&#10;\pagestyle{empty}&#10;\begin{document}&#10;&#10;\[f(x_1)&gt;f(x_2)\]&#10;&#10;&#10;\end{document}"/>
  <p:tag name="IGUANATEXSIZE" val="18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88.7139"/>
  <p:tag name="OUTPUTTYPE" val="PNG"/>
  <p:tag name="IGUANATEXVERSION" val="162"/>
  <p:tag name="LATEXADDIN" val="\documentclass{article}&#10;\usepackage{amsmath}&#10;\pagestyle{empty}&#10;\begin{document}&#10;\[[a,x_1]\]&#10;&#10;&#10;&#10;\end{document}"/>
  <p:tag name="IGUANATEXSIZE" val="18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6.7154"/>
  <p:tag name="OUTPUTTYPE" val="PNG"/>
  <p:tag name="IGUANATEXVERSION" val="162"/>
  <p:tag name="LATEXADDIN" val="\documentclass{article}&#10;\usepackage{amsmath}&#10;\pagestyle{empty}&#10;\begin{document}&#10;&#10;\[[x_1,c]\]&#10;&#10;&#10;\end{document}"/>
  <p:tag name="IGUANATEXSIZE" val="18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95.9505"/>
  <p:tag name="OUTPUTTYPE" val="PNG"/>
  <p:tag name="IGUANATEXVERSION" val="162"/>
  <p:tag name="LATEXADDIN" val="\documentclass{article}&#10;\usepackage{amsmath}&#10;\pagestyle{empty}&#10;\begin{document}&#10;&#10;\[\left[x_L,x_U\right]\]&#10;&#10;&#10;\end{document}"/>
  <p:tag name="IGUANATEXSIZE" val="20"/>
  <p:tag name="IGUANATEXCURSOR" val="10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77.4653"/>
  <p:tag name="ORIGINALWIDTH" val=" 1111.361"/>
  <p:tag name="OUTPUTTYPE" val="PNG"/>
  <p:tag name="IGUANATEXVERSION" val="162"/>
  <p:tag name="LATEXADDIN" val="\documentclass{article}&#10;\usepackage{amsmath}&#10;\pagestyle{empty}&#10;\begin{document}&#10;&#10;\[R = \frac{\sqrt{5}-1}{2}\approx0.618\]&#10;&#10;&#10;\end{document}"/>
  <p:tag name="IGUANATEXSIZE" val="16"/>
  <p:tag name="IGUANATEXCURSOR" val="1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074.616"/>
  <p:tag name="OUTPUTTYPE" val="PNG"/>
  <p:tag name="IGUANATEXVERSION" val="162"/>
  <p:tag name="LATEXADDIN" val="\documentclass{article}&#10;\usepackage{amsmath}&#10;\pagestyle{empty}&#10;\begin{document}&#10;&#10;\[d = R \times (X_U-X_L)\]&#10;&#10;&#10;\end{document}"/>
  <p:tag name="IGUANATEXSIZE" val="16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2362"/>
  <p:tag name="ORIGINALWIDTH" val=" 1496.063"/>
  <p:tag name="OUTPUTTYPE" val="PNG"/>
  <p:tag name="IGUANATEXVERSION" val="162"/>
  <p:tag name="LATEXADDIN" val="\documentclass{article}&#10;\usepackage{amsmath}&#10;\pagestyle{empty}&#10;\begin{document}&#10;&#10;\[x_1=x_L+d,\quad x_2=x_U-d\]&#10;&#10;&#10;\end{document}"/>
  <p:tag name="IGUANATEXSIZE" val="16"/>
  <p:tag name="IGUANATEXCURSOR" val="10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859.018"/>
  <p:tag name="OUTPUTTYPE" val="PNG"/>
  <p:tag name="IGUANATEXVERSION" val="162"/>
  <p:tag name="LATEXADDIN" val="\documentclass{article}&#10;\usepackage{amsmath}&#10;\pagestyle{empty}&#10;\begin{document}&#10;&#10;\[x_1=round(x_1),\quad x_2=round(x_2)\]&#10;&#10;&#10;\end{document}"/>
  <p:tag name="IGUANATEXSIZE" val="16"/>
  <p:tag name="IGUANATEXCURSOR" val="11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1199.1"/>
  <p:tag name="OUTPUTTYPE" val="PNG"/>
  <p:tag name="IGUANATEXVERSION" val="162"/>
  <p:tag name="LATEXADDIN" val="\documentclass{article}&#10;\usepackage{amsmath}&#10;\pagestyle{empty}&#10;\begin{document}&#10;\[f_1=f(x_1), f_2=f(x_2)\]&#10;&#10;&#10;&#10;&#10;\end{document}"/>
  <p:tag name="IGUANATEXSIZE" val="16"/>
  <p:tag name="IGUANATEXCURSOR" val="10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381.7023"/>
  <p:tag name="OUTPUTTYPE" val="PNG"/>
  <p:tag name="IGUANATEXVERSION" val="162"/>
  <p:tag name="LATEXADDIN" val="\documentclass{article}&#10;\usepackage{amsmath}&#10;\pagestyle{empty}&#10;\begin{document}&#10;&#10;\[f_1&lt;f_2\]&#10;&#10;&#10;\end{document}"/>
  <p:tag name="IGUANATEXSIZE" val="16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381.7023"/>
  <p:tag name="OUTPUTTYPE" val="PNG"/>
  <p:tag name="IGUANATEXVERSION" val="162"/>
  <p:tag name="LATEXADDIN" val="\documentclass{article}&#10;\usepackage{amsmath}&#10;\pagestyle{empty}&#10;\begin{document}&#10;&#10;\[f_1\geq f_2\]&#10;&#10;&#10;\end{document}"/>
  <p:tag name="IGUANATEXSIZE" val="16"/>
  <p:tag name="IGUANATEXCURSOR" val="9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9.23882"/>
  <p:tag name="ORIGINALWIDTH" val=" 538.4327"/>
  <p:tag name="OUTPUTTYPE" val="PNG"/>
  <p:tag name="IGUANATEXVERSION" val="162"/>
  <p:tag name="LATEXADDIN" val="\documentclass{article}&#10;\usepackage{amsmath}&#10;\pagestyle{empty}&#10;\begin{document}&#10;&#10;\[d = R \times d\]&#10;&#10;&#10;\end{document}"/>
  <p:tag name="IGUANATEXSIZE" val="16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.7323"/>
  <p:tag name="ORIGINALWIDTH" val=" 2216.723"/>
  <p:tag name="OUTPUTTYPE" val="PNG"/>
  <p:tag name="IGUANATEXVERSION" val="162"/>
  <p:tag name="LATEXADDIN" val="\documentclass{article}&#10;\usepackage{amsmath}&#10;\pagestyle{empty}&#10;\begin{document}&#10;&#10;\[|d|\leq\epsilon \;or\; |f_2-f_1|\leq\epsilon,\quad where\;\epsilon = 10^{-4}\]&#10;&#10;&#10;\end{document}"/>
  <p:tag name="IGUANATEXSIZE" val="16"/>
  <p:tag name="IGUANATEXCURSOR" val="14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1080.615"/>
  <p:tag name="OUTPUTTYPE" val="PNG"/>
  <p:tag name="IGUANATEXVERSION" val="162"/>
  <p:tag name="LATEXADDIN" val="\documentclass{article}&#10;\usepackage{amsmath}&#10;\pagestyle{empty}&#10;\begin{document}&#10;&#10;\[&#10;bw=&#10;\begin{cases}&#10;x_1, &amp; f_1&lt;f_2 \\&#10;x_2, &amp; f_2\leq f_1&#10;\end{cases}&#10;\]&#10;&#10;&#10;\end{document}"/>
  <p:tag name="IGUANATEXSIZE" val="14"/>
  <p:tag name="IGUANATEXCURSOR" val="8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.7323"/>
  <p:tag name="ORIGINALWIDTH" val=" 2216.723"/>
  <p:tag name="OUTPUTTYPE" val="PNG"/>
  <p:tag name="IGUANATEXVERSION" val="162"/>
  <p:tag name="LATEXADDIN" val="\documentclass{article}&#10;\usepackage{amsmath}&#10;\pagestyle{empty}&#10;\begin{document}&#10;&#10;\[|d|\leq\epsilon \;or\; |f_2-f_1|\leq\epsilon,\quad where\;\epsilon = 10^{-4}\]&#10;&#10;&#10;\end{document}"/>
  <p:tag name="IGUANATEXSIZE" val="24"/>
  <p:tag name="IGUANATEXCURSOR" val="14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5217</TotalTime>
  <Words>4391</Words>
  <Application>Microsoft Office PowerPoint</Application>
  <PresentationFormat>寬螢幕</PresentationFormat>
  <Paragraphs>805</Paragraphs>
  <Slides>58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8" baseType="lpstr">
      <vt:lpstr>微軟正黑體</vt:lpstr>
      <vt:lpstr>標楷體</vt:lpstr>
      <vt:lpstr>Arial</vt:lpstr>
      <vt:lpstr>Calibri</vt:lpstr>
      <vt:lpstr>Calibri Light</vt:lpstr>
      <vt:lpstr>Cambria Math</vt:lpstr>
      <vt:lpstr>CMU Serif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53</cp:revision>
  <dcterms:created xsi:type="dcterms:W3CDTF">2026-02-06T08:38:10Z</dcterms:created>
  <dcterms:modified xsi:type="dcterms:W3CDTF">2026-07-30T15:24:36Z</dcterms:modified>
</cp:coreProperties>
</file>