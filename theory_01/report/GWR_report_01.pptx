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2" r:id="rId3"/>
    <p:sldId id="277" r:id="rId4"/>
    <p:sldId id="259" r:id="rId5"/>
    <p:sldId id="258" r:id="rId6"/>
    <p:sldId id="278" r:id="rId7"/>
    <p:sldId id="280" r:id="rId8"/>
    <p:sldId id="279" r:id="rId9"/>
    <p:sldId id="260" r:id="rId10"/>
    <p:sldId id="281" r:id="rId11"/>
    <p:sldId id="282" r:id="rId12"/>
    <p:sldId id="283" r:id="rId13"/>
    <p:sldId id="284" r:id="rId14"/>
    <p:sldId id="285" r:id="rId15"/>
    <p:sldId id="286" r:id="rId16"/>
    <p:sldId id="298" r:id="rId17"/>
    <p:sldId id="300" r:id="rId18"/>
    <p:sldId id="299" r:id="rId19"/>
    <p:sldId id="301" r:id="rId20"/>
    <p:sldId id="302" r:id="rId21"/>
    <p:sldId id="304" r:id="rId22"/>
    <p:sldId id="323" r:id="rId23"/>
    <p:sldId id="308" r:id="rId24"/>
    <p:sldId id="309" r:id="rId25"/>
    <p:sldId id="310" r:id="rId26"/>
    <p:sldId id="324" r:id="rId27"/>
    <p:sldId id="326" r:id="rId28"/>
    <p:sldId id="287" r:id="rId29"/>
    <p:sldId id="289" r:id="rId30"/>
    <p:sldId id="294" r:id="rId31"/>
    <p:sldId id="291" r:id="rId32"/>
    <p:sldId id="292" r:id="rId33"/>
    <p:sldId id="293" r:id="rId34"/>
    <p:sldId id="295" r:id="rId35"/>
    <p:sldId id="296" r:id="rId36"/>
    <p:sldId id="297" r:id="rId37"/>
    <p:sldId id="303" r:id="rId38"/>
    <p:sldId id="306" r:id="rId39"/>
    <p:sldId id="307" r:id="rId40"/>
    <p:sldId id="311" r:id="rId41"/>
    <p:sldId id="325" r:id="rId42"/>
    <p:sldId id="314" r:id="rId43"/>
    <p:sldId id="316" r:id="rId44"/>
    <p:sldId id="317" r:id="rId45"/>
    <p:sldId id="318" r:id="rId46"/>
    <p:sldId id="319" r:id="rId47"/>
    <p:sldId id="320" r:id="rId48"/>
    <p:sldId id="321" r:id="rId49"/>
    <p:sldId id="313" r:id="rId50"/>
    <p:sldId id="322" r:id="rId51"/>
    <p:sldId id="332" r:id="rId52"/>
    <p:sldId id="333" r:id="rId53"/>
    <p:sldId id="340" r:id="rId54"/>
    <p:sldId id="334" r:id="rId55"/>
    <p:sldId id="335" r:id="rId56"/>
    <p:sldId id="336" r:id="rId57"/>
    <p:sldId id="337" r:id="rId58"/>
    <p:sldId id="339" r:id="rId5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7B41"/>
    <a:srgbClr val="F3F3FB"/>
    <a:srgbClr val="BEBEEC"/>
    <a:srgbClr val="333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712" autoAdjust="0"/>
    <p:restoredTop sz="95184" autoAdjust="0"/>
  </p:normalViewPr>
  <p:slideViewPr>
    <p:cSldViewPr snapToGrid="0">
      <p:cViewPr>
        <p:scale>
          <a:sx n="75" d="100"/>
          <a:sy n="75" d="100"/>
        </p:scale>
        <p:origin x="850" y="27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F26E95-540F-6A67-2877-0B9F1739A1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E222F1A-E08D-4C1C-F8CA-591F19036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A33349-2780-F1DE-877F-03BB6D254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33BD3D-261A-8ADE-B11E-72D37ECA3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32AB320-4EDA-25CB-56AE-BB31BF25B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464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211F6C-5C17-1FAE-B4E3-E078E78AA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C5557E4-CB46-CF64-B8BD-153F54443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8F61226-E078-333C-E7D4-F1E6B76AB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BF9B423-FCD7-629C-5B4E-D590DE94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A077F8A-1E3F-21A0-942F-1A52A58C3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9845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33BD06-0FDE-D5B8-42EC-740BDEC1F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EF3DC64-B25B-03CD-28CA-4DFA199554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495616-066C-8740-8A65-9B3C26AA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2AC7D99-8BD0-C3B3-DE8E-A415DFDAD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DDF187-28A3-3851-C904-6813A969B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407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CD396B-EDFC-705C-2F3B-0407E0D0D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9E43B-0A44-2F0A-BB3C-2F9362E86C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DD443EE-530F-90D8-E2FC-6047B3E4D9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1822C6C-A13F-E709-543E-0F6F0A4B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673E542-CEFA-B78D-A2E6-E791F4878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19C2518-6C34-7810-FC0D-94B499325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0372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631AA3-5327-62F8-A4FA-4D2E1DBA7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CD321CC-70C6-7764-FC92-A16B905F7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B52C95A-F0C6-240C-44F8-18A813DC8B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361842E-E182-8B6A-A89F-AA7A1407AD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23E197F-E0DE-4E3E-E23F-066BC4C753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AD0CD9D-2133-3947-AF69-2A49C9883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22621C-59F0-CFC9-82CA-A6D337D35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5897ABC-D3BD-AFEE-5799-C1510A3E3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0255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BFC434-0D3F-DF78-0169-736564664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0166A15-E36D-5637-8DF7-ED416E5DE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2FF5426-2361-3F3C-B14D-24D9409B4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47CD0D9-DAD0-0200-9B7E-E84CDD2A5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6814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CAFBC21-3231-1C39-FC11-926EC4FFF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B812E6B-3661-7435-7A81-77B00A8F3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DA3FD86-F33B-517B-74EC-4E9E53050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3512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A3171F-75F0-A63D-7DD5-152E5D932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F656AC8-8BD4-A46D-12D6-BFC5D0C1F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D8B0F5A-DBC7-3B30-F76C-9AF6959B43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88E2D67-0C57-0687-61AC-ABABE020F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764CB42-89CF-7935-3998-59BA63755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E4B7B5-0C46-FB95-287C-3A6E5D79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4034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243C97-1E6B-A362-92C1-4C0B4C2AF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C7D2458-AC1B-0BC9-3ADE-FF671642A3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69E334D-C736-FDB6-CF05-DB7CCFDCB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F5891D9-135E-7EC7-19AA-CEA9F2628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4DF7F3F-8EC0-C5C8-B762-A75C9D763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2F98B1D-F893-263B-ACAB-84A2DA72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375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476F06-C35A-2407-A105-46583C142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0C96A1-2F64-5CAD-3C0E-C4B722B89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D5715E-594B-DE9D-2B2F-707EBE3DF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883F906-E7C7-F692-C39A-49A3309E8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1B1C4B-E16F-A8C4-9455-72D4E9F05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7646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81CB110-D20D-EE44-8F17-2AD6EF1DD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E98B36C-525B-40FB-0616-E10ED90A2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2FE02B-6573-2A34-C181-0CA2B46A1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B56AFA2-0EE0-A258-77F9-61D82A9F4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D799FB-2AA0-1A14-8FDC-4E41F161A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9742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3AA68FDE-F45F-5C35-0D4F-54B089D9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EFFE46C-AEA8-5791-8702-D8303FC8FB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21DB7A-A06C-9A02-569E-D551F1C5EA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A45493-35B4-4159-803A-59E339B62678}" type="datetimeFigureOut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D77FC9B-F999-EC99-2D8A-E7BF423239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C2D60D-376B-EBF4-5696-54F1EAD84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4959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2.wdp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4.wdp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9.png"/><Relationship Id="rId5" Type="http://schemas.microsoft.com/office/2007/relationships/hdphoto" Target="../media/hdphoto3.wdp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6.wdp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11.png"/><Relationship Id="rId5" Type="http://schemas.microsoft.com/office/2007/relationships/hdphoto" Target="../media/hdphoto5.wdp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8.wdp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image" Target="../media/image13.png"/><Relationship Id="rId5" Type="http://schemas.microsoft.com/office/2007/relationships/hdphoto" Target="../media/hdphoto7.wdp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microsoft.com/office/2007/relationships/hdphoto" Target="../media/hdphoto12.wdp"/><Relationship Id="rId3" Type="http://schemas.openxmlformats.org/officeDocument/2006/relationships/tags" Target="../tags/tag15.xml"/><Relationship Id="rId7" Type="http://schemas.microsoft.com/office/2007/relationships/hdphoto" Target="../media/hdphoto9.wdp"/><Relationship Id="rId12" Type="http://schemas.openxmlformats.org/officeDocument/2006/relationships/image" Target="../media/image17.png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image" Target="../media/image14.png"/><Relationship Id="rId11" Type="http://schemas.microsoft.com/office/2007/relationships/hdphoto" Target="../media/hdphoto11.wdp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16.png"/><Relationship Id="rId4" Type="http://schemas.openxmlformats.org/officeDocument/2006/relationships/tags" Target="../tags/tag16.xml"/><Relationship Id="rId9" Type="http://schemas.microsoft.com/office/2007/relationships/hdphoto" Target="../media/hdphoto10.wdp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7" Type="http://schemas.openxmlformats.org/officeDocument/2006/relationships/image" Target="../media/image26.png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tags" Target="../tags/tag23.xml"/><Relationship Id="rId7" Type="http://schemas.openxmlformats.org/officeDocument/2006/relationships/image" Target="../media/image29.png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image" Target="../media/image28.png"/><Relationship Id="rId5" Type="http://schemas.openxmlformats.org/officeDocument/2006/relationships/image" Target="../media/image280.png"/><Relationship Id="rId4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tags" Target="../tags/tag26.xml"/><Relationship Id="rId7" Type="http://schemas.openxmlformats.org/officeDocument/2006/relationships/image" Target="../media/image33.png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documentation.org/packages/graphics/versions/3.6.2/topics/image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tags" Target="../tags/tag33.xml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49.png"/><Relationship Id="rId5" Type="http://schemas.openxmlformats.org/officeDocument/2006/relationships/tags" Target="../tags/tag35.xml"/><Relationship Id="rId10" Type="http://schemas.openxmlformats.org/officeDocument/2006/relationships/image" Target="../media/image48.png"/><Relationship Id="rId4" Type="http://schemas.openxmlformats.org/officeDocument/2006/relationships/tags" Target="../tags/tag34.xml"/><Relationship Id="rId9" Type="http://schemas.openxmlformats.org/officeDocument/2006/relationships/image" Target="../media/image47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tags" Target="../tags/tag38.xml"/><Relationship Id="rId7" Type="http://schemas.openxmlformats.org/officeDocument/2006/relationships/image" Target="../media/image52.png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6" Type="http://schemas.openxmlformats.org/officeDocument/2006/relationships/image" Target="../media/image51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9.xml"/><Relationship Id="rId9" Type="http://schemas.openxmlformats.org/officeDocument/2006/relationships/image" Target="../media/image54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tags" Target="../tags/tag42.xml"/><Relationship Id="rId7" Type="http://schemas.openxmlformats.org/officeDocument/2006/relationships/image" Target="../media/image54.png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6" Type="http://schemas.openxmlformats.org/officeDocument/2006/relationships/image" Target="../media/image53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3.xml"/><Relationship Id="rId9" Type="http://schemas.openxmlformats.org/officeDocument/2006/relationships/image" Target="../media/image56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tags" Target="../tags/tag46.xml"/><Relationship Id="rId7" Type="http://schemas.openxmlformats.org/officeDocument/2006/relationships/image" Target="../media/image57.png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61.png"/><Relationship Id="rId5" Type="http://schemas.openxmlformats.org/officeDocument/2006/relationships/tags" Target="../tags/tag48.xml"/><Relationship Id="rId10" Type="http://schemas.openxmlformats.org/officeDocument/2006/relationships/image" Target="../media/image60.png"/><Relationship Id="rId4" Type="http://schemas.openxmlformats.org/officeDocument/2006/relationships/tags" Target="../tags/tag47.xml"/><Relationship Id="rId9" Type="http://schemas.openxmlformats.org/officeDocument/2006/relationships/image" Target="../media/image5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5.png"/><Relationship Id="rId3" Type="http://schemas.openxmlformats.org/officeDocument/2006/relationships/tags" Target="../tags/tag53.xml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51.png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11" Type="http://schemas.openxmlformats.org/officeDocument/2006/relationships/image" Target="../media/image52.png"/><Relationship Id="rId5" Type="http://schemas.openxmlformats.org/officeDocument/2006/relationships/tags" Target="../tags/tag55.xml"/><Relationship Id="rId10" Type="http://schemas.openxmlformats.org/officeDocument/2006/relationships/image" Target="../media/image49.png"/><Relationship Id="rId4" Type="http://schemas.openxmlformats.org/officeDocument/2006/relationships/tags" Target="../tags/tag54.xml"/><Relationship Id="rId9" Type="http://schemas.openxmlformats.org/officeDocument/2006/relationships/image" Target="../media/image48.png"/><Relationship Id="rId14" Type="http://schemas.openxmlformats.org/officeDocument/2006/relationships/image" Target="../media/image6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8.png"/><Relationship Id="rId3" Type="http://schemas.openxmlformats.org/officeDocument/2006/relationships/tags" Target="../tags/tag61.xml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77.png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tags" Target="../tags/tag64.xml"/><Relationship Id="rId11" Type="http://schemas.openxmlformats.org/officeDocument/2006/relationships/image" Target="../media/image76.png"/><Relationship Id="rId5" Type="http://schemas.openxmlformats.org/officeDocument/2006/relationships/tags" Target="../tags/tag63.xml"/><Relationship Id="rId10" Type="http://schemas.openxmlformats.org/officeDocument/2006/relationships/image" Target="../media/image75.png"/><Relationship Id="rId4" Type="http://schemas.openxmlformats.org/officeDocument/2006/relationships/tags" Target="../tags/tag62.xml"/><Relationship Id="rId9" Type="http://schemas.openxmlformats.org/officeDocument/2006/relationships/image" Target="../media/image74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image" Target="../media/image83.png"/><Relationship Id="rId3" Type="http://schemas.openxmlformats.org/officeDocument/2006/relationships/tags" Target="../tags/tag67.xml"/><Relationship Id="rId7" Type="http://schemas.openxmlformats.org/officeDocument/2006/relationships/tags" Target="../tags/tag71.xml"/><Relationship Id="rId12" Type="http://schemas.openxmlformats.org/officeDocument/2006/relationships/image" Target="../media/image82.png"/><Relationship Id="rId2" Type="http://schemas.openxmlformats.org/officeDocument/2006/relationships/tags" Target="../tags/tag66.xml"/><Relationship Id="rId1" Type="http://schemas.openxmlformats.org/officeDocument/2006/relationships/tags" Target="../tags/tag65.xml"/><Relationship Id="rId6" Type="http://schemas.openxmlformats.org/officeDocument/2006/relationships/tags" Target="../tags/tag70.xml"/><Relationship Id="rId11" Type="http://schemas.openxmlformats.org/officeDocument/2006/relationships/image" Target="../media/image81.png"/><Relationship Id="rId5" Type="http://schemas.openxmlformats.org/officeDocument/2006/relationships/tags" Target="../tags/tag69.xml"/><Relationship Id="rId15" Type="http://schemas.openxmlformats.org/officeDocument/2006/relationships/image" Target="../media/image85.png"/><Relationship Id="rId10" Type="http://schemas.openxmlformats.org/officeDocument/2006/relationships/image" Target="../media/image80.png"/><Relationship Id="rId4" Type="http://schemas.openxmlformats.org/officeDocument/2006/relationships/tags" Target="../tags/tag68.xml"/><Relationship Id="rId9" Type="http://schemas.openxmlformats.org/officeDocument/2006/relationships/image" Target="../media/image79.png"/><Relationship Id="rId14" Type="http://schemas.openxmlformats.org/officeDocument/2006/relationships/image" Target="../media/image84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tags" Target="../tags/tag79.xml"/><Relationship Id="rId13" Type="http://schemas.openxmlformats.org/officeDocument/2006/relationships/image" Target="../media/image86.png"/><Relationship Id="rId18" Type="http://schemas.openxmlformats.org/officeDocument/2006/relationships/image" Target="../media/image91.png"/><Relationship Id="rId3" Type="http://schemas.openxmlformats.org/officeDocument/2006/relationships/tags" Target="../tags/tag74.xml"/><Relationship Id="rId21" Type="http://schemas.openxmlformats.org/officeDocument/2006/relationships/image" Target="../media/image94.png"/><Relationship Id="rId7" Type="http://schemas.openxmlformats.org/officeDocument/2006/relationships/tags" Target="../tags/tag78.xml"/><Relationship Id="rId12" Type="http://schemas.openxmlformats.org/officeDocument/2006/relationships/slideLayout" Target="../slideLayouts/slideLayout2.xml"/><Relationship Id="rId17" Type="http://schemas.openxmlformats.org/officeDocument/2006/relationships/image" Target="../media/image90.png"/><Relationship Id="rId2" Type="http://schemas.openxmlformats.org/officeDocument/2006/relationships/tags" Target="../tags/tag73.xml"/><Relationship Id="rId16" Type="http://schemas.openxmlformats.org/officeDocument/2006/relationships/image" Target="../media/image89.png"/><Relationship Id="rId20" Type="http://schemas.openxmlformats.org/officeDocument/2006/relationships/image" Target="../media/image93.png"/><Relationship Id="rId1" Type="http://schemas.openxmlformats.org/officeDocument/2006/relationships/tags" Target="../tags/tag72.xml"/><Relationship Id="rId6" Type="http://schemas.openxmlformats.org/officeDocument/2006/relationships/tags" Target="../tags/tag77.xml"/><Relationship Id="rId11" Type="http://schemas.openxmlformats.org/officeDocument/2006/relationships/tags" Target="../tags/tag82.xml"/><Relationship Id="rId5" Type="http://schemas.openxmlformats.org/officeDocument/2006/relationships/tags" Target="../tags/tag76.xml"/><Relationship Id="rId15" Type="http://schemas.openxmlformats.org/officeDocument/2006/relationships/image" Target="../media/image88.png"/><Relationship Id="rId23" Type="http://schemas.openxmlformats.org/officeDocument/2006/relationships/image" Target="../media/image96.png"/><Relationship Id="rId10" Type="http://schemas.openxmlformats.org/officeDocument/2006/relationships/tags" Target="../tags/tag81.xml"/><Relationship Id="rId19" Type="http://schemas.openxmlformats.org/officeDocument/2006/relationships/image" Target="../media/image92.png"/><Relationship Id="rId4" Type="http://schemas.openxmlformats.org/officeDocument/2006/relationships/tags" Target="../tags/tag75.xml"/><Relationship Id="rId9" Type="http://schemas.openxmlformats.org/officeDocument/2006/relationships/tags" Target="../tags/tag80.xml"/><Relationship Id="rId14" Type="http://schemas.openxmlformats.org/officeDocument/2006/relationships/image" Target="../media/image87.png"/><Relationship Id="rId22" Type="http://schemas.openxmlformats.org/officeDocument/2006/relationships/image" Target="../media/image9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4.xml"/><Relationship Id="rId1" Type="http://schemas.openxmlformats.org/officeDocument/2006/relationships/tags" Target="../tags/tag83.xml"/><Relationship Id="rId5" Type="http://schemas.openxmlformats.org/officeDocument/2006/relationships/image" Target="../media/image97.png"/><Relationship Id="rId4" Type="http://schemas.openxmlformats.org/officeDocument/2006/relationships/image" Target="../media/image95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A215BB4B-36FE-3544-1992-EDFEB580BDFC}"/>
              </a:ext>
            </a:extLst>
          </p:cNvPr>
          <p:cNvSpPr txBox="1"/>
          <p:nvPr/>
        </p:nvSpPr>
        <p:spPr>
          <a:xfrm>
            <a:off x="632012" y="671792"/>
            <a:ext cx="1104003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Week 2 </a:t>
            </a:r>
            <a:r>
              <a:rPr lang="zh-TW" altLang="en-US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進度 </a:t>
            </a:r>
            <a:endParaRPr lang="en-US" altLang="zh-TW" b="1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PPT 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數學式修正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迴歸點修正為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159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個觀測點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完成套件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+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手刻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程式碼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與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比較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為何發展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方法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、</a:t>
            </a:r>
            <a:r>
              <a:rPr lang="en-US" altLang="zh-TW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公式推導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尋找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AI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 視覺化時使用的套件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(R basic image())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實作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Monte Carlo Permutation Test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Leung F3 test: Leung 2000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原論文、</a:t>
            </a:r>
            <a:r>
              <a:rPr lang="en-US" altLang="zh-TW" dirty="0" err="1">
                <a:latin typeface="CMU Serif" panose="02000603000000000000" pitchFamily="2" charset="0"/>
                <a:ea typeface="標楷體" panose="03000509000000000000" pitchFamily="65" charset="-120"/>
              </a:rPr>
              <a:t>GWmodel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套件、原文書參數比較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</a:rPr>
              <a:t>Week 3 </a:t>
            </a:r>
            <a:r>
              <a:rPr lang="zh-TW" altLang="en-US" b="1" dirty="0">
                <a:latin typeface="CMU Serif" panose="02000603000000000000" pitchFamily="2" charset="0"/>
                <a:ea typeface="標楷體" panose="03000509000000000000" pitchFamily="65" charset="-120"/>
              </a:rPr>
              <a:t>進度</a:t>
            </a:r>
            <a:endParaRPr lang="en-US" altLang="zh-TW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參考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Wheeler &amp; Calder (2007). J </a:t>
            </a:r>
            <a:r>
              <a:rPr lang="en-US" altLang="zh-TW" dirty="0" err="1">
                <a:latin typeface="CMU Serif" panose="02000603000000000000" pitchFamily="2" charset="0"/>
                <a:ea typeface="標楷體" panose="03000509000000000000" pitchFamily="65" charset="-120"/>
              </a:rPr>
              <a:t>Geogr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 Syst, 9(2), 145-166.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 中模擬實驗內容，建構網格並設置真實係數，實作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 模擬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模擬流程、程式碼設計、結果比較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補上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Monte Carlo Permutation Test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流程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補上信賴區間推導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</a:rPr>
              <a:t>Week 4 </a:t>
            </a:r>
            <a:r>
              <a:rPr lang="zh-TW" altLang="en-US" b="1" dirty="0">
                <a:latin typeface="CMU Serif" panose="02000603000000000000" pitchFamily="2" charset="0"/>
                <a:ea typeface="標楷體" panose="03000509000000000000" pitchFamily="65" charset="-120"/>
              </a:rPr>
              <a:t>預計進度</a:t>
            </a:r>
            <a:endParaRPr lang="en-US" altLang="zh-TW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學習黃金切割搜尋演算法、完成程式碼實作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BE03FDF-0205-5835-F8DE-290AAD717C52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B9B04A7-7D30-1C7E-DB85-275B0D301329}"/>
              </a:ext>
            </a:extLst>
          </p:cNvPr>
          <p:cNvSpPr txBox="1"/>
          <p:nvPr/>
        </p:nvSpPr>
        <p:spPr>
          <a:xfrm>
            <a:off x="7046259" y="6193393"/>
            <a:ext cx="51457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</a:rPr>
              <a:t>(</a:t>
            </a:r>
            <a:r>
              <a:rPr lang="zh-TW" altLang="en-US" b="1" dirty="0">
                <a:latin typeface="CMU Serif" panose="02000603000000000000" pitchFamily="2" charset="0"/>
                <a:ea typeface="標楷體" panose="03000509000000000000" pitchFamily="65" charset="-120"/>
              </a:rPr>
              <a:t>底部橘色表示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</a:rPr>
              <a:t> week 1</a:t>
            </a:r>
            <a:r>
              <a:rPr lang="zh-TW" altLang="en-US" b="1" dirty="0">
                <a:latin typeface="CMU Serif" panose="02000603000000000000" pitchFamily="2" charset="0"/>
                <a:ea typeface="標楷體" panose="03000509000000000000" pitchFamily="65" charset="-120"/>
              </a:rPr>
              <a:t> 後有更新的簡報頁面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97131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4A29C-65D0-7A79-63F9-975BE01FD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70856F7C-90E8-729C-A5F7-602427336852}"/>
              </a:ext>
            </a:extLst>
          </p:cNvPr>
          <p:cNvSpPr/>
          <p:nvPr/>
        </p:nvSpPr>
        <p:spPr>
          <a:xfrm>
            <a:off x="1223963" y="2332831"/>
            <a:ext cx="9744075" cy="1468438"/>
          </a:xfrm>
          <a:prstGeom prst="roundRect">
            <a:avLst/>
          </a:prstGeom>
          <a:solidFill>
            <a:srgbClr val="3333B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600" dirty="0" err="1">
                <a:latin typeface="Times New Roman" panose="02020603050405020304" pitchFamily="18" charset="0"/>
                <a:ea typeface="標楷體" panose="03000509000000000000" pitchFamily="65" charset="-120"/>
              </a:rPr>
              <a:t>地理加權迴歸GWR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: </a:t>
            </a:r>
          </a:p>
          <a:p>
            <a:pPr algn="ctr"/>
            <a:r>
              <a:rPr lang="en-US" altLang="zh-TW" sz="3600" dirty="0" err="1">
                <a:latin typeface="Times New Roman" panose="02020603050405020304" pitchFamily="18" charset="0"/>
                <a:ea typeface="標楷體" panose="03000509000000000000" pitchFamily="65" charset="-120"/>
              </a:rPr>
              <a:t>基本理論、Package操作、手刻實作</a:t>
            </a:r>
            <a:endParaRPr lang="zh-TW" altLang="en-US" sz="360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609B215-3F00-2999-5030-2699DBC0CEDF}"/>
              </a:ext>
            </a:extLst>
          </p:cNvPr>
          <p:cNvSpPr txBox="1"/>
          <p:nvPr/>
        </p:nvSpPr>
        <p:spPr>
          <a:xfrm>
            <a:off x="3048000" y="395356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YUNG-CHUN LAN</a:t>
            </a:r>
            <a:endParaRPr lang="zh-TW" altLang="en-US" sz="2800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BD7BF49-76CA-8863-DEB5-E5E4BBF5B5D3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725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3EA48-86C3-E9EA-11D6-D6D43372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5F7EBFF-5F23-BC0B-4DB4-14C4B03D194D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0C97516-C8FF-864E-544E-265BAAA1F9A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Outline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5445E56-2DFC-8B66-384F-943E2BBDA3DD}"/>
              </a:ext>
            </a:extLst>
          </p:cNvPr>
          <p:cNvSpPr txBox="1"/>
          <p:nvPr/>
        </p:nvSpPr>
        <p:spPr>
          <a:xfrm>
            <a:off x="1278101" y="1860411"/>
            <a:ext cx="6516080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GWR </a:t>
            </a: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理論背景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 估計流程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Georgia </a:t>
            </a: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縣級資料實作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R Package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復刻分析流程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手刻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核心內容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套件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vs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手刻結果比較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結果視覺化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73152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BF3F5-159C-5B4C-1F7B-93BE2377E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FC46CB3-7A9E-F1C3-BD6C-AB876346C120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2269C20-42DF-83D4-2264-6AA8FD50C95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研究背景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4B307AD-AF99-46E8-3BC7-D0AFA3149CC3}"/>
              </a:ext>
            </a:extLst>
          </p:cNvPr>
          <p:cNvSpPr txBox="1"/>
          <p:nvPr/>
        </p:nvSpPr>
        <p:spPr>
          <a:xfrm>
            <a:off x="817048" y="1301817"/>
            <a:ext cx="93668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2400" b="1" dirty="0">
                <a:latin typeface="CMU Serif" panose="02000603000000000000" pitchFamily="2" charset="0"/>
                <a:ea typeface="標楷體" panose="03000509000000000000" pitchFamily="65" charset="-120"/>
              </a:rPr>
              <a:t>空間資料具地區差異性，不同變數間的關係可能隨地區改變</a:t>
            </a:r>
            <a:endParaRPr lang="en-US" altLang="zh-TW" sz="24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7B606E5-6EAD-74E4-7444-396A43AE5610}"/>
              </a:ext>
            </a:extLst>
          </p:cNvPr>
          <p:cNvSpPr txBox="1"/>
          <p:nvPr/>
        </p:nvSpPr>
        <p:spPr>
          <a:xfrm>
            <a:off x="817048" y="3051439"/>
            <a:ext cx="8519062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傳統全域迴歸模型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共享同一組參數，較難呈現空間局部差異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31F15D1-B059-F673-351D-8D72F206C226}"/>
              </a:ext>
            </a:extLst>
          </p:cNvPr>
          <p:cNvSpPr txBox="1"/>
          <p:nvPr/>
        </p:nvSpPr>
        <p:spPr>
          <a:xfrm>
            <a:off x="817047" y="4261111"/>
            <a:ext cx="7009141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</a:p>
          <a:p>
            <a:r>
              <a:rPr lang="zh-TW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引入距離加權觀念，在不同位置估計局部迴歸係數，使模型能夠描述變數關係的空間差異。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BC3AE7D-7B83-8231-1E21-6A045A0B8E84}"/>
              </a:ext>
            </a:extLst>
          </p:cNvPr>
          <p:cNvSpPr txBox="1"/>
          <p:nvPr/>
        </p:nvSpPr>
        <p:spPr>
          <a:xfrm>
            <a:off x="817048" y="1718657"/>
            <a:ext cx="612289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範例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 屋齡與房價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“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鄉村地區老房子有特色，可能越老越貴；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都市地區老房子品質差，可能越老越便宜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”</a:t>
            </a:r>
            <a:endParaRPr lang="zh-TW" altLang="en-US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9325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0ABA75F-FD9E-3ACE-C3BC-8B9954CFCE29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B39D13C-5521-5E63-2B78-C688667C80A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理論背景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空間非平穩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B0DB634-2D3A-C500-1ADD-8B57EB6DF27C}"/>
              </a:ext>
            </a:extLst>
          </p:cNvPr>
          <p:cNvSpPr txBox="1"/>
          <p:nvPr/>
        </p:nvSpPr>
        <p:spPr>
          <a:xfrm>
            <a:off x="1516298" y="1857018"/>
            <a:ext cx="65160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</a:rPr>
              <a:t>空間資料特性</a:t>
            </a:r>
            <a:endParaRPr lang="en-US" altLang="zh-TW" sz="24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不同地區可能具不同社會、經濟、地理條件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相同解釋變數在不同位置可能呈現不同關係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05A50E7-080D-2020-298F-F33B21A91DC1}"/>
              </a:ext>
            </a:extLst>
          </p:cNvPr>
          <p:cNvSpPr txBox="1"/>
          <p:nvPr/>
        </p:nvSpPr>
        <p:spPr>
          <a:xfrm>
            <a:off x="1516298" y="4356794"/>
            <a:ext cx="65160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造成空間非平穩可能原因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</a:p>
          <a:p>
            <a:pPr marL="342900" indent="-342900"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抽樣誤差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變數關係確實存在地區差異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8E1D9325-C3DD-E18B-FAB1-5E2F2175EE66}"/>
              </a:ext>
            </a:extLst>
          </p:cNvPr>
          <p:cNvGrpSpPr/>
          <p:nvPr/>
        </p:nvGrpSpPr>
        <p:grpSpPr>
          <a:xfrm>
            <a:off x="1516298" y="3097681"/>
            <a:ext cx="8270384" cy="1099335"/>
            <a:chOff x="481011" y="1537038"/>
            <a:chExt cx="5623200" cy="847467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DE164692-A9F3-E5B7-8412-1E9FC2B92DEF}"/>
                </a:ext>
              </a:extLst>
            </p:cNvPr>
            <p:cNvSpPr/>
            <p:nvPr/>
          </p:nvSpPr>
          <p:spPr>
            <a:xfrm>
              <a:off x="481012" y="1559496"/>
              <a:ext cx="5614988" cy="825009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9" name="矩形: 圓角化同側角落 8">
              <a:extLst>
                <a:ext uri="{FF2B5EF4-FFF2-40B4-BE49-F238E27FC236}">
                  <a16:creationId xmlns:a16="http://schemas.microsoft.com/office/drawing/2014/main" id="{506523F1-5BC4-3826-2F88-9A73D3D8BFF8}"/>
                </a:ext>
              </a:extLst>
            </p:cNvPr>
            <p:cNvSpPr/>
            <p:nvPr/>
          </p:nvSpPr>
          <p:spPr>
            <a:xfrm>
              <a:off x="481011" y="1537038"/>
              <a:ext cx="5623200" cy="35624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定義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空間非平穩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Spatial Non-Stationary</a:t>
              </a:r>
            </a:p>
          </p:txBody>
        </p:sp>
      </p:grp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D13A2CC-9964-5895-3BB0-A8EC7B442B52}"/>
              </a:ext>
            </a:extLst>
          </p:cNvPr>
          <p:cNvSpPr txBox="1"/>
          <p:nvPr/>
        </p:nvSpPr>
        <p:spPr>
          <a:xfrm>
            <a:off x="1604684" y="3679845"/>
            <a:ext cx="53339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變數之間的關係會隨空間位置改變</a:t>
            </a:r>
            <a:endParaRPr lang="en-US" altLang="zh-TW" sz="2000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97290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CC71-8378-C9EC-3704-581F0879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84BCB4F-7AD0-C2A3-7A65-E5CD26064A9C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787EB07-9521-6DE7-1CB0-CB2FF708B8B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理論背景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傳統全域迴歸模型的限制</a:t>
            </a:r>
          </a:p>
        </p:txBody>
      </p:sp>
      <p:pic>
        <p:nvPicPr>
          <p:cNvPr id="33" name="圖片 32" descr="\documentclass{article}&#10;\usepackage{amsmath}&#10;\pagestyle{empty}&#10;\begin{document}&#10;\[&#10;\text{housing prices = $\beta_0$ + $\beta_1$ building age + $\beta_2$ area + $\beta_3$ unemployment + ...}&#10;\]&#10;&#10;&#10;&#10;\end{document}" title="IguanaTex Picture Display">
            <a:extLst>
              <a:ext uri="{FF2B5EF4-FFF2-40B4-BE49-F238E27FC236}">
                <a16:creationId xmlns:a16="http://schemas.microsoft.com/office/drawing/2014/main" id="{9416A8E9-12F9-0AC3-97F2-1C006A5B549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87" y="1616435"/>
            <a:ext cx="8951666" cy="250212"/>
          </a:xfrm>
          <a:prstGeom prst="rect">
            <a:avLst/>
          </a:prstGeom>
        </p:spPr>
      </p:pic>
      <p:sp>
        <p:nvSpPr>
          <p:cNvPr id="23" name="文字方塊 22">
            <a:extLst>
              <a:ext uri="{FF2B5EF4-FFF2-40B4-BE49-F238E27FC236}">
                <a16:creationId xmlns:a16="http://schemas.microsoft.com/office/drawing/2014/main" id="{78A5803D-AE5D-71F7-B766-8C3157B9D961}"/>
              </a:ext>
            </a:extLst>
          </p:cNvPr>
          <p:cNvSpPr txBox="1"/>
          <p:nvPr/>
        </p:nvSpPr>
        <p:spPr>
          <a:xfrm>
            <a:off x="201706" y="1151076"/>
            <a:ext cx="61228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全域迴歸模型</a:t>
            </a:r>
            <a:endParaRPr lang="zh-TW" altLang="en-US" sz="2400" b="1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94294E8-EDA8-66AB-90B2-0E7FAD34CBD2}"/>
              </a:ext>
            </a:extLst>
          </p:cNvPr>
          <p:cNvSpPr txBox="1"/>
          <p:nvPr/>
        </p:nvSpPr>
        <p:spPr>
          <a:xfrm>
            <a:off x="201706" y="2254822"/>
            <a:ext cx="532951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endParaRPr lang="en-US" altLang="zh-TW" sz="2400" b="1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使用同一組係數估計整個國家，得到的模型只是整個國家的平均關係，不一定適用所有地區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87C3FA1C-89B1-28A0-A08F-377C34A412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63" b="3821"/>
          <a:stretch>
            <a:fillRect/>
          </a:stretch>
        </p:blipFill>
        <p:spPr>
          <a:xfrm>
            <a:off x="6660777" y="2236892"/>
            <a:ext cx="4244788" cy="3412078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F1F6897F-F709-6250-1ADE-D97F96E76F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565" b="81174"/>
          <a:stretch>
            <a:fillRect/>
          </a:stretch>
        </p:blipFill>
        <p:spPr>
          <a:xfrm>
            <a:off x="10243870" y="4594482"/>
            <a:ext cx="911013" cy="796879"/>
          </a:xfrm>
          <a:prstGeom prst="rect">
            <a:avLst/>
          </a:prstGeom>
        </p:spPr>
      </p:pic>
      <p:sp>
        <p:nvSpPr>
          <p:cNvPr id="31" name="文字方塊 30">
            <a:extLst>
              <a:ext uri="{FF2B5EF4-FFF2-40B4-BE49-F238E27FC236}">
                <a16:creationId xmlns:a16="http://schemas.microsoft.com/office/drawing/2014/main" id="{80C5B630-3F71-03E0-1A89-AAEBE99DB1FF}"/>
              </a:ext>
            </a:extLst>
          </p:cNvPr>
          <p:cNvSpPr txBox="1"/>
          <p:nvPr/>
        </p:nvSpPr>
        <p:spPr>
          <a:xfrm>
            <a:off x="6660777" y="5674413"/>
            <a:ext cx="4814047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全域模型殘差圖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 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估計倫敦房價</a:t>
            </a:r>
            <a:endParaRPr lang="en-US" altLang="zh-TW" sz="16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en-US" altLang="zh-TW" sz="105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Fotheringham et al. (2012). Geographically Weighted Regression. p.37</a:t>
            </a:r>
            <a:endParaRPr lang="zh-TW" altLang="en-US" sz="105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1040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43424-41C2-F80B-9F62-FEDF3EB84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B94CB8F-687A-8D2C-ECE1-C68DB312275D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FF8BB2-7728-F772-7EEE-D11CF85F829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基本觀念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868CF74-532C-6285-09C7-2AADC5D681B5}"/>
              </a:ext>
            </a:extLst>
          </p:cNvPr>
          <p:cNvSpPr txBox="1"/>
          <p:nvPr/>
        </p:nvSpPr>
        <p:spPr>
          <a:xfrm>
            <a:off x="983876" y="2483658"/>
            <a:ext cx="10224248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共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個觀測點，每個點都建構一組迴歸模型，共建構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n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組迴歸模型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除了迴歸點本身，也使用其他觀測點的資料訓練模型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距迴歸點越近的觀測點，權重越大；距迴歸點越遠的觀測點，權重越小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迴歸點不一定要在觀測點上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024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31206-A09C-333B-36DA-72D53208F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3D3FCB1-FC14-2A64-4C9C-99624AB9D656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7569EE-85EC-A8A1-B0C5-2AF4164FBF48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模型形式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6BDEE776-FC3A-A9D6-4C70-787E0F2FE652}"/>
              </a:ext>
            </a:extLst>
          </p:cNvPr>
          <p:cNvSpPr txBox="1"/>
          <p:nvPr/>
        </p:nvSpPr>
        <p:spPr>
          <a:xfrm>
            <a:off x="1701053" y="887632"/>
            <a:ext cx="87898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</a:t>
            </a:r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每個點都是一組迴歸模型，共</a:t>
            </a:r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n 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組迴歸模型</a:t>
            </a:r>
            <a:endParaRPr lang="zh-TW" altLang="en-US" sz="2400" b="1" dirty="0"/>
          </a:p>
        </p:txBody>
      </p:sp>
      <p:pic>
        <p:nvPicPr>
          <p:cNvPr id="14" name="圖片 13" descr="\documentclass{article}&#10;\usepackage{amsmath}&#10;\pagestyle{empty}&#10;&#10;\begin{document}&#10;&#10;\[&#10;\mathbf{y}&#10;=&#10;\left(&#10;\boldsymbol{\beta}&#10;\odot&#10;\mathbf{X}&#10;\right)&#10;\mathbf{1}&#10;+&#10;\boldsymbol{\varepsilon}&#10;\]&#10;&#10;where&#10;&#10;\[&#10;\boldsymbol{\beta}&#10;=&#10;\begin{bmatrix}&#10;\beta_0(u_1,v_1) &amp; \beta_1(u_1,v_1) &amp; \cdots &amp; \beta_k(u_1,v_1) \\&#10;\beta_0(u_2,v_2) &amp; \beta_1(u_2,v_2) &amp; \cdots &amp; \beta_k(u_2,v_2) \\&#10;\vdots &amp; \vdots &amp; \ddots &amp; \vdots \\&#10;\beta_0(u_n,v_n) &amp; \beta_1(u_n,v_n) &amp; \cdots &amp; \beta_k(u_n,v_n)&#10;\end{bmatrix}_{n\times(k+1)},&#10;\]&#10;&#10;\[&#10;\mathbf{X}&#10;=&#10;\begin{bmatrix}&#10;1 &amp; x_{11} &amp; \cdots &amp; x_{1k} \\&#10;1 &amp; x_{21} &amp; \cdots &amp; x_{2k} \\&#10;\vdots &amp; \vdots &amp; \ddots &amp; \vdots \\&#10;1 &amp; x_{n1} &amp; \cdots &amp; x_{nk}&#10;\end{bmatrix}_{n\times(k+1)},&#10;\qquad&#10;\mathbf{1}&#10;=&#10;\begin{bmatrix}&#10;1\\&#10;1\\&#10;\vdots\\&#10;1&#10;\end{bmatrix}_{(k+1)\times 1}.&#10;\]&#10;&#10;\end{document}" title="IguanaTex Picture Display">
            <a:extLst>
              <a:ext uri="{FF2B5EF4-FFF2-40B4-BE49-F238E27FC236}">
                <a16:creationId xmlns:a16="http://schemas.microsoft.com/office/drawing/2014/main" id="{1BBB9CA3-D0A3-1CC6-BF69-27F4B4EDB48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2422" y="1561216"/>
            <a:ext cx="8274684" cy="474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892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E2D33-155F-7EED-0FD4-46DF9DF0F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D79C492-30D9-FE12-D774-B089F643084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A2C6802-9BBB-2BEA-27C8-CC727993356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係數解</a:t>
            </a:r>
          </a:p>
        </p:txBody>
      </p:sp>
      <p:pic>
        <p:nvPicPr>
          <p:cNvPr id="29" name="圖片 28" descr="\documentclass{article}&#10;\usepackage{amsmath}&#10;\pagestyle{empty}&#10;&#10;\begin{document}&#10;&#10;\[&#10;\hat{\boldsymbol{\beta}}(u_i,v_i)&#10;=&#10;\left(&#10;\mathbf{X}^{T}\mathbf{W}(u_i,v_i)\mathbf{X}&#10;\right)^{-1}&#10;\mathbf{X}^{T}\mathbf{W}(u_i,v_i)\mathbf{y},&#10;\]&#10;&#10;where&#10;&#10;\[&#10;\hat{\boldsymbol{\beta}}(u_i,v_i)&#10;=&#10;\begin{bmatrix}&#10;\hat{\beta}_0(u_i,v_i) \\&#10;\hat{\beta}_1(u_i,v_i) \\&#10;\vdots \\&#10;\hat{\beta}_k(u_i,v_i)&#10;\end{bmatrix}_{(k+1)\times 1},&#10;\quad&#10;\text{the vector of estimated local regression coefficients at location }(u_i,v_i),&#10;\]&#10;&#10;\[&#10;\mathbf{W}(u_i,v_i)&#10;=&#10;\begin{bmatrix}&#10;w_{i1} &amp; 0 &amp; \cdots &amp; 0 \\&#10;0 &amp; w_{i2} &amp; \cdots &amp; 0 \\&#10;\vdots &amp; \vdots &amp; \ddots &amp; \vdots \\&#10;0 &amp; 0 &amp; \cdots &amp; w_{in}&#10;\end{bmatrix}_{n\times n},\quad&#10;w_{ij}:&#10;\text{ the weight assigned to the }j\text{-th observation at location }i.&#10;\]&#10;&#10;\end{document}" title="IguanaTex Picture Display">
            <a:extLst>
              <a:ext uri="{FF2B5EF4-FFF2-40B4-BE49-F238E27FC236}">
                <a16:creationId xmlns:a16="http://schemas.microsoft.com/office/drawing/2014/main" id="{C71CE86A-DD15-09D1-DCAB-AAE36951A5E8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92" y="2196932"/>
            <a:ext cx="10207015" cy="419490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3ED778A2-96FD-0089-B7F6-31B1AB9B6AC7}"/>
              </a:ext>
            </a:extLst>
          </p:cNvPr>
          <p:cNvSpPr txBox="1"/>
          <p:nvPr/>
        </p:nvSpPr>
        <p:spPr>
          <a:xfrm>
            <a:off x="823267" y="1744581"/>
            <a:ext cx="61228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模型係數解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局部加權最小平方法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  <a:endParaRPr lang="zh-TW" altLang="en-US" sz="2000" b="1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5B2907A-CEBA-BC9F-A691-6C39A7C6CBF6}"/>
              </a:ext>
            </a:extLst>
          </p:cNvPr>
          <p:cNvSpPr txBox="1"/>
          <p:nvPr/>
        </p:nvSpPr>
        <p:spPr>
          <a:xfrm>
            <a:off x="823267" y="893704"/>
            <a:ext cx="61228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一般迴歸模型係數解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最小平方法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</a:p>
        </p:txBody>
      </p:sp>
      <p:pic>
        <p:nvPicPr>
          <p:cNvPr id="7" name="圖片 6" descr="\documentclass{article}&#10;\usepackage{amsmath}&#10;\pagestyle{empty}&#10;&#10;\begin{document}&#10;&#10;\[&#10;\hat{\boldsymbol{\beta}}&#10;=&#10;\left(&#10;\mathbf{X}^{T}\mathbf{X}&#10;\right)^{-1}&#10;\mathbf{X}^{T}\mathbf{y}&#10;\]&#10;&#10;\end{document}" title="IguanaTex Picture Display">
            <a:extLst>
              <a:ext uri="{FF2B5EF4-FFF2-40B4-BE49-F238E27FC236}">
                <a16:creationId xmlns:a16="http://schemas.microsoft.com/office/drawing/2014/main" id="{9D8A414E-4B2C-2232-F7FD-6B38D070CD49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0836" y="1354825"/>
            <a:ext cx="1962515" cy="331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882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0FC9F-638B-AE00-F178-EE2A0BFED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919E31E-4763-F3F4-E5A6-FB9061CBD1F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4BD31D2-3175-4EAC-0B3F-49518606B8B0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權重函數選擇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634744C9-265F-D12A-1FD9-70F84DB7914A}"/>
              </a:ext>
            </a:extLst>
          </p:cNvPr>
          <p:cNvGrpSpPr/>
          <p:nvPr/>
        </p:nvGrpSpPr>
        <p:grpSpPr>
          <a:xfrm>
            <a:off x="2539029" y="1976248"/>
            <a:ext cx="6701563" cy="1102470"/>
            <a:chOff x="481011" y="1537038"/>
            <a:chExt cx="5623200" cy="1050325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74595C55-38FF-9A9E-EB7E-2B2C201D0C27}"/>
                </a:ext>
              </a:extLst>
            </p:cNvPr>
            <p:cNvSpPr/>
            <p:nvPr/>
          </p:nvSpPr>
          <p:spPr>
            <a:xfrm>
              <a:off x="481012" y="1559495"/>
              <a:ext cx="5614988" cy="1027868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73658726-AF70-14B6-1B6A-D6C40F76D0C6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全域迴歸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不管資料點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j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離迴歸點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多遠，權重都是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1</a:t>
              </a:r>
            </a:p>
          </p:txBody>
        </p:sp>
      </p:grpSp>
      <p:pic>
        <p:nvPicPr>
          <p:cNvPr id="10" name="圖片 9" descr="\documentclass{article}&#10;\usepackage{amsmath}&#10;\pagestyle{empty}&#10;\begin{document}&#10;\[&#10;w_{ij}=1 \;\forall\;i,j&#10;\]&#10;&#10;&#10;\end{document}" title="IguanaTex Picture Display">
            <a:extLst>
              <a:ext uri="{FF2B5EF4-FFF2-40B4-BE49-F238E27FC236}">
                <a16:creationId xmlns:a16="http://schemas.microsoft.com/office/drawing/2014/main" id="{9E3EBA22-E94C-892B-2A01-30856527BBB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4601" y="2622051"/>
            <a:ext cx="1490419" cy="266552"/>
          </a:xfrm>
          <a:prstGeom prst="rect">
            <a:avLst/>
          </a:prstGeom>
        </p:spPr>
      </p:pic>
      <p:grpSp>
        <p:nvGrpSpPr>
          <p:cNvPr id="11" name="群組 10">
            <a:extLst>
              <a:ext uri="{FF2B5EF4-FFF2-40B4-BE49-F238E27FC236}">
                <a16:creationId xmlns:a16="http://schemas.microsoft.com/office/drawing/2014/main" id="{FE636403-FEAE-89AB-65D7-B713FD89A995}"/>
              </a:ext>
            </a:extLst>
          </p:cNvPr>
          <p:cNvGrpSpPr/>
          <p:nvPr/>
        </p:nvGrpSpPr>
        <p:grpSpPr>
          <a:xfrm>
            <a:off x="2539029" y="3482173"/>
            <a:ext cx="6701562" cy="1378993"/>
            <a:chOff x="481011" y="1537038"/>
            <a:chExt cx="5623200" cy="136251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3D1775D8-9D7D-AD46-0A79-EBA0A55C27B5}"/>
                </a:ext>
              </a:extLst>
            </p:cNvPr>
            <p:cNvSpPr/>
            <p:nvPr/>
          </p:nvSpPr>
          <p:spPr>
            <a:xfrm>
              <a:off x="481012" y="1559495"/>
              <a:ext cx="5614988" cy="1340054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3" name="矩形: 圓角化同側角落 12">
              <a:extLst>
                <a:ext uri="{FF2B5EF4-FFF2-40B4-BE49-F238E27FC236}">
                  <a16:creationId xmlns:a16="http://schemas.microsoft.com/office/drawing/2014/main" id="{37DE142B-1FD7-C5B0-6733-050848FD7765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最簡單局部方法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距離內算，距離外不算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6" name="圖片 15" descr="\documentclass{article}&#10;\usepackage{amsmath}&#10;\pagestyle{empty}&#10;\begin{document}&#10;&#10;\[&#10;w_{ij}=\left\{  &#10;\begin{aligned}  &#10;&amp;1,\;d_{ij}&lt;d \\  &#10;&amp;0,\; o.w.&#10;\end{aligned}  &#10;\right. &#10;\]&#10;&#10;&#10;\end{document}" title="IguanaTex Picture Display">
            <a:extLst>
              <a:ext uri="{FF2B5EF4-FFF2-40B4-BE49-F238E27FC236}">
                <a16:creationId xmlns:a16="http://schemas.microsoft.com/office/drawing/2014/main" id="{CE2751C7-7CA7-5204-B1E9-9661A2AE14E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973" y="4066314"/>
            <a:ext cx="1699675" cy="650606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E30F3D1C-78E8-9C17-0760-4A537D5D515F}"/>
              </a:ext>
            </a:extLst>
          </p:cNvPr>
          <p:cNvSpPr txBox="1"/>
          <p:nvPr/>
        </p:nvSpPr>
        <p:spPr>
          <a:xfrm>
            <a:off x="2391111" y="4883895"/>
            <a:ext cx="69973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不連續且視窗內權重都是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，本質上只是範圍較小的全域迴歸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81620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7E3EA-3EAE-DC5D-AF7D-284BDC1E0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6A9220E-1667-573C-2544-2C859F38F49C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13BE9FC-0127-A5CD-76EE-671CBCAE3597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權重函數選擇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D4C10024-DD01-CEE6-355B-73728D496C84}"/>
              </a:ext>
            </a:extLst>
          </p:cNvPr>
          <p:cNvGrpSpPr/>
          <p:nvPr/>
        </p:nvGrpSpPr>
        <p:grpSpPr>
          <a:xfrm>
            <a:off x="3010864" y="1607857"/>
            <a:ext cx="6534070" cy="1117212"/>
            <a:chOff x="481011" y="1537038"/>
            <a:chExt cx="5623200" cy="1263112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3BD27317-A982-80F4-1266-AB9205CCE310}"/>
                </a:ext>
              </a:extLst>
            </p:cNvPr>
            <p:cNvSpPr/>
            <p:nvPr/>
          </p:nvSpPr>
          <p:spPr>
            <a:xfrm>
              <a:off x="481012" y="1559495"/>
              <a:ext cx="5614988" cy="1240655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CA7FBB4B-5CEA-5404-2BAD-0B04B0BFA16D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較好的方法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讓權重隨距離平滑下降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(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高斯權重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)</a:t>
              </a: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D780F3E5-FAB2-521A-977D-7ED0FACB919A}"/>
              </a:ext>
            </a:extLst>
          </p:cNvPr>
          <p:cNvGrpSpPr/>
          <p:nvPr/>
        </p:nvGrpSpPr>
        <p:grpSpPr>
          <a:xfrm>
            <a:off x="3010864" y="3565627"/>
            <a:ext cx="6534071" cy="1433551"/>
            <a:chOff x="481011" y="1537038"/>
            <a:chExt cx="5623200" cy="136251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4FCB02F2-3D31-6839-EE8D-46845A2698EC}"/>
                </a:ext>
              </a:extLst>
            </p:cNvPr>
            <p:cNvSpPr/>
            <p:nvPr/>
          </p:nvSpPr>
          <p:spPr>
            <a:xfrm>
              <a:off x="481012" y="1559495"/>
              <a:ext cx="5614988" cy="1340054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3" name="矩形: 圓角化同側角落 12">
              <a:extLst>
                <a:ext uri="{FF2B5EF4-FFF2-40B4-BE49-F238E27FC236}">
                  <a16:creationId xmlns:a16="http://schemas.microsoft.com/office/drawing/2014/main" id="{CAFFDB0F-EAB5-4F1F-8F1B-6629A51094DC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bi-square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權重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平滑下降，但超過範圍直接歸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0</a:t>
              </a:r>
            </a:p>
          </p:txBody>
        </p: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FD1E6F38-C64C-2529-5509-C9C1A3C0F7C8}"/>
              </a:ext>
            </a:extLst>
          </p:cNvPr>
          <p:cNvSpPr txBox="1"/>
          <p:nvPr/>
        </p:nvSpPr>
        <p:spPr>
          <a:xfrm>
            <a:off x="3214211" y="5116165"/>
            <a:ext cx="6127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不像應切的移動視窗，內部權重都是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</a:t>
            </a:r>
          </a:p>
          <a:p>
            <a:pPr marL="342900" indent="-342900"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明確排除太遠的資料點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AutoNum type="arabicPeriod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常用權重函數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6" name="圖片 5" descr="\documentclass{article}&#10;\usepackage{amsmath}&#10;\pagestyle{empty}&#10;\begin{document}&#10;\[&#10;w_{ij}=exp[{-\frac{d_{ij}^2}{2b^2}}]&#10;\]&#10;&#10;\end{document}" title="IguanaTex Picture Display">
            <a:extLst>
              <a:ext uri="{FF2B5EF4-FFF2-40B4-BE49-F238E27FC236}">
                <a16:creationId xmlns:a16="http://schemas.microsoft.com/office/drawing/2014/main" id="{E8181D2D-5203-76D2-0D02-1004127A0A3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8756" y="2084421"/>
            <a:ext cx="1618286" cy="526629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3FC356E4-C87F-7F8A-F35F-3B646D28A3C0}"/>
              </a:ext>
            </a:extLst>
          </p:cNvPr>
          <p:cNvSpPr txBox="1"/>
          <p:nvPr/>
        </p:nvSpPr>
        <p:spPr>
          <a:xfrm>
            <a:off x="3214211" y="2822344"/>
            <a:ext cx="61273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即使很遠的資料點，也會被乘上權重</a:t>
            </a:r>
            <a:endParaRPr lang="zh-TW" altLang="en-US" dirty="0"/>
          </a:p>
        </p:txBody>
      </p:sp>
      <p:pic>
        <p:nvPicPr>
          <p:cNvPr id="15" name="圖片 14" descr="\documentclass{article}&#10;\usepackage{amsmath}&#10;\pagestyle{empty}&#10;\begin{document}&#10;\[&#10;w_{ij}=\left\{  &#10;\begin{aligned}  &#10;&amp;[1-(\frac{d_{ij}}{b})^2]^2,\;d_{ij}&lt;b \\  &#10;&amp;0,\; o.w.&#10;\end{aligned}  &#10;\right. &#10;\]&#10;&#10;&#10;&#10;\end{document}" title="IguanaTex Picture Display">
            <a:extLst>
              <a:ext uri="{FF2B5EF4-FFF2-40B4-BE49-F238E27FC236}">
                <a16:creationId xmlns:a16="http://schemas.microsoft.com/office/drawing/2014/main" id="{4E1577EB-9EB0-8F77-2895-356E07273B8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097" y="4100325"/>
            <a:ext cx="2831604" cy="805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747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3F378-C3CD-549E-820B-4CA618055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E9EB818-B91B-EF96-BE4D-7AC800F842E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A0D539-D867-5827-0BD9-1EE4BAE19F1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觀念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帶寬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65437016-0756-9803-A4D7-BCBBBAA22F8A}"/>
              </a:ext>
            </a:extLst>
          </p:cNvPr>
          <p:cNvGrpSpPr/>
          <p:nvPr/>
        </p:nvGrpSpPr>
        <p:grpSpPr>
          <a:xfrm>
            <a:off x="1960808" y="1727173"/>
            <a:ext cx="8270384" cy="1582708"/>
            <a:chOff x="481011" y="1537038"/>
            <a:chExt cx="5623200" cy="1220095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E85FA806-F051-CBA8-20F9-95608D4FA3EA}"/>
                </a:ext>
              </a:extLst>
            </p:cNvPr>
            <p:cNvSpPr/>
            <p:nvPr/>
          </p:nvSpPr>
          <p:spPr>
            <a:xfrm>
              <a:off x="481012" y="1559495"/>
              <a:ext cx="5614988" cy="1197638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27F1304A-AD8D-AC1D-E885-CFD26F198517}"/>
                </a:ext>
              </a:extLst>
            </p:cNvPr>
            <p:cNvSpPr/>
            <p:nvPr/>
          </p:nvSpPr>
          <p:spPr>
            <a:xfrm>
              <a:off x="481011" y="1537038"/>
              <a:ext cx="5623200" cy="35624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定義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帶寬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bandwidth</a:t>
              </a:r>
            </a:p>
          </p:txBody>
        </p: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762DB0B-F922-3BA7-8605-FEE6665A4A2F}"/>
              </a:ext>
            </a:extLst>
          </p:cNvPr>
          <p:cNvSpPr txBox="1"/>
          <p:nvPr/>
        </p:nvSpPr>
        <p:spPr>
          <a:xfrm>
            <a:off x="1960808" y="3506553"/>
            <a:ext cx="827038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固定帶寬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(fixed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bandwidth):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endParaRPr lang="en-US" altLang="zh-TW" sz="2000" b="1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每個迴歸點採用相同範圍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空間資料密度不均時易導致估計偏誤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可變帶寬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(adaptive bandwidth)</a:t>
            </a: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資料點多的地方採用小範圍，資料點少的地方採用大範圍，保證每個迴歸點模型都使用合理資料量訓練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C3402E2-9E32-32FB-9CA3-B71E94D93D7C}"/>
              </a:ext>
            </a:extLst>
          </p:cNvPr>
          <p:cNvSpPr txBox="1"/>
          <p:nvPr/>
        </p:nvSpPr>
        <p:spPr>
          <a:xfrm>
            <a:off x="2032636" y="2278954"/>
            <a:ext cx="81267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GWR </a:t>
            </a:r>
            <a:r>
              <a:rPr lang="zh-TW" altLang="en-US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權重函數中的尺度參數，控制距離對空間權重的影響範圍。</a:t>
            </a:r>
            <a:endParaRPr lang="en-US" altLang="zh-TW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帶寬越小，局部迴歸主要受鄰近觀測點影響，模型較能反映局部差異；</a:t>
            </a:r>
            <a:endParaRPr lang="en-US" altLang="zh-TW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帶寬越大，較多觀測點參與估計，係數曲面較平滑，模型結果越接近全域迴歸。</a:t>
            </a:r>
            <a:endParaRPr lang="en-US" altLang="zh-TW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80203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8F96B-EE17-6557-76EB-6D78DBE37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679796D-D8F1-1E67-C875-CEF448CECB2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8B39FB2-3A73-6273-956D-E4A726D6732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可變帶寬形式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A91C97FE-B3F5-D97D-60A7-2A91B0F8F5C5}"/>
              </a:ext>
            </a:extLst>
          </p:cNvPr>
          <p:cNvGrpSpPr/>
          <p:nvPr/>
        </p:nvGrpSpPr>
        <p:grpSpPr>
          <a:xfrm>
            <a:off x="1995246" y="2289864"/>
            <a:ext cx="8201507" cy="1139136"/>
            <a:chOff x="481011" y="1537038"/>
            <a:chExt cx="5623200" cy="1287899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AF8BFE7E-6C13-7A87-6BC8-1EA63BACDCC3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F52608F5-A18F-98E9-BB5B-E2406B1153A2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可變帶寬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1 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用距離排序決定權重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21" name="圖片 20" descr="\documentclass{article}&#10;\usepackage{amsmath}&#10;\pagestyle{empty}&#10;\begin{document}&#10;\[&#10;w_{ij}=exp(\frac{-R_{ij}}{b})&#10;\text{, where $R_{ij}$ : the rank of data point j at regression point i.}&#10;\]&#10;&#10;\end{document}" title="IguanaTex Picture Display">
            <a:extLst>
              <a:ext uri="{FF2B5EF4-FFF2-40B4-BE49-F238E27FC236}">
                <a16:creationId xmlns:a16="http://schemas.microsoft.com/office/drawing/2014/main" id="{C25639AD-6BB8-E3AE-E936-A16ED4E54A4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0039" y="2799514"/>
            <a:ext cx="7761604" cy="480608"/>
          </a:xfrm>
          <a:prstGeom prst="rect">
            <a:avLst/>
          </a:prstGeom>
        </p:spPr>
      </p:pic>
      <p:grpSp>
        <p:nvGrpSpPr>
          <p:cNvPr id="22" name="群組 21">
            <a:extLst>
              <a:ext uri="{FF2B5EF4-FFF2-40B4-BE49-F238E27FC236}">
                <a16:creationId xmlns:a16="http://schemas.microsoft.com/office/drawing/2014/main" id="{E04AB25D-2515-2968-E661-EB3C6F2608E6}"/>
              </a:ext>
            </a:extLst>
          </p:cNvPr>
          <p:cNvGrpSpPr/>
          <p:nvPr/>
        </p:nvGrpSpPr>
        <p:grpSpPr>
          <a:xfrm>
            <a:off x="1995246" y="3749803"/>
            <a:ext cx="8201507" cy="1175119"/>
            <a:chOff x="481011" y="1537038"/>
            <a:chExt cx="5623200" cy="1328581"/>
          </a:xfrm>
        </p:grpSpPr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C8E64A01-70A9-E89C-B293-197E71CFB236}"/>
                </a:ext>
              </a:extLst>
            </p:cNvPr>
            <p:cNvSpPr/>
            <p:nvPr/>
          </p:nvSpPr>
          <p:spPr>
            <a:xfrm>
              <a:off x="481012" y="1559495"/>
              <a:ext cx="5614988" cy="1306124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4" name="矩形: 圓角化同側角落 23">
              <a:extLst>
                <a:ext uri="{FF2B5EF4-FFF2-40B4-BE49-F238E27FC236}">
                  <a16:creationId xmlns:a16="http://schemas.microsoft.com/office/drawing/2014/main" id="{49C4E6A7-EDD9-0113-D74A-7EB80AF348EA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可變帶寬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2 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讓每個點權重總和相同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27" name="圖片 26" descr="\documentclass{article}&#10;\usepackage{amsmath}&#10;\pagestyle{empty}&#10;\begin{document}&#10;\[&#10;\sum_jw_{ij}=C \; \forall \;i&#10;\]&#10;&#10;\end{document}" title="IguanaTex Picture Display">
            <a:extLst>
              <a:ext uri="{FF2B5EF4-FFF2-40B4-BE49-F238E27FC236}">
                <a16:creationId xmlns:a16="http://schemas.microsoft.com/office/drawing/2014/main" id="{1C506964-C5DD-34B2-EDDA-7ABB5F791DE5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7647" y="4365054"/>
            <a:ext cx="1404729" cy="491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90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90214-09D3-296F-A1E5-514A20377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CC20235-CC9D-5C10-EDB0-70DE039ECDE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B2E9925-5C18-9DAD-D6FE-09D306E6140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可變帶寬形式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7DCA6906-8BF2-2A74-1200-08B1387D4D62}"/>
              </a:ext>
            </a:extLst>
          </p:cNvPr>
          <p:cNvGrpSpPr/>
          <p:nvPr/>
        </p:nvGrpSpPr>
        <p:grpSpPr>
          <a:xfrm>
            <a:off x="1466924" y="1498987"/>
            <a:ext cx="9258152" cy="3860026"/>
            <a:chOff x="1309295" y="1498987"/>
            <a:chExt cx="9258152" cy="3860026"/>
          </a:xfrm>
        </p:grpSpPr>
        <p:grpSp>
          <p:nvGrpSpPr>
            <p:cNvPr id="28" name="群組 27">
              <a:extLst>
                <a:ext uri="{FF2B5EF4-FFF2-40B4-BE49-F238E27FC236}">
                  <a16:creationId xmlns:a16="http://schemas.microsoft.com/office/drawing/2014/main" id="{8ECD984D-B268-0ACD-2C5A-042644DB8450}"/>
                </a:ext>
              </a:extLst>
            </p:cNvPr>
            <p:cNvGrpSpPr/>
            <p:nvPr/>
          </p:nvGrpSpPr>
          <p:grpSpPr>
            <a:xfrm>
              <a:off x="1309295" y="1498987"/>
              <a:ext cx="9258152" cy="3860026"/>
              <a:chOff x="481011" y="1537038"/>
              <a:chExt cx="5623200" cy="4364119"/>
            </a:xfrm>
          </p:grpSpPr>
          <p:sp>
            <p:nvSpPr>
              <p:cNvPr id="29" name="矩形: 圓角 28">
                <a:extLst>
                  <a:ext uri="{FF2B5EF4-FFF2-40B4-BE49-F238E27FC236}">
                    <a16:creationId xmlns:a16="http://schemas.microsoft.com/office/drawing/2014/main" id="{638206D0-4DD6-72D5-B565-2C34530C2787}"/>
                  </a:ext>
                </a:extLst>
              </p:cNvPr>
              <p:cNvSpPr/>
              <p:nvPr/>
            </p:nvSpPr>
            <p:spPr>
              <a:xfrm>
                <a:off x="481012" y="1559494"/>
                <a:ext cx="5614988" cy="4341663"/>
              </a:xfrm>
              <a:prstGeom prst="roundRect">
                <a:avLst>
                  <a:gd name="adj" fmla="val 5607"/>
                </a:avLst>
              </a:prstGeom>
              <a:solidFill>
                <a:srgbClr val="3333B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</p:txBody>
          </p:sp>
          <p:sp>
            <p:nvSpPr>
              <p:cNvPr id="30" name="矩形: 圓角化同側角落 29">
                <a:extLst>
                  <a:ext uri="{FF2B5EF4-FFF2-40B4-BE49-F238E27FC236}">
                    <a16:creationId xmlns:a16="http://schemas.microsoft.com/office/drawing/2014/main" id="{48F6A1DB-DC5A-D061-ABFA-1C26DAB8D3A6}"/>
                  </a:ext>
                </a:extLst>
              </p:cNvPr>
              <p:cNvSpPr/>
              <p:nvPr/>
            </p:nvSpPr>
            <p:spPr>
              <a:xfrm>
                <a:off x="481011" y="1537038"/>
                <a:ext cx="5623200" cy="434638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BEBEE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可變帶寬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 3 :</a:t>
                </a:r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固定使用最近的 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N </a:t>
                </a:r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個鄰居 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(</a:t>
                </a:r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最常見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)</a:t>
                </a:r>
              </a:p>
            </p:txBody>
          </p:sp>
        </p:grpSp>
        <p:pic>
          <p:nvPicPr>
            <p:cNvPr id="11" name="圖片 10" descr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&#10;\end{document}" title="IguanaTex Picture Display">
              <a:extLst>
                <a:ext uri="{FF2B5EF4-FFF2-40B4-BE49-F238E27FC236}">
                  <a16:creationId xmlns:a16="http://schemas.microsoft.com/office/drawing/2014/main" id="{5E314E7A-5DB2-C8DA-45C1-374AEEDBE644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96002" y="2307895"/>
              <a:ext cx="7531285" cy="778614"/>
            </a:xfrm>
            <a:prstGeom prst="rect">
              <a:avLst/>
            </a:prstGeom>
          </p:spPr>
        </p:pic>
        <p:pic>
          <p:nvPicPr>
            <p:cNvPr id="9" name="圖片 8" descr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\text{combine with bi-square:}&#10;\[&#10;w_{ij}=\left\{  &#10;\begin{aligned}  &#10;&amp;[1-(\frac{d_{ij}}{b})^2]^2,\;\text{j is one of the N points closest to the regression point i.} \\  &#10;&amp;0,\; o.w.&#10;\end{aligned}  &#10;\right.&#10;\]&#10;\end{document}" title="IguanaTex Picture Display">
              <a:extLst>
                <a:ext uri="{FF2B5EF4-FFF2-40B4-BE49-F238E27FC236}">
                  <a16:creationId xmlns:a16="http://schemas.microsoft.com/office/drawing/2014/main" id="{7D55B007-379C-E0B6-A601-ADC7D34BF680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278"/>
            <a:stretch>
              <a:fillRect/>
            </a:stretch>
          </p:blipFill>
          <p:spPr>
            <a:xfrm>
              <a:off x="1530392" y="3302298"/>
              <a:ext cx="8860243" cy="163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282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C02CD-CA50-BA65-416A-BA304B694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F32DA39-B29F-ECED-F4B0-D60C2C89CD63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233A0D-FD5D-6D09-8A81-8133D0B157CA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帶寬選擇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EF264AE8-65E4-5F57-6762-4252D93564C7}"/>
              </a:ext>
            </a:extLst>
          </p:cNvPr>
          <p:cNvGrpSpPr/>
          <p:nvPr/>
        </p:nvGrpSpPr>
        <p:grpSpPr>
          <a:xfrm>
            <a:off x="1501313" y="987410"/>
            <a:ext cx="9845192" cy="1139136"/>
            <a:chOff x="481011" y="1537038"/>
            <a:chExt cx="5623200" cy="1287899"/>
          </a:xfrm>
        </p:grpSpPr>
        <p:sp>
          <p:nvSpPr>
            <p:cNvPr id="3" name="矩形: 圓角 2">
              <a:extLst>
                <a:ext uri="{FF2B5EF4-FFF2-40B4-BE49-F238E27FC236}">
                  <a16:creationId xmlns:a16="http://schemas.microsoft.com/office/drawing/2014/main" id="{AFAC10EC-4FF0-CBA5-E685-3CAEEC132762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" name="矩形: 圓角化同側角落 5">
              <a:extLst>
                <a:ext uri="{FF2B5EF4-FFF2-40B4-BE49-F238E27FC236}">
                  <a16:creationId xmlns:a16="http://schemas.microsoft.com/office/drawing/2014/main" id="{F7CC56B0-FDFD-6918-20AD-D7DDCB685CFB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交叉驗證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CV: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預測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點時，不拿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點訓練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0" name="圖片 9" descr="\documentclass{article}&#10;\usepackage{amsmath}&#10;\pagestyle{empty}&#10;\begin{document}&#10;&#10;\[&#10;CV=\sum_{i=1}^n[y_i-\hat{y}_{\neq i}(b)]^2&#10;\]&#10;&#10;&#10;\end{document}" title="IguanaTex Picture Display">
            <a:extLst>
              <a:ext uri="{FF2B5EF4-FFF2-40B4-BE49-F238E27FC236}">
                <a16:creationId xmlns:a16="http://schemas.microsoft.com/office/drawing/2014/main" id="{DC318C7A-B795-7F8A-9614-178D6798852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6889" y="1485971"/>
            <a:ext cx="2194041" cy="605757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D7029058-758D-33E4-C75A-DB9EC2F42110}"/>
              </a:ext>
            </a:extLst>
          </p:cNvPr>
          <p:cNvGrpSpPr/>
          <p:nvPr/>
        </p:nvGrpSpPr>
        <p:grpSpPr>
          <a:xfrm>
            <a:off x="1494115" y="2359250"/>
            <a:ext cx="9859589" cy="1139136"/>
            <a:chOff x="481011" y="1537038"/>
            <a:chExt cx="5623200" cy="1287899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9126E18B-1A4B-739B-12CE-B61A4D613872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5" name="矩形: 圓角化同側角落 14">
              <a:extLst>
                <a:ext uri="{FF2B5EF4-FFF2-40B4-BE49-F238E27FC236}">
                  <a16:creationId xmlns:a16="http://schemas.microsoft.com/office/drawing/2014/main" id="{C1A67530-81E3-84BB-23D1-6548AC340539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廣義交叉驗證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GCV: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預測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點時，不拿掉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點，而是用複雜度懲罰模型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8" name="圖片 17" descr="\documentclass{article}&#10;\usepackage{amsmath}&#10;\pagestyle{empty}&#10;\begin{document}&#10;&#10;\[&#10;GCV=n\sum_{i=1}^n[y_i-\hat{y}_i(b)]^2/(n-v_1)^2,\text{where $v_1$=tr(hat matrix S)}&#10;\]&#10;&#10;&#10;\end{document}" title="IguanaTex Picture Display">
            <a:extLst>
              <a:ext uri="{FF2B5EF4-FFF2-40B4-BE49-F238E27FC236}">
                <a16:creationId xmlns:a16="http://schemas.microsoft.com/office/drawing/2014/main" id="{97D07147-6269-DC24-83B8-FB31BA9E564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3831" y="2784540"/>
            <a:ext cx="6780157" cy="675196"/>
          </a:xfrm>
          <a:prstGeom prst="rect">
            <a:avLst/>
          </a:prstGeom>
        </p:spPr>
      </p:pic>
      <p:grpSp>
        <p:nvGrpSpPr>
          <p:cNvPr id="19" name="群組 18">
            <a:extLst>
              <a:ext uri="{FF2B5EF4-FFF2-40B4-BE49-F238E27FC236}">
                <a16:creationId xmlns:a16="http://schemas.microsoft.com/office/drawing/2014/main" id="{7CD2D5EF-4A53-66B8-3626-7710F093261F}"/>
              </a:ext>
            </a:extLst>
          </p:cNvPr>
          <p:cNvGrpSpPr/>
          <p:nvPr/>
        </p:nvGrpSpPr>
        <p:grpSpPr>
          <a:xfrm>
            <a:off x="1480572" y="3731090"/>
            <a:ext cx="9886675" cy="1139136"/>
            <a:chOff x="481011" y="1537038"/>
            <a:chExt cx="5623200" cy="1287899"/>
          </a:xfrm>
        </p:grpSpPr>
        <p:sp>
          <p:nvSpPr>
            <p:cNvPr id="20" name="矩形: 圓角 19">
              <a:extLst>
                <a:ext uri="{FF2B5EF4-FFF2-40B4-BE49-F238E27FC236}">
                  <a16:creationId xmlns:a16="http://schemas.microsoft.com/office/drawing/2014/main" id="{A005F00D-F129-7BF9-0010-16B622A24DEB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1" name="矩形: 圓角化同側角落 20">
              <a:extLst>
                <a:ext uri="{FF2B5EF4-FFF2-40B4-BE49-F238E27FC236}">
                  <a16:creationId xmlns:a16="http://schemas.microsoft.com/office/drawing/2014/main" id="{96D42FF5-5155-9695-010D-79B6CD5782AD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AICc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同時考慮模型配適度與複雜度，也可用在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Poisson GWR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、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Logistic GWR</a:t>
              </a:r>
            </a:p>
          </p:txBody>
        </p:sp>
      </p:grpSp>
      <p:pic>
        <p:nvPicPr>
          <p:cNvPr id="24" name="圖片 23" descr="\documentclass{article}&#10;\usepackage{amsmath}&#10;\pagestyle{empty}&#10;\begin{document}&#10;&#10;\[&#10;AIC_c=2n\;log(\hat{\sigma})+n\;log(2\pi)+n[\frac{n+tr(S)}{n-2-tr(S)}]&#10;\]&#10;&#10;&#10;\end{document}" title="IguanaTex Picture Display">
            <a:extLst>
              <a:ext uri="{FF2B5EF4-FFF2-40B4-BE49-F238E27FC236}">
                <a16:creationId xmlns:a16="http://schemas.microsoft.com/office/drawing/2014/main" id="{DFC0933F-860D-5468-2897-668B3F97B219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6861" y="4209983"/>
            <a:ext cx="5414097" cy="598857"/>
          </a:xfrm>
          <a:prstGeom prst="rect">
            <a:avLst/>
          </a:prstGeom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A61587D2-BE54-7AAE-21D7-15E8AA0D268E}"/>
              </a:ext>
            </a:extLst>
          </p:cNvPr>
          <p:cNvGrpSpPr/>
          <p:nvPr/>
        </p:nvGrpSpPr>
        <p:grpSpPr>
          <a:xfrm>
            <a:off x="1508501" y="5102930"/>
            <a:ext cx="9830816" cy="1139136"/>
            <a:chOff x="481011" y="1537038"/>
            <a:chExt cx="5623200" cy="1287899"/>
          </a:xfrm>
        </p:grpSpPr>
        <p:sp>
          <p:nvSpPr>
            <p:cNvPr id="26" name="矩形: 圓角 25">
              <a:extLst>
                <a:ext uri="{FF2B5EF4-FFF2-40B4-BE49-F238E27FC236}">
                  <a16:creationId xmlns:a16="http://schemas.microsoft.com/office/drawing/2014/main" id="{0088A861-518A-2DB2-AA7F-C8DD3FE5709D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7" name="矩形: 圓角化同側角落 26">
              <a:extLst>
                <a:ext uri="{FF2B5EF4-FFF2-40B4-BE49-F238E27FC236}">
                  <a16:creationId xmlns:a16="http://schemas.microsoft.com/office/drawing/2014/main" id="{17373E42-F5BF-EBCD-42B7-153E21F030EE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BIC: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比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AICc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對模型複雜度施加更多懲罰，更傾向選擇簡單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(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大帶寬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)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模型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33" name="圖片 32" descr="\documentclass{article}&#10;\usepackage{amsmath}&#10;\pagestyle{empty}&#10;\begin{document}&#10;&#10;\[&#10;BIC=-2\;log(L)+k\;log(n),\text{where $L$: model likelihood}&#10;\]&#10;&#10;&#10;\end{document}" title="IguanaTex Picture Display">
            <a:extLst>
              <a:ext uri="{FF2B5EF4-FFF2-40B4-BE49-F238E27FC236}">
                <a16:creationId xmlns:a16="http://schemas.microsoft.com/office/drawing/2014/main" id="{707E243B-9661-38E9-FB6B-D44CE3157137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956" y="5720068"/>
            <a:ext cx="6169907" cy="254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0258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7A7A2-5C2C-5E01-A4BA-30E771215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B2469F2-692B-839C-F32E-E848C395D91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1ED9E0-132C-E9F8-D4E3-C0F129FE014E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CV vs GCV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AD5E4A0-9204-EFFE-5E35-04A7B13CC41A}"/>
              </a:ext>
            </a:extLst>
          </p:cNvPr>
          <p:cNvSpPr txBox="1"/>
          <p:nvPr/>
        </p:nvSpPr>
        <p:spPr>
          <a:xfrm>
            <a:off x="735106" y="2324804"/>
            <a:ext cx="610496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為何發展出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?</a:t>
            </a:r>
          </a:p>
          <a:p>
            <a:pPr marL="342900" indent="-342900"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比完整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更容易計算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不須排除迴歸點 </a:t>
            </a:r>
            <a:r>
              <a:rPr lang="en-US" altLang="zh-TW" sz="20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i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  <a:p>
            <a:pPr marL="342900" indent="-342900"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透過複雜度懲罰避免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wrap-around effect</a:t>
            </a:r>
            <a:endParaRPr lang="zh-TW" altLang="en-US" sz="20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54D7193-7708-DB5A-A795-F6B48B74BB56}"/>
              </a:ext>
            </a:extLst>
          </p:cNvPr>
          <p:cNvSpPr txBox="1"/>
          <p:nvPr/>
        </p:nvSpPr>
        <p:spPr>
          <a:xfrm>
            <a:off x="6840070" y="2353386"/>
            <a:ext cx="4966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“An approximation to the cross-validation statistic that is easier to compute is known as the generalized cross-validation criterion (GCV)." p.61</a:t>
            </a:r>
            <a:endParaRPr lang="zh-TW" altLang="en-US" sz="120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2C2EA74-37B2-625B-07DA-663FCE26FA68}"/>
              </a:ext>
            </a:extLst>
          </p:cNvPr>
          <p:cNvSpPr txBox="1"/>
          <p:nvPr/>
        </p:nvSpPr>
        <p:spPr>
          <a:xfrm>
            <a:off x="6840069" y="2986660"/>
            <a:ext cx="4966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“This term prevents the calibration wrapping itself around the data points because v1 would then tend to n and the denominator of equation would tend to 0. p.61</a:t>
            </a:r>
            <a:endParaRPr lang="zh-TW" altLang="en-US" sz="12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B532E27-4338-7EA7-830C-E04DF5F83486}"/>
              </a:ext>
            </a:extLst>
          </p:cNvPr>
          <p:cNvSpPr txBox="1"/>
          <p:nvPr/>
        </p:nvSpPr>
        <p:spPr>
          <a:xfrm>
            <a:off x="735106" y="3519677"/>
            <a:ext cx="610496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 vs GCV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CV: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較直接且概念清楚，但計算較慢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用有效參數限制來近似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結果，計算較快，適合大量資料或需要反覆搜尋帶寬的情況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95518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2DB81-2B10-BBE2-56B1-871C99459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DDABE62-F235-4343-96E2-86A4AB44BD48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77C74A9-D32A-164F-8E4F-46387B10A090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CV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實作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04EBF62-81F7-6BF5-2FE9-5884E7830F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389" y="1200492"/>
            <a:ext cx="5740684" cy="1609497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06A2C392-EE68-7144-338D-9A7C9F25C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583" y="3194369"/>
            <a:ext cx="5408148" cy="32211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7CC0B12F-E10B-2283-E769-803F505C04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7485" y="3178544"/>
            <a:ext cx="5408148" cy="3252823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269D770B-80A6-20FB-473D-7EDF312120F1}"/>
              </a:ext>
            </a:extLst>
          </p:cNvPr>
          <p:cNvSpPr txBox="1"/>
          <p:nvPr/>
        </p:nvSpPr>
        <p:spPr>
          <a:xfrm>
            <a:off x="3299985" y="819860"/>
            <a:ext cx="55920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endParaRPr lang="zh-TW" altLang="en-US" sz="20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41A3DC77-0972-4217-3D7F-2318A3DFB77F}"/>
              </a:ext>
            </a:extLst>
          </p:cNvPr>
          <p:cNvSpPr txBox="1"/>
          <p:nvPr/>
        </p:nvSpPr>
        <p:spPr>
          <a:xfrm>
            <a:off x="3299985" y="2830161"/>
            <a:ext cx="55920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手刻</a:t>
            </a:r>
            <a:endParaRPr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6290829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6D450-C3F0-0EBA-6381-3F991C71F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F8F7A55-2061-40C0-8104-4489426D7EA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A730C79-0EAF-CDBD-7E45-E5675759E4E4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GCV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實作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A8438594-B76F-5B26-7882-831A76C4F3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61" y="1658471"/>
            <a:ext cx="5717972" cy="4070421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D4634D61-FBBE-6455-7BE9-126EBD3999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6133" y="1658471"/>
            <a:ext cx="6217612" cy="3689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0821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81682-ADA6-1F57-6D01-563D161BD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0BEEA561-7E37-A8BC-22D8-8453A93DBC07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7FEEF29-66E4-B48F-CF7B-3E5E42E2164E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CV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、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結果比較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FD1AD7D-0C85-5B59-7D73-D3FA8B5A12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7783203"/>
              </p:ext>
            </p:extLst>
          </p:nvPr>
        </p:nvGraphicFramePr>
        <p:xfrm>
          <a:off x="6436659" y="1254498"/>
          <a:ext cx="5329518" cy="1874520"/>
        </p:xfrm>
        <a:graphic>
          <a:graphicData uri="http://schemas.openxmlformats.org/drawingml/2006/table">
            <a:tbl>
              <a:tblPr/>
              <a:tblGrid>
                <a:gridCol w="2002177">
                  <a:extLst>
                    <a:ext uri="{9D8B030D-6E8A-4147-A177-3AD203B41FA5}">
                      <a16:colId xmlns:a16="http://schemas.microsoft.com/office/drawing/2014/main" val="3128983531"/>
                    </a:ext>
                  </a:extLst>
                </a:gridCol>
                <a:gridCol w="1863927">
                  <a:extLst>
                    <a:ext uri="{9D8B030D-6E8A-4147-A177-3AD203B41FA5}">
                      <a16:colId xmlns:a16="http://schemas.microsoft.com/office/drawing/2014/main" val="1736996794"/>
                    </a:ext>
                  </a:extLst>
                </a:gridCol>
                <a:gridCol w="1463414">
                  <a:extLst>
                    <a:ext uri="{9D8B030D-6E8A-4147-A177-3AD203B41FA5}">
                      <a16:colId xmlns:a16="http://schemas.microsoft.com/office/drawing/2014/main" val="2348390199"/>
                    </a:ext>
                  </a:extLst>
                </a:gridCol>
              </a:tblGrid>
              <a:tr h="26080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zh-TW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CV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GCV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5364972"/>
                  </a:ext>
                </a:extLst>
              </a:tr>
              <a:tr h="26080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最小值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2147.08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12.01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7214724"/>
                  </a:ext>
                </a:extLst>
              </a:tr>
              <a:tr h="26080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選擇帶寬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140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136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4937597"/>
                  </a:ext>
                </a:extLst>
              </a:tr>
              <a:tr h="260802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20</a:t>
                      </a:r>
                      <a:r>
                        <a:rPr lang="zh-TW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次效能測試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9800033"/>
                  </a:ext>
                </a:extLst>
              </a:tr>
              <a:tr h="26080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執行時間中位數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5.55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9.95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9932358"/>
                  </a:ext>
                </a:extLst>
              </a:tr>
              <a:tr h="26080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記憶體配置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4.99 GB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9.45 GB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760596"/>
                  </a:ext>
                </a:extLst>
              </a:tr>
            </a:tbl>
          </a:graphicData>
        </a:graphic>
      </p:graphicFrame>
      <p:pic>
        <p:nvPicPr>
          <p:cNvPr id="7" name="圖片 6">
            <a:extLst>
              <a:ext uri="{FF2B5EF4-FFF2-40B4-BE49-F238E27FC236}">
                <a16:creationId xmlns:a16="http://schemas.microsoft.com/office/drawing/2014/main" id="{B04A2B07-D39E-1D84-0426-5A71C2978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31" r="3432" b="4240"/>
          <a:stretch>
            <a:fillRect/>
          </a:stretch>
        </p:blipFill>
        <p:spPr>
          <a:xfrm>
            <a:off x="5455023" y="3429000"/>
            <a:ext cx="6736977" cy="2974577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A20802D4-5DAC-F80F-14EB-6BF2197C9C2A}"/>
              </a:ext>
            </a:extLst>
          </p:cNvPr>
          <p:cNvSpPr txBox="1"/>
          <p:nvPr/>
        </p:nvSpPr>
        <p:spPr>
          <a:xfrm>
            <a:off x="172572" y="1032229"/>
            <a:ext cx="517935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直接使用理論計算方式，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計算效率優於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</a:t>
            </a:r>
          </a:p>
          <a:p>
            <a:pPr>
              <a:lnSpc>
                <a:spcPct val="150000"/>
              </a:lnSpc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在理論上為較容易計算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的近似方法，然而實作上在計算有效參數數量時包含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建立對角權重矩陣 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W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解反矩陣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最耗效能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帽子矩陣軌跡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tr(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運算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D011226-555C-25B2-5AE6-E2B601DCD5AC}"/>
              </a:ext>
            </a:extLst>
          </p:cNvPr>
          <p:cNvSpPr txBox="1"/>
          <p:nvPr/>
        </p:nvSpPr>
        <p:spPr>
          <a:xfrm>
            <a:off x="172572" y="3894551"/>
            <a:ext cx="5179358" cy="1765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改進方向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用 </a:t>
            </a:r>
            <a:r>
              <a:rPr lang="en-US" altLang="zh-TW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crossprod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(X, X*</a:t>
            </a:r>
            <a:r>
              <a:rPr lang="en-US" altLang="zh-TW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w_i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，避免建立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W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或許可用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Cholesky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或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QR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分解，避免解反矩陣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計算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tr(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時避免建構大量向量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84951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5C572-E077-ED62-5056-BFE5C60F7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B808F47A-5929-BC8A-B9E8-5A784D91B1BC}"/>
              </a:ext>
            </a:extLst>
          </p:cNvPr>
          <p:cNvSpPr/>
          <p:nvPr/>
        </p:nvSpPr>
        <p:spPr>
          <a:xfrm>
            <a:off x="419100" y="725442"/>
            <a:ext cx="11353800" cy="6020078"/>
          </a:xfrm>
          <a:prstGeom prst="roundRect">
            <a:avLst>
              <a:gd name="adj" fmla="val 3624"/>
            </a:avLst>
          </a:prstGeom>
          <a:solidFill>
            <a:srgbClr val="F3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6222804-754D-855A-A282-497EDB729CB7}"/>
              </a:ext>
            </a:extLst>
          </p:cNvPr>
          <p:cNvSpPr/>
          <p:nvPr/>
        </p:nvSpPr>
        <p:spPr>
          <a:xfrm>
            <a:off x="0" y="6777318"/>
            <a:ext cx="12192000" cy="8068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7987138-B5CD-92E3-8F91-D7CC1EFC91E1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AIC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、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推導</a:t>
            </a:r>
          </a:p>
        </p:txBody>
      </p:sp>
      <p:pic>
        <p:nvPicPr>
          <p:cNvPr id="14" name="圖片 13" descr="\documentclass[12pt]{article}&#10;&#10;\usepackage{amsmath}&#10;\usepackage{amssymb}&#10;\usepackage{bm}&#10;&#10;\begin{document}&#10;&#10;The Akaike Information Criterion is defined as&#10;\[&#10;\mathrm{AIC}&#10;=&#10;-2\left(\max_{\bm{\mu},\sigma^2}\log L\right)+2k,&#10;\]&#10;where \(L\) is the likelihood function and \(k\) is the number of&#10;estimated parameters.&#10;&#10;\subsection*{1. Maximum likelihood estimation}&#10;&#10;Let&#10;\[&#10;\bm{y}\sim N_n\left(\bm{\mu},\sigma^2 I_n\right).&#10;\]&#10;&#10;The likelihood function is&#10;\[&#10;L(\bm{\mu},\sigma^2)&#10;=&#10;(2\pi\sigma^2)^{-n/2}&#10;\exp\left(&#10;-\frac{\lVert \bm{y}-\bm{\mu}\rVert^2}{2\sigma^2}&#10;\right).&#10;\]&#10;&#10;Therefore, the log-likelihood function is&#10;\[&#10;\log L(\bm{\mu},\sigma^2)&#10;=&#10;-\frac{n}{2}\log(2\pi)&#10;-\frac{n}{2}\log(\sigma^2)&#10;-\frac{1}{2\sigma^2}&#10;\lVert \bm{y}-\bm{\mu}\rVert^2.&#10;\]&#10;&#10;Differentiating with respect to \(\sigma^2\), we obtain&#10;\[&#10;\frac{\partial \log L}{\partial \sigma^2}&#10;=&#10;-\frac{n}{2\sigma^2}&#10;+&#10;\frac{1}{2(\sigma^2)^2}&#10;\lVert \bm{y}-\bm{\mu}\rVert^2&#10;=&#10;0.&#10;\]&#10;&#10;Hence,&#10;\[&#10;\widehat{\sigma}^2&#10;=&#10;\frac{\lVert \bm{y}-\widehat{\bm{\mu}}\rVert^2}{n}&#10;=&#10;\frac{\mathrm{RSS}}{n}.&#10;\]&#10;&#10;Substituting the maximum likelihood estimator into the log-likelihood&#10;function gives&#10;\begin{align*}&#10;\max_{\bm{\mu},\sigma^2}\log L&#10;&amp;=&#10;-\frac{n}{2}\log(2\pi)&#10;-\frac{n}{2}\log\left(\widehat{\sigma}^2\right)&#10;-\frac{1}{2}\frac{n}{\mathrm{RSS}}\mathrm{RSS} \\&#10;&amp;=&#10;-\frac{n}{2}\log(2\pi)&#10;-n\log\widehat{\sigma}&#10;-\frac{n}{2}.&#10;\end{align*}&#10;&#10;&#10;\end{document}" title="IguanaTex Picture Display">
            <a:extLst>
              <a:ext uri="{FF2B5EF4-FFF2-40B4-BE49-F238E27FC236}">
                <a16:creationId xmlns:a16="http://schemas.microsoft.com/office/drawing/2014/main" id="{A1E4D361-BDEA-45A8-BD44-3EADE7846A8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85" b="13210"/>
          <a:stretch>
            <a:fillRect/>
          </a:stretch>
        </p:blipFill>
        <p:spPr>
          <a:xfrm>
            <a:off x="860608" y="1478307"/>
            <a:ext cx="5223802" cy="5267213"/>
          </a:xfrm>
          <a:prstGeom prst="rect">
            <a:avLst/>
          </a:prstGeom>
        </p:spPr>
      </p:pic>
      <p:pic>
        <p:nvPicPr>
          <p:cNvPr id="20" name="圖片 19" descr="\documentclass[12pt]{article}&#10;&#10;\usepackage{amsmath}&#10;\usepackage{amssymb}&#10;\usepackage{bm}&#10;&#10;\begin{document}&#10;\subsection*{2. Number of parameters}&#10;&#10;The number of estimated parameters is&#10;\[&#10;k=d+1,&#10;\]&#10;where \(d\) is the number of effective parameters and the additional&#10;parameter corresponds to \(\sigma^2\).&#10;&#10;For a linear smoother with smoothing matrix \(S\),&#10;\[&#10;d=\operatorname{tr}(S).&#10;\]&#10;&#10;Combining the results above, we obtain&#10;\[&#10;\mathrm{AIC}&#10;=&#10;2n\log\widehat{\sigma}&#10;+n\log(2\pi)&#10;+n&#10;+2\left(\operatorname{tr}(S)+1\right).&#10;\]&#10;&#10;The corrected Akaike Information Criterion is&#10;\[&#10;\mathrm{AICc}&#10;=&#10;\mathrm{AIC}&#10;+&#10;\frac{2k(k+1)}{n-k-1}.&#10;\]&#10;&#10;Thus,&#10;\begin{align*}&#10;\mathrm{AICc}&#10;&amp;=&#10;2n\log\widehat{\sigma}&#10;+n\log(2\pi)&#10;+n&#10;+2\left(\operatorname{tr}(S)+1\right) \\&#10;&amp;\quad&#10;+&#10;\frac{&#10;2\left(\operatorname{tr}(S)+1\right)&#10;\left(\operatorname{tr}(S)+2\right)&#10;}{&#10;n-\operatorname{tr}(S)-2&#10;}.&#10;\end{align*}&#10;&#10;After simplification,&#10;\[&#10;\boxed{&#10;\mathrm{AICc}&#10;=&#10;2n\log\widehat{\sigma}&#10;+n\log(2\pi)&#10;+&#10;n\frac{n+\operatorname{tr}(S)}&#10;{n-2-\operatorname{tr}(S)}&#10;}.&#10;\]&#10;&#10;&#10;&#10;\end{document}" title="IguanaTex Picture Display">
            <a:extLst>
              <a:ext uri="{FF2B5EF4-FFF2-40B4-BE49-F238E27FC236}">
                <a16:creationId xmlns:a16="http://schemas.microsoft.com/office/drawing/2014/main" id="{7CBC5B4F-77D9-3330-9859-2E7C5E314884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639"/>
          <a:stretch>
            <a:fillRect/>
          </a:stretch>
        </p:blipFill>
        <p:spPr>
          <a:xfrm>
            <a:off x="6204124" y="913431"/>
            <a:ext cx="5223803" cy="5670996"/>
          </a:xfrm>
          <a:prstGeom prst="rect">
            <a:avLst/>
          </a:prstGeom>
        </p:spPr>
      </p:pic>
      <p:pic>
        <p:nvPicPr>
          <p:cNvPr id="26" name="圖片 25" descr="\documentclass{article}&#10;\usepackage{amsmath}&#10;\usepackage{amsmath}&#10;\usepackage{amssymb}&#10;\usepackage{bm}&#10;\pagestyle{empty}&#10;\begin{document}&#10;&#10;\[&#10;\mathrm{AIC}&#10;=&#10;-2\left(\max_{\bm{\mu},\sigma^2}\log L\right)+2k,&#10;\]&#10;&#10;&#10;\end{document}" title="IguanaTex Picture Display">
            <a:extLst>
              <a:ext uri="{FF2B5EF4-FFF2-40B4-BE49-F238E27FC236}">
                <a16:creationId xmlns:a16="http://schemas.microsoft.com/office/drawing/2014/main" id="{18C832D5-0C52-3433-F0B1-894E95C9B8A9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608" y="752513"/>
            <a:ext cx="2452536" cy="464214"/>
          </a:xfrm>
          <a:prstGeom prst="rect">
            <a:avLst/>
          </a:prstGeom>
        </p:spPr>
      </p:pic>
      <p:sp>
        <p:nvSpPr>
          <p:cNvPr id="30" name="文字方塊 29">
            <a:extLst>
              <a:ext uri="{FF2B5EF4-FFF2-40B4-BE49-F238E27FC236}">
                <a16:creationId xmlns:a16="http://schemas.microsoft.com/office/drawing/2014/main" id="{9BAE6CCA-16C6-F212-2B8A-98D75CE393DD}"/>
              </a:ext>
            </a:extLst>
          </p:cNvPr>
          <p:cNvSpPr txBox="1"/>
          <p:nvPr/>
        </p:nvSpPr>
        <p:spPr>
          <a:xfrm>
            <a:off x="797854" y="1169511"/>
            <a:ext cx="458993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where </a:t>
            </a:r>
            <a:r>
              <a:rPr lang="en-US" altLang="zh-TW" sz="1200" i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 Likelihood function, </a:t>
            </a:r>
            <a:r>
              <a:rPr lang="en-US" altLang="zh-TW" sz="1200" i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k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 number of estimated parameters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4542271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314A0-6F70-1F35-9CB9-D8E9A1A67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8D1AA57-4406-B948-8DF7-8E81067B1F15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EF8E4E4-60DC-F033-FDC6-4A733FDC9441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檢驗參數非平穩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Monte Carlo Permutation Test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516" name="圖片 515" descr="\documentclass{article}&#10;\usepackage{amsmath}&#10;\pagestyle{empty}&#10;\begin{document}&#10;\begin{itemize}&#10;    \item \mbox{Test method: Monte Carlo permutation test}&#10;&#10;    \item \mbox{$H_0$: Spatial stationarity&#10;    $\left(\beta_{ij}=\beta_j,\ \forall i\right)$&#10;    vs. $H_1$: Spatial nonstationarity&#10;    $\left(\beta_{ij}\text{ are not all equal}\right)$}&#10;&#10;    \item \mbox{Test statistic: the standard deviation $s_k$ of all local coefficients for a variable,}\\ where the $k$th coefficient measures spatial variation.&#10;&#10;    \begin{itemize}&#10;        \item \mbox{Small $s_k$: little variation across locations.}&#10;        \item \mbox{Large $s_k$: substantial variation across locations.}&#10;    \end{itemize}&#10;&#10;    \item \mbox{Limitation: GWR must be rerun for every permutation, which is computationally expensive.}&#10;    &#10;    \mbox{Possible solutions are reducing the number of simulations or using representative subsamples.}&#10;\end{itemize}&#10;&#10;&#10;&#10;&#10;&#10;\end{document}" title="IguanaTex Picture Display">
            <a:extLst>
              <a:ext uri="{FF2B5EF4-FFF2-40B4-BE49-F238E27FC236}">
                <a16:creationId xmlns:a16="http://schemas.microsoft.com/office/drawing/2014/main" id="{7ADD1F87-5C31-4D1D-6378-3F2ED02D925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43" y="1650572"/>
            <a:ext cx="10845599" cy="3556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9082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448FA-C369-B897-7059-76BA52F52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9D97524-B554-56DC-C8BA-6F61CBE2E42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8EE445A-2DC2-B87B-FC61-0BA08A9D967F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檢驗參數非平穩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Monte Carlo Permutation Test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2F943B6-EBD4-BB5F-3AF1-E7897674DC61}"/>
              </a:ext>
            </a:extLst>
          </p:cNvPr>
          <p:cNvSpPr txBox="1"/>
          <p:nvPr/>
        </p:nvSpPr>
        <p:spPr>
          <a:xfrm>
            <a:off x="1206874" y="1114905"/>
            <a:ext cx="9778252" cy="4766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檢定範例</a:t>
            </a:r>
            <a:endParaRPr lang="en-US" altLang="zh-TW" sz="2000" b="1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令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y: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房價、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x: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所得水準、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en-US" altLang="zh-TW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u,v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房屋位置、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n=100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個房屋觀測點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跑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得到每個地點所得係數                    ，得市中心所得係數約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0.8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，郊區約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0.2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計算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100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個所得係數標準差，得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隨機打亂房子位置，讓資料失去原本空間結構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重跑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，再次計算所得係數標準差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 startAt="6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重複步驟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與步驟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5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，得大部分標準差           落在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0.05-0.15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，只有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次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&gt;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0.25</a:t>
            </a:r>
          </a:p>
          <a:p>
            <a:pPr marL="342900" indent="-342900">
              <a:lnSpc>
                <a:spcPct val="150000"/>
              </a:lnSpc>
              <a:buAutoNum type="arabicPeriod" startAt="6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計算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P-value:</a:t>
            </a:r>
          </a:p>
          <a:p>
            <a:pPr marL="342900" indent="-342900">
              <a:lnSpc>
                <a:spcPct val="150000"/>
              </a:lnSpc>
              <a:buAutoNum type="arabicPeriod" startAt="6"/>
            </a:pP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 startAt="6"/>
            </a:pP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 startAt="6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結論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在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5%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顯著水準下，所得對房價的影響具空間非平穩性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BA8D4AE-9DC7-FDB6-B42B-A74425AE7AF2}"/>
                  </a:ext>
                </a:extLst>
              </p:cNvPr>
              <p:cNvSpPr txBox="1"/>
              <p:nvPr/>
            </p:nvSpPr>
            <p:spPr>
              <a:xfrm>
                <a:off x="3091171" y="4554071"/>
                <a:ext cx="6009658" cy="5790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b="0" i="0" smtClean="0"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zh-TW" b="0" i="0" smtClean="0"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m:t>=</m:t>
                      </m:r>
                      <m:f>
                        <m:f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zh-TW" altLang="en-US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隨機結果中</m:t>
                          </m:r>
                          <m:r>
                            <m:rPr>
                              <m:nor/>
                            </m:rPr>
                            <a:rPr lang="zh-TW" altLang="en-US" i="0" smtClean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比原始</m:t>
                          </m:r>
                          <m:r>
                            <m:rPr>
                              <m:nor/>
                            </m:rPr>
                            <a:rPr lang="zh-TW" altLang="en-US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係數標準差</m:t>
                          </m:r>
                          <m:r>
                            <m:rPr>
                              <m:nor/>
                            </m:rPr>
                            <a:rPr lang="zh-TW" altLang="en-US" i="0" smtClean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更大的次數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zh-TW" altLang="en-US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隨機</m:t>
                          </m:r>
                          <m:r>
                            <m:rPr>
                              <m:nor/>
                            </m:rPr>
                            <a:rPr lang="zh-TW" altLang="en-US" i="0" smtClean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打亂</m:t>
                          </m:r>
                          <m:r>
                            <m:rPr>
                              <m:nor/>
                            </m:rPr>
                            <a:rPr lang="zh-TW" altLang="en-US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次數</m:t>
                          </m:r>
                        </m:den>
                      </m:f>
                      <m:r>
                        <m:rPr>
                          <m:nor/>
                        </m:rPr>
                        <a:rPr lang="en-US" altLang="zh-TW" i="0"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m:t>=</m:t>
                      </m:r>
                      <m:f>
                        <m:f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altLang="zh-TW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1</m:t>
                          </m:r>
                          <m:r>
                            <m:rPr>
                              <m:nor/>
                            </m:rPr>
                            <a:rPr lang="en-US" altLang="zh-TW" i="0" smtClean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0</m:t>
                          </m:r>
                          <m:r>
                            <m:rPr>
                              <m:nor/>
                            </m:rPr>
                            <a:rPr lang="en-US" altLang="zh-TW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0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altLang="zh-TW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2</m:t>
                          </m:r>
                        </m:den>
                      </m:f>
                      <m:r>
                        <m:rPr>
                          <m:nor/>
                        </m:rPr>
                        <a:rPr lang="en-US" altLang="zh-TW" i="0"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m:t>=0</m:t>
                      </m:r>
                      <m:r>
                        <m:rPr>
                          <m:nor/>
                        </m:rPr>
                        <a:rPr lang="en-US" altLang="zh-TW" i="0" smtClean="0"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m:t>.0</m:t>
                      </m:r>
                      <m:r>
                        <m:rPr>
                          <m:nor/>
                        </m:rPr>
                        <a:rPr lang="en-US" altLang="zh-TW" i="0"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m:t>2</m:t>
                      </m:r>
                    </m:oMath>
                  </m:oMathPara>
                </a14:m>
                <a:endParaRPr lang="zh-TW" altLang="en-US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BA8D4AE-9DC7-FDB6-B42B-A74425AE7A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1171" y="4554071"/>
                <a:ext cx="6009658" cy="5790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圖片 6" descr="\documentclass{article}&#10;\usepackage{amsmath}&#10;\pagestyle{empty}&#10;\begin{document}&#10;&#10;&#10;\[\hat{\beta}_{income}(u_i,v_i)\]&#10;&#10;\end{document}" title="IguanaTex Picture Display">
            <a:extLst>
              <a:ext uri="{FF2B5EF4-FFF2-40B4-BE49-F238E27FC236}">
                <a16:creationId xmlns:a16="http://schemas.microsoft.com/office/drawing/2014/main" id="{09388A61-AB29-3B6C-7D74-8B4DB96ECC1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4584" y="2112311"/>
            <a:ext cx="1378286" cy="275657"/>
          </a:xfrm>
          <a:prstGeom prst="rect">
            <a:avLst/>
          </a:prstGeom>
        </p:spPr>
      </p:pic>
      <p:pic>
        <p:nvPicPr>
          <p:cNvPr id="9" name="圖片 8" descr="\documentclass{article}&#10;\usepackage{amsmath}&#10;\pagestyle{empty}&#10;\begin{document}&#10;&#10;&#10;\[s_{income}^{obs}=0.25\]&#10;&#10;\end{document}" title="IguanaTex Picture Display">
            <a:extLst>
              <a:ext uri="{FF2B5EF4-FFF2-40B4-BE49-F238E27FC236}">
                <a16:creationId xmlns:a16="http://schemas.microsoft.com/office/drawing/2014/main" id="{03EFA247-C7B4-DE2F-5649-7A9F52ABC3EB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3577" y="2524714"/>
            <a:ext cx="1400228" cy="263314"/>
          </a:xfrm>
          <a:prstGeom prst="rect">
            <a:avLst/>
          </a:prstGeom>
        </p:spPr>
      </p:pic>
      <p:pic>
        <p:nvPicPr>
          <p:cNvPr id="14" name="圖片 13" descr="\documentclass{article}&#10;\usepackage{amsmath}&#10;\pagestyle{empty}&#10;\begin{document}&#10;&#10;&#10;\[s_{income}^{rand}\]&#10;&#10;\end{document}" title="IguanaTex Picture Display">
            <a:extLst>
              <a:ext uri="{FF2B5EF4-FFF2-40B4-BE49-F238E27FC236}">
                <a16:creationId xmlns:a16="http://schemas.microsoft.com/office/drawing/2014/main" id="{A8BC189D-16D0-0A43-7070-0CE9B6E0D633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831" y="3768178"/>
            <a:ext cx="685714" cy="263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4232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CDC96-E64F-5DBB-39C9-7CD920FD7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EF475532-B8B4-5ACC-CD62-8CFC48323CA1}"/>
              </a:ext>
            </a:extLst>
          </p:cNvPr>
          <p:cNvSpPr/>
          <p:nvPr/>
        </p:nvSpPr>
        <p:spPr>
          <a:xfrm>
            <a:off x="419100" y="885966"/>
            <a:ext cx="11353800" cy="5532763"/>
          </a:xfrm>
          <a:prstGeom prst="roundRect">
            <a:avLst>
              <a:gd name="adj" fmla="val 3624"/>
            </a:avLst>
          </a:prstGeom>
          <a:solidFill>
            <a:srgbClr val="F3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7C82F5C-0A91-6161-5A70-1CAC4F55A76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15640C7-8FE0-8A47-C08B-C4C40FE83E5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檢驗參數非平穩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F-test by Leung et al.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（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2000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）</a:t>
            </a:r>
          </a:p>
        </p:txBody>
      </p:sp>
      <p:pic>
        <p:nvPicPr>
          <p:cNvPr id="32" name="圖片 31" descr="\documentclass{article}&#10;\usepackage{amsmath}&#10;\pagestyle{empty}&#10;\begin{document}&#10;&#10;\[&#10;\widehat{\mathbf{y}}=\mathbf{L}\mathbf{y},&#10;\qquad&#10;\widehat{\boldsymbol{\varepsilon}}&#10;=&#10;\mathbf{y}-\widehat{\mathbf{y}}&#10;=&#10;(\mathbf{I}-\mathbf{L})\mathbf{y},&#10;\]&#10;&#10;where&#10;&#10;\[&#10;\mathbf{L}&#10;=&#10;\begin{bmatrix}&#10;\mathbf{x}_1^{\mathsf T}&#10;\left(\mathbf{X}^{\mathsf T}\mathbf{W}(1)\mathbf{X}\right)^{-1}&#10;\mathbf{X}^{\mathsf T}\mathbf{W}(1)&#10;\\[2mm]&#10;\mathbf{x}_2^{\mathsf T}&#10;\left(\mathbf{X}^{\mathsf T}\mathbf{W}(2)\mathbf{X}\right)^{-1}&#10;\mathbf{X}^{\mathsf T}\mathbf{W}(2)&#10;\\&#10;\vdots&#10;\\&#10;\mathbf{x}_n^{\mathsf T}&#10;\left(\mathbf{X}^{\mathsf T}\mathbf{W}(n)\mathbf{X}\right)^{-1}&#10;\mathbf{X}^{\mathsf T}\mathbf{W}(n)&#10;\end{bmatrix}.&#10;\]&#10;&#10;\[&#10;RSS_g&#10;=&#10;\widehat{\boldsymbol{\varepsilon}}^{\mathsf T}&#10;\widehat{\boldsymbol{\varepsilon}}&#10;=&#10;\mathbf{y}^{\mathsf T}&#10;(\mathbf{I}-\mathbf{L})^{\mathsf T}&#10;(\mathbf{I}-\mathbf{L})&#10;\mathbf{y}.&#10;\]&#10;&#10;\[&#10;\delta_i&#10;=&#10;\operatorname{tr}&#10;\left\{&#10;\left[&#10;(\mathbf{I}-\mathbf{L})^{\mathsf T}&#10;(\mathbf{I}-\mathbf{L})&#10;\right]^i&#10;\right\},&#10;\qquad i=1,2,&#10;\]&#10;&#10;\[&#10;\widehat{\sigma}^{2}&#10;=&#10;\frac{RSS_g}{\delta_1}.&#10;\]&#10;&#10;&#10;\end{document}" title="IguanaTex Picture Display">
            <a:extLst>
              <a:ext uri="{FF2B5EF4-FFF2-40B4-BE49-F238E27FC236}">
                <a16:creationId xmlns:a16="http://schemas.microsoft.com/office/drawing/2014/main" id="{6B61E72D-064D-337A-DF39-4B5D36303F5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304" y="1576428"/>
            <a:ext cx="4715428" cy="3705143"/>
          </a:xfrm>
          <a:prstGeom prst="rect">
            <a:avLst/>
          </a:prstGeom>
        </p:spPr>
      </p:pic>
      <p:pic>
        <p:nvPicPr>
          <p:cNvPr id="30" name="圖片 29" descr="\documentclass{article}&#10;\usepackage{amsmath}&#10;\pagestyle{empty}&#10;\begin{document}&#10;&#10;\[&#10;V_k^2&#10;=&#10;\frac{1}{n}&#10;\sum_{i=1}^{n}&#10;\left(&#10;\widehat{\beta}_{ik}&#10;-&#10;\frac{1}{n}\sum_{j=1}^{n}\widehat{\beta}_{jk}&#10;\right)^2.&#10;\]&#10;&#10;Equivalently,&#10;&#10;\[&#10;V_k^2&#10;=&#10;\frac{1}{n}&#10;\widehat{\boldsymbol{\beta}}_k^{\mathsf T}&#10;\left(&#10;\mathbf{I}-\frac{1}{n}\mathbf{J}&#10;\right)&#10;\widehat{\boldsymbol{\beta}}_k,&#10;\]&#10;&#10;where \(\mathbf{J}\) is an \(n\times n\) matrix whose elements are all equal to one.&#10;&#10;\[&#10;\gamma_i&#10;=&#10;\operatorname{tr}&#10;\left\{&#10;\left[&#10;\frac{1}{n}&#10;\mathbf{B}_k^{\mathsf T}&#10;\left(&#10;\mathbf{I}-\frac{1}{n}\mathbf{J}&#10;\right)&#10;\mathbf{B}_k&#10;\right]^i&#10;\right\},&#10;\qquad i=1,2.&#10;\]&#10;&#10;&#10;\end{document}" title="IguanaTex Picture Display">
            <a:extLst>
              <a:ext uri="{FF2B5EF4-FFF2-40B4-BE49-F238E27FC236}">
                <a16:creationId xmlns:a16="http://schemas.microsoft.com/office/drawing/2014/main" id="{35CEBAA9-23D4-0BEB-944F-6EF454093C3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940" y="1024905"/>
            <a:ext cx="5285714" cy="2770286"/>
          </a:xfrm>
          <a:prstGeom prst="rect">
            <a:avLst/>
          </a:prstGeom>
        </p:spPr>
      </p:pic>
      <p:pic>
        <p:nvPicPr>
          <p:cNvPr id="28" name="圖片 27" descr="\documentclass{article}&#10;\usepackage{amsmath}&#10;\pagestyle{empty}&#10;\begin{document}&#10;&#10;\[&#10;\widehat{\boldsymbol{\beta}}_k&#10;=&#10;\begin{bmatrix}&#10;\widehat{\beta}_{1k} &amp;&#10;\widehat{\beta}_{2k} &amp;&#10;\cdots &amp;&#10;\widehat{\beta}_{nk}&#10;\end{bmatrix}^{\mathsf T}&#10;=&#10;\mathbf{B}_k\mathbf{y},&#10;\]&#10;&#10;where&#10;&#10;\[&#10;\mathbf{B}_k&#10;=&#10;\begin{bmatrix}&#10;\mathbf{e}_k^{\mathsf T}&#10;\left(\mathbf{X}^{\mathsf T}\mathbf{W}(1)\mathbf{X}\right)^{-1}&#10;\mathbf{X}^{\mathsf T}\mathbf{W}(1)&#10;\\[2mm]&#10;\mathbf{e}_k^{\mathsf T}&#10;\left(\mathbf{X}^{\mathsf T}\mathbf{W}(2)\mathbf{X}\right)^{-1}&#10;\mathbf{X}^{\mathsf T}\mathbf{W}(2)&#10;\\&#10;\vdots&#10;\\&#10;\mathbf{e}_k^{\mathsf T}&#10;\left(\mathbf{X}^{\mathsf T}\mathbf{W}(n)\mathbf{X}\right)^{-1}&#10;\mathbf{X}^{\mathsf T}\mathbf{W}(n)&#10;\end{bmatrix}.&#10;\]&#10;&#10;&#10;\end{document}" title="IguanaTex Picture Display">
            <a:extLst>
              <a:ext uri="{FF2B5EF4-FFF2-40B4-BE49-F238E27FC236}">
                <a16:creationId xmlns:a16="http://schemas.microsoft.com/office/drawing/2014/main" id="{AE934110-8068-636B-2315-7A548A298712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940" y="4090593"/>
            <a:ext cx="4555428" cy="2162286"/>
          </a:xfrm>
          <a:prstGeom prst="rect">
            <a:avLst/>
          </a:prstGeom>
        </p:spPr>
      </p:pic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AF8DD886-CAD6-2441-6B96-E4CA1D1AB470}"/>
              </a:ext>
            </a:extLst>
          </p:cNvPr>
          <p:cNvCxnSpPr>
            <a:cxnSpLocks/>
          </p:cNvCxnSpPr>
          <p:nvPr/>
        </p:nvCxnSpPr>
        <p:spPr>
          <a:xfrm>
            <a:off x="6096000" y="1026457"/>
            <a:ext cx="0" cy="52891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02303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77273-F941-9C12-53BC-0051652DF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A97880A-4F2D-72F1-D3FA-33F9E542AE5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2A2DC8-61BC-090F-2E01-CD10DFB67051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檢驗參數非平穩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F-test by Leung et al.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（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2000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）</a:t>
            </a:r>
          </a:p>
        </p:txBody>
      </p:sp>
      <p:pic>
        <p:nvPicPr>
          <p:cNvPr id="45" name="圖片 44" descr="\documentclass{article}&#10;\usepackage{amsmath}&#10;\pagestyle{empty}&#10;\begin{document}&#10;\begin{flushleft}&#10;\[&#10;\begin{aligned}&#10;&amp;H_0:\quad&#10;\beta_{1k}=\beta_{2k}=\cdots=\beta_{nk},&#10;\\[1mm]&#10;&amp;H_1:\quad&#10;\text{not all }&#10;\beta_{ik},\quad i=1,\ldots,n,&#10;\text{ are equal},&#10;\\[3mm]&#10;&amp;F_3(k)&#10;=&#10;\frac{V_k^2/\gamma_1}&#10;{\widehat{\sigma}^{2}}\overset{H_0}{\sim}&#10;F\left(&#10;\frac{\gamma_1^2}{\gamma_2},&#10;\frac{d_1^2}{d_2}&#10;\right)&#10;\\&#10;&amp;\text{Reject }H_0&#10;\; \text{if}\;&#10;F_3(k)&#10;\geq&#10;F_{\alpha}&#10;\left(&#10;\frac{\gamma_1^2}{\gamma_2},&#10;\frac{d_1^2}{d_2}&#10;\right).&#10;\end{aligned}&#10;\]&#10;\end{flushleft}&#10;&#10;\end{document}" title="IguanaTex Picture Display">
            <a:extLst>
              <a:ext uri="{FF2B5EF4-FFF2-40B4-BE49-F238E27FC236}">
                <a16:creationId xmlns:a16="http://schemas.microsoft.com/office/drawing/2014/main" id="{86B58F74-81B0-1185-E5AB-B39B649B589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4463" y="2330837"/>
            <a:ext cx="5383074" cy="2662504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17D0C066-CCF0-017C-B288-B994D7DE7C7D}"/>
              </a:ext>
            </a:extLst>
          </p:cNvPr>
          <p:cNvSpPr txBox="1"/>
          <p:nvPr/>
        </p:nvSpPr>
        <p:spPr>
          <a:xfrm>
            <a:off x="3043518" y="1671031"/>
            <a:ext cx="25594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b="1" i="0" u="none" strike="noStrike" baseline="0" dirty="0">
                <a:solidFill>
                  <a:srgbClr val="000000"/>
                </a:solidFill>
                <a:effectLst/>
                <a:latin typeface="CMU Serif" panose="02000603000000000000" pitchFamily="2" charset="0"/>
                <a:ea typeface="標楷體" panose="03000509000000000000" pitchFamily="65" charset="-120"/>
              </a:rPr>
              <a:t>Leung F3 Test</a:t>
            </a:r>
            <a:endParaRPr lang="zh-TW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0033334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35EFB-DF0C-23AF-E2A2-39A6F71FA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60CBC41-5339-A122-BB53-5DE5FA90D29B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5C201EE-B56F-6A45-5521-8A02FA5BD46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檢驗參數非平穩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F-test by Leung et al.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（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2000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）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9069178-0D40-2337-5D96-2E88A5B016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"/>
          <a:stretch>
            <a:fillRect/>
          </a:stretch>
        </p:blipFill>
        <p:spPr>
          <a:xfrm>
            <a:off x="1929697" y="702610"/>
            <a:ext cx="8332607" cy="5796803"/>
          </a:xfrm>
          <a:prstGeom prst="rect">
            <a:avLst/>
          </a:prstGeom>
        </p:spPr>
      </p:pic>
      <p:sp>
        <p:nvSpPr>
          <p:cNvPr id="9" name="矩形: 圓角 8">
            <a:extLst>
              <a:ext uri="{FF2B5EF4-FFF2-40B4-BE49-F238E27FC236}">
                <a16:creationId xmlns:a16="http://schemas.microsoft.com/office/drawing/2014/main" id="{E98F72B2-5A3C-14DE-0FD9-9F02E2098954}"/>
              </a:ext>
            </a:extLst>
          </p:cNvPr>
          <p:cNvSpPr/>
          <p:nvPr/>
        </p:nvSpPr>
        <p:spPr>
          <a:xfrm>
            <a:off x="1929697" y="2734235"/>
            <a:ext cx="8218350" cy="923365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E27A7EE6-37F3-BA66-0843-8A4CFF6DDAA5}"/>
              </a:ext>
            </a:extLst>
          </p:cNvPr>
          <p:cNvSpPr/>
          <p:nvPr/>
        </p:nvSpPr>
        <p:spPr>
          <a:xfrm>
            <a:off x="1986825" y="3926541"/>
            <a:ext cx="8218350" cy="1398493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54341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E8DF3-E9F4-2E90-BEF6-BA81F0EC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529FB1C6-376A-63D7-03C1-CCAC4CA7F6E1}"/>
              </a:ext>
            </a:extLst>
          </p:cNvPr>
          <p:cNvSpPr/>
          <p:nvPr/>
        </p:nvSpPr>
        <p:spPr>
          <a:xfrm>
            <a:off x="98612" y="1305770"/>
            <a:ext cx="12012706" cy="5086065"/>
          </a:xfrm>
          <a:prstGeom prst="roundRect">
            <a:avLst>
              <a:gd name="adj" fmla="val 3624"/>
            </a:avLst>
          </a:prstGeom>
          <a:solidFill>
            <a:srgbClr val="F3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56C5C8A-7656-2363-57B0-C280D269F70C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CDFFCBA-6533-80B2-285B-3EA3C05ABFC8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信賴區間</a:t>
            </a: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1AC9A1C1-3E9B-125F-2DC1-93A6BA564578}"/>
              </a:ext>
            </a:extLst>
          </p:cNvPr>
          <p:cNvCxnSpPr>
            <a:cxnSpLocks/>
          </p:cNvCxnSpPr>
          <p:nvPr/>
        </p:nvCxnSpPr>
        <p:spPr>
          <a:xfrm>
            <a:off x="6415856" y="1472960"/>
            <a:ext cx="0" cy="47440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7D2FF0EA-5B12-616C-C24B-C29818FE5EB0}"/>
              </a:ext>
            </a:extLst>
          </p:cNvPr>
          <p:cNvSpPr txBox="1"/>
          <p:nvPr/>
        </p:nvSpPr>
        <p:spPr>
          <a:xfrm>
            <a:off x="336176" y="905660"/>
            <a:ext cx="70597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信賴區間推導方法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加權最小平方法轉換為矩陣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</a:t>
            </a:r>
            <a:endParaRPr lang="zh-TW" altLang="en-US" sz="2000" b="1" dirty="0"/>
          </a:p>
        </p:txBody>
      </p:sp>
      <p:pic>
        <p:nvPicPr>
          <p:cNvPr id="49" name="圖片 48" descr="\documentclass{article}&#10;\usepackage{amsmath}&#10;\pagestyle{empty}&#10;\begin{document}&#10;&#10;&#10;&#10;&#10;\[&#10;\hat{\boldsymbol{\beta}}(u_i,v_i)&#10;=&#10;\left(\mathbf{X}^{T}\mathbf{W}(u_i,v_i)\mathbf{X}\right)^{-1}&#10;\mathbf{X}^{T}\mathbf{W}(u_i,v_i)\mathbf{y}&#10;=&#10;\mathbf{C}(u_i,v_i)\mathbf{y}&#10;\]&#10;&#10;where&#10;&#10;\[&#10;\begin{aligned}&#10;\mathbf{X} &amp;:\ \text{matrix of independent-variable data},\\&#10;\mathbf{y} &amp;:\ \text{vector of dependent-variable data},\\&#10;\mathbf{W}(u_i,v_i) &amp;:\ \text{weight matrix},\\&#10;\hat{\boldsymbol{\beta}}(u_i,v_i) &amp;:\ \text{vector of locally estimated coefficients}.&#10;\end{aligned}&#10;\]&#10;&#10;Under the model assumptions,&#10;&#10;\[&#10;\operatorname{Var}(\mathbf{y})=\sigma^{2}\mathbf{I}&#10;\qquad \text{and} \qquad&#10;\hat{\boldsymbol{\beta}}(u_i,v_i)=\mathbf{C}_i\mathbf{y}.&#10;\]&#10;&#10;Therefore,&#10;&#10;\[&#10;\operatorname{Var}(\hat{\boldsymbol{\beta}}(u_i,v_i))&#10;=&#10;\mathbf{C}_i\mathbf{C}_i^{T}\sigma^{2}.&#10;\]&#10;&#10;For the coefficient \(\beta_j(u_i,v_i)\), the confidence interval is derived from&#10;&#10;\[&#10;\operatorname{Var}(\hat{\boldsymbol{\beta}}(u_i,v_i))&#10;=&#10;\mathbf{C}_i \mathbf{C}_i^{T}(u_i,v_i)\sigma^{2},&#10;\]&#10;&#10;&#10;&#10;\end{document}&#10;&#10;" title="IguanaTex Picture Display">
            <a:extLst>
              <a:ext uri="{FF2B5EF4-FFF2-40B4-BE49-F238E27FC236}">
                <a16:creationId xmlns:a16="http://schemas.microsoft.com/office/drawing/2014/main" id="{91A72358-F0FC-8B6F-5263-23E11BB0694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962" y="1631316"/>
            <a:ext cx="5950174" cy="4567773"/>
          </a:xfrm>
          <a:prstGeom prst="rect">
            <a:avLst/>
          </a:prstGeom>
        </p:spPr>
      </p:pic>
      <p:pic>
        <p:nvPicPr>
          <p:cNvPr id="47" name="圖片 46" descr="\documentclass{article}&#10;\usepackage{amsmath}&#10;\pagestyle{empty}&#10;\begin{document}&#10;&#10;which gives&#10;&#10;\[&#10;\operatorname{SE}\!\left(&#10;\hat{\beta}_{j}(u_i,v_i)&#10;\right)&#10;=&#10;\sqrt{&#10;\left(&#10;\mathbf{C}_i\mathbf{C}_i^{T}&#10;\right)_{jj}\sigma^{2}&#10;}.&#10;\]&#10;&#10;Hence, the confidence interval for \(\beta_j\) is&#10;&#10;\[&#10;\hat{\beta}_{j}&#10;\pm&#10;z_{\alpha/2}\,&#10;\operatorname{SE}(\hat{\beta}_{j}),&#10;\]&#10;&#10;or, when \(\sigma^{2}\) is estimated and a \(t\)-distribution is used,&#10;&#10;\[&#10;\hat{\beta}_{j}&#10;\pm&#10;t_{\alpha/2,\mathrm{df}}\,&#10;\operatorname{SE}(\hat{\beta}_{j}).&#10;\]&#10;&#10;&#10;&#10;\end{document}" title="IguanaTex Picture Display">
            <a:extLst>
              <a:ext uri="{FF2B5EF4-FFF2-40B4-BE49-F238E27FC236}">
                <a16:creationId xmlns:a16="http://schemas.microsoft.com/office/drawing/2014/main" id="{192AAD34-4A01-891E-0606-311F8970B81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1486" y="1747859"/>
            <a:ext cx="4682362" cy="2446628"/>
          </a:xfrm>
          <a:prstGeom prst="rect">
            <a:avLst/>
          </a:prstGeom>
        </p:spPr>
      </p:pic>
      <p:sp>
        <p:nvSpPr>
          <p:cNvPr id="51" name="文字方塊 50">
            <a:extLst>
              <a:ext uri="{FF2B5EF4-FFF2-40B4-BE49-F238E27FC236}">
                <a16:creationId xmlns:a16="http://schemas.microsoft.com/office/drawing/2014/main" id="{106CC46D-9944-B661-5A57-7D527A430A81}"/>
              </a:ext>
            </a:extLst>
          </p:cNvPr>
          <p:cNvSpPr txBox="1"/>
          <p:nvPr/>
        </p:nvSpPr>
        <p:spPr>
          <a:xfrm>
            <a:off x="7987551" y="5923283"/>
            <a:ext cx="41058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模擬實驗發現此信賴區間涵蓋率不穩定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6610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B6BDD-B458-E43B-8241-FAEA911C2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6A6C778-F190-955C-4DE2-7204C75A300B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89EEF527-81B9-3A7A-0067-50EEF92FA32F}"/>
              </a:ext>
            </a:extLst>
          </p:cNvPr>
          <p:cNvSpPr/>
          <p:nvPr/>
        </p:nvSpPr>
        <p:spPr>
          <a:xfrm>
            <a:off x="1223963" y="2332831"/>
            <a:ext cx="9744075" cy="1468438"/>
          </a:xfrm>
          <a:prstGeom prst="roundRect">
            <a:avLst/>
          </a:prstGeom>
          <a:solidFill>
            <a:srgbClr val="3333B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實作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1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: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</a:t>
            </a:r>
            <a:r>
              <a:rPr lang="en-US" altLang="zh-TW" sz="3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3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估計流程</a:t>
            </a:r>
            <a:endParaRPr lang="zh-TW" altLang="en-US" sz="360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738852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32696-D513-38B8-DF3D-413068D03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46E915B-71A0-975A-AADC-9F0D9CD524C6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4A4EF66-3E27-1DBF-2D73-2C1F4D1FFB29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概述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5ED2D9E-CDD1-068D-4F58-FA01553312CA}"/>
              </a:ext>
            </a:extLst>
          </p:cNvPr>
          <p:cNvSpPr txBox="1"/>
          <p:nvPr/>
        </p:nvSpPr>
        <p:spPr>
          <a:xfrm>
            <a:off x="871258" y="1971980"/>
            <a:ext cx="10449485" cy="3285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參考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Fotheringham et al. (2002). Geographically Weighted Regression. pp.97-102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估計流程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使用資料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喬治亞州縣級資料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近鄰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bandwidth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搭配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bi-square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權重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測試多個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，選擇 </a:t>
            </a:r>
            <a:r>
              <a:rPr lang="en-US" altLang="zh-TW" sz="20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表現最好的模型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於地圖範圍設置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40*40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網格作為迴歸點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於迴歸點訓練模型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將各解釋變數之局部迴歸係數視覺化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167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1DDF5-1559-B0DC-A894-688B9E8B1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9D8AB0B-45D9-9AD4-D830-66F6F7D679DC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71A0BAE-4853-3649-B564-C61CCF8576FC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資料介紹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B2ABFC7-57C1-9857-37ED-6805A3FAD798}"/>
              </a:ext>
            </a:extLst>
          </p:cNvPr>
          <p:cNvSpPr txBox="1"/>
          <p:nvPr/>
        </p:nvSpPr>
        <p:spPr>
          <a:xfrm>
            <a:off x="284441" y="871784"/>
            <a:ext cx="9926170" cy="1719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 </a:t>
            </a:r>
            <a:r>
              <a:rPr lang="en-US" altLang="zh-TW" sz="1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zh-TW" altLang="en-US" sz="1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套件內建之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Georgia census data set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美國喬治亞州縣級人口普查資料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每筆觀測值代表喬治亞州的一個縣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159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筆觀測值、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13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個變數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7926FD77-1250-FA98-ABBD-86DDCB3567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987787"/>
              </p:ext>
            </p:extLst>
          </p:nvPr>
        </p:nvGraphicFramePr>
        <p:xfrm>
          <a:off x="5800166" y="1220820"/>
          <a:ext cx="6209178" cy="4624172"/>
        </p:xfrm>
        <a:graphic>
          <a:graphicData uri="http://schemas.openxmlformats.org/drawingml/2006/table">
            <a:tbl>
              <a:tblPr/>
              <a:tblGrid>
                <a:gridCol w="1006048">
                  <a:extLst>
                    <a:ext uri="{9D8B030D-6E8A-4147-A177-3AD203B41FA5}">
                      <a16:colId xmlns:a16="http://schemas.microsoft.com/office/drawing/2014/main" val="4182461831"/>
                    </a:ext>
                  </a:extLst>
                </a:gridCol>
                <a:gridCol w="1121495">
                  <a:extLst>
                    <a:ext uri="{9D8B030D-6E8A-4147-A177-3AD203B41FA5}">
                      <a16:colId xmlns:a16="http://schemas.microsoft.com/office/drawing/2014/main" val="2101174915"/>
                    </a:ext>
                  </a:extLst>
                </a:gridCol>
                <a:gridCol w="4081635">
                  <a:extLst>
                    <a:ext uri="{9D8B030D-6E8A-4147-A177-3AD203B41FA5}">
                      <a16:colId xmlns:a16="http://schemas.microsoft.com/office/drawing/2014/main" val="2304305079"/>
                    </a:ext>
                  </a:extLst>
                </a:gridCol>
              </a:tblGrid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變數名稱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角色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變數說明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963794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AreaKey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識別變數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各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的識別編號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28880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Latitude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的緯度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604691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Longitud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的經度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865977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TotPop90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背景變數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1990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年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總人口數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3656052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PctBach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應變數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中具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學士學位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的人口比例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0156842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中被定義為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rural population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8621054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 </a:t>
                      </a:r>
                      <a:r>
                        <a:rPr lang="en-US" altLang="zh-TW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65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歲以上人口比例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183123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中非美國出生人口比例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844356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中低於貧窮線人口比例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44006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黑人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人口比例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9474209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識別變數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數值型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61594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225209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962504"/>
                  </a:ext>
                </a:extLst>
              </a:tr>
            </a:tbl>
          </a:graphicData>
        </a:graphic>
      </p:graphicFrame>
      <p:pic>
        <p:nvPicPr>
          <p:cNvPr id="32" name="圖片 31" descr="\documentclass{article}&#10;\usepackage{amsmath}&#10;\pagestyle{empty}&#10;\begin{document}&#10;\[&#10;\begin{aligned}&#10;PctBach_i&#10;&amp;= \beta_0(i) \\&#10;&amp;+ \beta_1(i)PctRural_i \\&#10;&amp;+ \beta_2(i)PctEld_i \\&#10;&amp;+ \beta_3(i)PctFB_i \\&#10;&amp;+ \beta_4(i)PctPov_i \\&#10;&amp;+ \beta_5(i)PctBlack_i \\&#10;&amp;+ \epsilon_i&#10;\end{aligned}&#10;\]&#10;\[&#10;\text{where i: ith point in the space.}&#10;\]&#10;\end{document}" title="IguanaTex Picture Display">
            <a:extLst>
              <a:ext uri="{FF2B5EF4-FFF2-40B4-BE49-F238E27FC236}">
                <a16:creationId xmlns:a16="http://schemas.microsoft.com/office/drawing/2014/main" id="{802441B4-E88B-699D-10D3-3D01FB36A1A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298" y="3194911"/>
            <a:ext cx="3181467" cy="2764389"/>
          </a:xfrm>
          <a:prstGeom prst="rect">
            <a:avLst/>
          </a:prstGeom>
        </p:spPr>
      </p:pic>
      <p:sp>
        <p:nvSpPr>
          <p:cNvPr id="27" name="文字方塊 26">
            <a:extLst>
              <a:ext uri="{FF2B5EF4-FFF2-40B4-BE49-F238E27FC236}">
                <a16:creationId xmlns:a16="http://schemas.microsoft.com/office/drawing/2014/main" id="{A86C31AB-B8A9-61D3-8AF2-B12D1D060180}"/>
              </a:ext>
            </a:extLst>
          </p:cNvPr>
          <p:cNvSpPr txBox="1"/>
          <p:nvPr/>
        </p:nvSpPr>
        <p:spPr>
          <a:xfrm>
            <a:off x="284441" y="2683824"/>
            <a:ext cx="30476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模型設定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endParaRPr lang="zh-TW" altLang="en-US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1F53213B-A7FB-B8F5-19F4-C6C3CC69B391}"/>
              </a:ext>
            </a:extLst>
          </p:cNvPr>
          <p:cNvSpPr txBox="1"/>
          <p:nvPr/>
        </p:nvSpPr>
        <p:spPr>
          <a:xfrm>
            <a:off x="8255184" y="5917029"/>
            <a:ext cx="39108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pp.16-17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39394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C40E2-50FE-365F-00D9-45FC12CC2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4CC0E3E-6FC9-F6BE-9C03-FFD140EBFE1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0622523-F8CB-AD13-8111-0D9B7698EB0A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流程概述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6F7D3B4-012F-5C8C-966B-E31D417BF016}"/>
              </a:ext>
            </a:extLst>
          </p:cNvPr>
          <p:cNvSpPr txBox="1"/>
          <p:nvPr/>
        </p:nvSpPr>
        <p:spPr>
          <a:xfrm>
            <a:off x="4581526" y="4263197"/>
            <a:ext cx="19873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最佳近鄰數</a:t>
            </a:r>
            <a:endParaRPr lang="en-US" altLang="zh-TW" dirty="0">
              <a:solidFill>
                <a:srgbClr val="FF0000"/>
              </a:solidFill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algn="ctr"/>
            <a:r>
              <a:rPr lang="en-US" altLang="zh-TW" dirty="0" err="1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en-US" altLang="zh-TW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,</a:t>
            </a:r>
            <a:r>
              <a:rPr lang="zh-TW" altLang="en-US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GCV: 136</a:t>
            </a:r>
          </a:p>
          <a:p>
            <a:pPr algn="ctr"/>
            <a:r>
              <a:rPr lang="en-US" altLang="zh-TW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CV: 140</a:t>
            </a:r>
            <a:endParaRPr lang="zh-TW" altLang="en-US" dirty="0"/>
          </a:p>
        </p:txBody>
      </p:sp>
      <p:sp>
        <p:nvSpPr>
          <p:cNvPr id="3" name="箭號: 五邊形 2">
            <a:extLst>
              <a:ext uri="{FF2B5EF4-FFF2-40B4-BE49-F238E27FC236}">
                <a16:creationId xmlns:a16="http://schemas.microsoft.com/office/drawing/2014/main" id="{52CC466E-4184-7BFA-D281-899C04AF18A1}"/>
              </a:ext>
            </a:extLst>
          </p:cNvPr>
          <p:cNvSpPr/>
          <p:nvPr/>
        </p:nvSpPr>
        <p:spPr>
          <a:xfrm>
            <a:off x="930650" y="3182769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引入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</a:p>
          <a:p>
            <a:pPr algn="ctr"/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Georgia</a:t>
            </a:r>
          </a:p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資料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6" name="箭號: 五邊形 5">
            <a:extLst>
              <a:ext uri="{FF2B5EF4-FFF2-40B4-BE49-F238E27FC236}">
                <a16:creationId xmlns:a16="http://schemas.microsoft.com/office/drawing/2014/main" id="{D2467ECC-F66E-F160-2B34-7B7D6A69BAAE}"/>
              </a:ext>
            </a:extLst>
          </p:cNvPr>
          <p:cNvSpPr/>
          <p:nvPr/>
        </p:nvSpPr>
        <p:spPr>
          <a:xfrm>
            <a:off x="2786344" y="3182769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變數選擇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8" name="箭號: 五邊形 7">
            <a:extLst>
              <a:ext uri="{FF2B5EF4-FFF2-40B4-BE49-F238E27FC236}">
                <a16:creationId xmlns:a16="http://schemas.microsoft.com/office/drawing/2014/main" id="{44D6FE55-7A77-E37B-7B67-CC1F667F2927}"/>
              </a:ext>
            </a:extLst>
          </p:cNvPr>
          <p:cNvSpPr/>
          <p:nvPr/>
        </p:nvSpPr>
        <p:spPr>
          <a:xfrm>
            <a:off x="4713756" y="3182769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 err="1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bw.gwr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()</a:t>
            </a:r>
          </a:p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帶寬選擇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2" name="箭號: 五邊形 1">
            <a:extLst>
              <a:ext uri="{FF2B5EF4-FFF2-40B4-BE49-F238E27FC236}">
                <a16:creationId xmlns:a16="http://schemas.microsoft.com/office/drawing/2014/main" id="{5B80516A-4CEC-CBBC-7ABA-5F27307B3785}"/>
              </a:ext>
            </a:extLst>
          </p:cNvPr>
          <p:cNvSpPr/>
          <p:nvPr/>
        </p:nvSpPr>
        <p:spPr>
          <a:xfrm>
            <a:off x="6568888" y="3182769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對 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159</a:t>
            </a:r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 個迴歸點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配適模型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9" name="箭號: 五邊形 8">
            <a:extLst>
              <a:ext uri="{FF2B5EF4-FFF2-40B4-BE49-F238E27FC236}">
                <a16:creationId xmlns:a16="http://schemas.microsoft.com/office/drawing/2014/main" id="{C9173712-C3AF-5A93-859F-8A42FA7F57EA}"/>
              </a:ext>
            </a:extLst>
          </p:cNvPr>
          <p:cNvSpPr/>
          <p:nvPr/>
        </p:nvSpPr>
        <p:spPr>
          <a:xfrm>
            <a:off x="8424020" y="3177347"/>
            <a:ext cx="2665321" cy="1085850"/>
          </a:xfrm>
          <a:prstGeom prst="homePlate">
            <a:avLst>
              <a:gd name="adj" fmla="val 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Monte Carlo </a:t>
            </a:r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排列檢定、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Leung F3 Test</a:t>
            </a:r>
          </a:p>
        </p:txBody>
      </p:sp>
    </p:spTree>
    <p:extLst>
      <p:ext uri="{BB962C8B-B14F-4D97-AF65-F5344CB8AC3E}">
        <p14:creationId xmlns:p14="http://schemas.microsoft.com/office/powerpoint/2010/main" val="40270566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DA5F9-0209-64EC-49F1-46F6BE55E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D42680F-2441-E785-C800-CEF61E698367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FC0B31B-CFAF-33F1-3ACA-D631F0F6066B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0B08E4E7-125B-15D2-DA0C-3E445C229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795237"/>
              </p:ext>
            </p:extLst>
          </p:nvPr>
        </p:nvGraphicFramePr>
        <p:xfrm>
          <a:off x="1053352" y="1335343"/>
          <a:ext cx="10085296" cy="4464414"/>
        </p:xfrm>
        <a:graphic>
          <a:graphicData uri="http://schemas.openxmlformats.org/drawingml/2006/table">
            <a:tbl>
              <a:tblPr/>
              <a:tblGrid>
                <a:gridCol w="1368624">
                  <a:extLst>
                    <a:ext uri="{9D8B030D-6E8A-4147-A177-3AD203B41FA5}">
                      <a16:colId xmlns:a16="http://schemas.microsoft.com/office/drawing/2014/main" val="3513716776"/>
                    </a:ext>
                  </a:extLst>
                </a:gridCol>
                <a:gridCol w="4168843">
                  <a:extLst>
                    <a:ext uri="{9D8B030D-6E8A-4147-A177-3AD203B41FA5}">
                      <a16:colId xmlns:a16="http://schemas.microsoft.com/office/drawing/2014/main" val="853074265"/>
                    </a:ext>
                  </a:extLst>
                </a:gridCol>
                <a:gridCol w="4547829">
                  <a:extLst>
                    <a:ext uri="{9D8B030D-6E8A-4147-A177-3AD203B41FA5}">
                      <a16:colId xmlns:a16="http://schemas.microsoft.com/office/drawing/2014/main" val="67012740"/>
                    </a:ext>
                  </a:extLst>
                </a:gridCol>
              </a:tblGrid>
              <a:tr h="3161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意義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報告設定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826347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formula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迴歸模型公式，指定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和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PctBach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~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3139915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空間資料，須為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Spatial*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DataFrame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或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sf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物件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將套件原廠資料轉換為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SPDF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4597776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approach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選擇方法，可用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CV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或 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approach = "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"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2126352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kernel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空間權重函數，決定距離如何轉成權重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kernel = "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bisquare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"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5175538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 bandwidth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 = TRUE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171111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Minkowski distance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次方數，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 = 2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是歐式距離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 = 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622580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theta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是否旋轉座標系統，用於調整距離方向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theta = 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588577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longlat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是否使用經緯度大圓距離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7657552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dMat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事先算好的距離矩陣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省略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(p=2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已自動計算距離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8953139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parallel.method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是否使用平行運算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805280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parallel.arg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平行運算的細部設定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Null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5330651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D15F6E59-5053-3BFB-98FD-D79A20933A75}"/>
              </a:ext>
            </a:extLst>
          </p:cNvPr>
          <p:cNvSpPr txBox="1"/>
          <p:nvPr/>
        </p:nvSpPr>
        <p:spPr>
          <a:xfrm>
            <a:off x="741827" y="966011"/>
            <a:ext cx="39467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bw.gwr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()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參數內容 </a:t>
            </a:r>
            <a:endParaRPr lang="zh-TW" altLang="en-US" sz="20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F8006B37-2A4B-D082-9BEE-B72F06F20DF3}"/>
              </a:ext>
            </a:extLst>
          </p:cNvPr>
          <p:cNvSpPr txBox="1"/>
          <p:nvPr/>
        </p:nvSpPr>
        <p:spPr>
          <a:xfrm>
            <a:off x="8116421" y="5863355"/>
            <a:ext cx="39108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p.10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EE81367-D3BC-19BE-02A9-2AE490267E6D}"/>
              </a:ext>
            </a:extLst>
          </p:cNvPr>
          <p:cNvSpPr txBox="1"/>
          <p:nvPr/>
        </p:nvSpPr>
        <p:spPr>
          <a:xfrm>
            <a:off x="939050" y="5894133"/>
            <a:ext cx="47535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輸出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 參數設定下最佳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bandwidth</a:t>
            </a:r>
            <a:endParaRPr lang="zh-TW" altLang="en-US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407376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C9F06-986A-14BA-CDAD-684B977E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26E35FC-5EC1-1694-570C-D9742F5F02CD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667CF3E-0669-258D-1587-5BAC3A7A2FD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F102A80-BD63-954B-5D9F-98F833B36048}"/>
              </a:ext>
            </a:extLst>
          </p:cNvPr>
          <p:cNvSpPr txBox="1"/>
          <p:nvPr/>
        </p:nvSpPr>
        <p:spPr>
          <a:xfrm>
            <a:off x="741826" y="825925"/>
            <a:ext cx="30233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gwr.basic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()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參數內容</a:t>
            </a:r>
            <a:endParaRPr lang="zh-TW" altLang="en-US" sz="20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8F0F5AA-0142-7043-17EC-84E835AB3925}"/>
              </a:ext>
            </a:extLst>
          </p:cNvPr>
          <p:cNvSpPr txBox="1"/>
          <p:nvPr/>
        </p:nvSpPr>
        <p:spPr>
          <a:xfrm>
            <a:off x="8250891" y="6157585"/>
            <a:ext cx="37976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p.40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CC6BCDF1-5853-9F3B-DAC9-FA3BBEAD0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086323"/>
              </p:ext>
            </p:extLst>
          </p:nvPr>
        </p:nvGraphicFramePr>
        <p:xfrm>
          <a:off x="1193831" y="1262911"/>
          <a:ext cx="10263062" cy="4894674"/>
        </p:xfrm>
        <a:graphic>
          <a:graphicData uri="http://schemas.openxmlformats.org/drawingml/2006/table">
            <a:tbl>
              <a:tblPr/>
              <a:tblGrid>
                <a:gridCol w="1432827">
                  <a:extLst>
                    <a:ext uri="{9D8B030D-6E8A-4147-A177-3AD203B41FA5}">
                      <a16:colId xmlns:a16="http://schemas.microsoft.com/office/drawing/2014/main" val="1215660565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572839160"/>
                    </a:ext>
                  </a:extLst>
                </a:gridCol>
                <a:gridCol w="4867835">
                  <a:extLst>
                    <a:ext uri="{9D8B030D-6E8A-4147-A177-3AD203B41FA5}">
                      <a16:colId xmlns:a16="http://schemas.microsoft.com/office/drawing/2014/main" val="1155646927"/>
                    </a:ext>
                  </a:extLst>
                </a:gridCol>
              </a:tblGrid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意義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報告設定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9470424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formula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迴歸模型公式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PctBach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altLang="zh-TW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~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107393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空間資料，須為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Spatial*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DataFrame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或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sf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物件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educ.spdf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613446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regression.points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指定在哪些位置估計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local coefficients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40*40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網格點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410476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</a:t>
                      </a:r>
                      <a:endParaRPr lang="zh-TW" alt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bw.gwr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選定之最佳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17576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kernel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空間權重函數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"bisquare"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4023027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 bandwidth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TRUE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982318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Minkowski distance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的次方，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 = 2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是歐式距離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altLang="zh-TW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sz="14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137218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theta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是否旋轉座標系統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altLang="zh-TW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</a:t>
                      </a:r>
                      <a:endParaRPr lang="zh-TW" altLang="en-US" sz="14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7885158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longlat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是否使用經緯度大圓距離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1023477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dMat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事先算好的距離矩陣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省略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388055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F123.test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是否進行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Leung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三個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F-tests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8590669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cv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是否計算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cross-validation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結果並放入輸出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62473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W.vect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額外給定觀測值權重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NULL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6581189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print() method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用，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gwr.basic()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回傳的物件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不需自己設定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88837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parallel.method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是否用平行運算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21992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parallel.arg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平行運算的細部設定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NULL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6703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52261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586D2-C368-D2F0-D365-1DCC11A0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BF8C0C8-84C1-40CD-360B-EE31B7A9CF84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7D31879-CA96-01E4-70D2-1FF71967ED7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FB483B1-1C52-D533-5685-89C3CF16CFE8}"/>
              </a:ext>
            </a:extLst>
          </p:cNvPr>
          <p:cNvSpPr txBox="1"/>
          <p:nvPr/>
        </p:nvSpPr>
        <p:spPr>
          <a:xfrm>
            <a:off x="1405215" y="1397983"/>
            <a:ext cx="30233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gwr.basic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()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回傳內容</a:t>
            </a:r>
            <a:endParaRPr lang="zh-TW" altLang="en-US" sz="20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8088EE7-321C-197A-D49F-1C8A3223D8B7}"/>
              </a:ext>
            </a:extLst>
          </p:cNvPr>
          <p:cNvSpPr txBox="1"/>
          <p:nvPr/>
        </p:nvSpPr>
        <p:spPr>
          <a:xfrm>
            <a:off x="6735856" y="5540188"/>
            <a:ext cx="37976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p.40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900EB47-CF1A-0BB8-392D-277741D5F2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78920"/>
              </p:ext>
            </p:extLst>
          </p:nvPr>
        </p:nvGraphicFramePr>
        <p:xfrm>
          <a:off x="1990165" y="1859714"/>
          <a:ext cx="8211671" cy="3680474"/>
        </p:xfrm>
        <a:graphic>
          <a:graphicData uri="http://schemas.openxmlformats.org/drawingml/2006/table">
            <a:tbl>
              <a:tblPr/>
              <a:tblGrid>
                <a:gridCol w="1568856">
                  <a:extLst>
                    <a:ext uri="{9D8B030D-6E8A-4147-A177-3AD203B41FA5}">
                      <a16:colId xmlns:a16="http://schemas.microsoft.com/office/drawing/2014/main" val="3775910832"/>
                    </a:ext>
                  </a:extLst>
                </a:gridCol>
                <a:gridCol w="5381772">
                  <a:extLst>
                    <a:ext uri="{9D8B030D-6E8A-4147-A177-3AD203B41FA5}">
                      <a16:colId xmlns:a16="http://schemas.microsoft.com/office/drawing/2014/main" val="3609686065"/>
                    </a:ext>
                  </a:extLst>
                </a:gridCol>
                <a:gridCol w="1261043">
                  <a:extLst>
                    <a:ext uri="{9D8B030D-6E8A-4147-A177-3AD203B41FA5}">
                      <a16:colId xmlns:a16="http://schemas.microsoft.com/office/drawing/2014/main" val="4043273732"/>
                    </a:ext>
                  </a:extLst>
                </a:gridCol>
              </a:tblGrid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回傳項目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意義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報告設定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6086268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GW.arguments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儲存 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GWR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模型參數設定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6506065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GW.diagnostic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模型診斷結果，如 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RSS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、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、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R²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6576205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lm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對應的 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global linear regression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結果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581906"/>
                  </a:ext>
                </a:extLst>
              </a:tr>
              <a:tr h="55948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SDF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最重要的輸出，包含每個地點的 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local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coefficients、yhat、residual、standard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errors、t-values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等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317284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timings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模型開始與結束時間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6755338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this.call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當初執行的 </a:t>
                      </a: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function call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445076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Ftest.res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若 </a:t>
                      </a: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F123.test = TRUE，</a:t>
                      </a: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這裡會存 </a:t>
                      </a: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Leung’s F-tests </a:t>
                      </a: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結果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2304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31022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1EC02-40F4-89F9-03D9-1FD8B10F3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1D9C073-7412-5CFC-54FF-C1F47EFD7504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7EF63F5-DD94-3B5F-C3B3-98052800AD4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手刻程式碼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1FF3621-EEC7-A476-C352-772300A8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018781"/>
              </p:ext>
            </p:extLst>
          </p:nvPr>
        </p:nvGraphicFramePr>
        <p:xfrm>
          <a:off x="1496731" y="1512382"/>
          <a:ext cx="8597527" cy="2479530"/>
        </p:xfrm>
        <a:graphic>
          <a:graphicData uri="http://schemas.openxmlformats.org/drawingml/2006/table">
            <a:tbl>
              <a:tblPr/>
              <a:tblGrid>
                <a:gridCol w="2740141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065315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3792071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1745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函數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輸出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grid()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nrow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, y,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ncol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nrow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*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ncol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網格點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87141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cal_distance_matrix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grid,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obs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所有迴歸點至所有觀測點之距離矩陣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bisquare_adaptive_weight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各觀測點之於單一迴歸點之權重向量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620167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local_lwr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w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單一迴歸點之係數解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421451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gwr_grid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obs, grid, bw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所有迴歸點之係數解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707380"/>
                  </a:ext>
                </a:extLst>
              </a:tr>
            </a:tbl>
          </a:graphicData>
        </a:graphic>
      </p:graphicFrame>
      <p:sp>
        <p:nvSpPr>
          <p:cNvPr id="7" name="左中括弧 6">
            <a:extLst>
              <a:ext uri="{FF2B5EF4-FFF2-40B4-BE49-F238E27FC236}">
                <a16:creationId xmlns:a16="http://schemas.microsoft.com/office/drawing/2014/main" id="{4181F5C5-22AF-572B-4EE0-B2179FB9EDA2}"/>
              </a:ext>
            </a:extLst>
          </p:cNvPr>
          <p:cNvSpPr/>
          <p:nvPr/>
        </p:nvSpPr>
        <p:spPr>
          <a:xfrm>
            <a:off x="1272988" y="2236676"/>
            <a:ext cx="98612" cy="1290918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左中括弧 13">
            <a:extLst>
              <a:ext uri="{FF2B5EF4-FFF2-40B4-BE49-F238E27FC236}">
                <a16:creationId xmlns:a16="http://schemas.microsoft.com/office/drawing/2014/main" id="{AC1A6489-BAF3-FBAF-38BA-965D7EA9082B}"/>
              </a:ext>
            </a:extLst>
          </p:cNvPr>
          <p:cNvSpPr/>
          <p:nvPr/>
        </p:nvSpPr>
        <p:spPr>
          <a:xfrm rot="10800000">
            <a:off x="10219389" y="2752147"/>
            <a:ext cx="103094" cy="811421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DCB316E-1A6E-08C2-5080-E31304ECCFFF}"/>
              </a:ext>
            </a:extLst>
          </p:cNvPr>
          <p:cNvSpPr txBox="1"/>
          <p:nvPr/>
        </p:nvSpPr>
        <p:spPr>
          <a:xfrm>
            <a:off x="10322483" y="2843009"/>
            <a:ext cx="14623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dirty="0">
                <a:solidFill>
                  <a:srgbClr val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迴圈次數 </a:t>
            </a:r>
            <a:r>
              <a:rPr lang="en-US" altLang="zh-TW" sz="1400" dirty="0">
                <a:solidFill>
                  <a:srgbClr val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=</a:t>
            </a:r>
          </a:p>
          <a:p>
            <a:r>
              <a:rPr lang="zh-TW" altLang="en-US" sz="1400" dirty="0">
                <a:solidFill>
                  <a:srgbClr val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迴歸點個數</a:t>
            </a:r>
            <a:endParaRPr lang="zh-TW" altLang="en-US" sz="14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CF6551-14A4-DD7F-FD60-9F8FB00C7DD0}"/>
              </a:ext>
            </a:extLst>
          </p:cNvPr>
          <p:cNvSpPr txBox="1"/>
          <p:nvPr/>
        </p:nvSpPr>
        <p:spPr>
          <a:xfrm>
            <a:off x="1138518" y="1016343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基本估計函數設計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endParaRPr lang="zh-TW" altLang="en-US" sz="2000" b="1" dirty="0"/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9069DB25-7D6C-9B2D-FCA5-848217304F82}"/>
              </a:ext>
            </a:extLst>
          </p:cNvPr>
          <p:cNvSpPr/>
          <p:nvPr/>
        </p:nvSpPr>
        <p:spPr>
          <a:xfrm>
            <a:off x="4202206" y="3527594"/>
            <a:ext cx="2144806" cy="56024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D68DD2E0-A917-84D3-97FE-3215B74060CE}"/>
              </a:ext>
            </a:extLst>
          </p:cNvPr>
          <p:cNvSpPr txBox="1"/>
          <p:nvPr/>
        </p:nvSpPr>
        <p:spPr>
          <a:xfrm>
            <a:off x="5535705" y="4087841"/>
            <a:ext cx="16181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初始全域變數</a:t>
            </a:r>
            <a:endParaRPr lang="zh-TW" altLang="en-US" sz="1600" dirty="0">
              <a:solidFill>
                <a:srgbClr val="FF0000"/>
              </a:solidFill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9DB4E75-897A-E364-66C1-72F9FF53DD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37355"/>
              </p:ext>
            </p:extLst>
          </p:nvPr>
        </p:nvGraphicFramePr>
        <p:xfrm>
          <a:off x="1496731" y="4882505"/>
          <a:ext cx="8597527" cy="1330627"/>
        </p:xfrm>
        <a:graphic>
          <a:graphicData uri="http://schemas.openxmlformats.org/drawingml/2006/table">
            <a:tbl>
              <a:tblPr/>
              <a:tblGrid>
                <a:gridCol w="2564281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456329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3576917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392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函數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輸出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620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calc_gwr_aicc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obs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bandwidth=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下之 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871412"/>
                  </a:ext>
                </a:extLst>
              </a:tr>
              <a:tr h="5292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select_bw_aicc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obs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bw_canditates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indent="-342900" algn="l" fontAlgn="b">
                        <a:buAutoNum type="arabicPeriod"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所有候選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bandwidths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之 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en-US" altLang="zh-TW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  <a:p>
                      <a:pPr marL="342900" indent="-342900" algn="l" fontAlgn="b">
                        <a:buAutoNum type="arabicPeriod"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最佳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 (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最小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)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A224857E-DE3A-B3EF-7D25-9F9A1AA6E5A8}"/>
              </a:ext>
            </a:extLst>
          </p:cNvPr>
          <p:cNvSpPr txBox="1"/>
          <p:nvPr/>
        </p:nvSpPr>
        <p:spPr>
          <a:xfrm>
            <a:off x="1138518" y="4386467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選擇最佳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 (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最小</a:t>
            </a:r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  <a:endParaRPr lang="zh-TW" altLang="en-US" sz="2000" b="1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A7EAE03-3700-CA61-7D7A-45F99F62B172}"/>
              </a:ext>
            </a:extLst>
          </p:cNvPr>
          <p:cNvSpPr txBox="1"/>
          <p:nvPr/>
        </p:nvSpPr>
        <p:spPr>
          <a:xfrm>
            <a:off x="10473017" y="5509687"/>
            <a:ext cx="1048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loop</a:t>
            </a:r>
            <a:endParaRPr lang="zh-TW" altLang="en-US" sz="1600" dirty="0"/>
          </a:p>
        </p:txBody>
      </p:sp>
      <p:sp>
        <p:nvSpPr>
          <p:cNvPr id="13" name="箭號: 弧形左彎 12">
            <a:extLst>
              <a:ext uri="{FF2B5EF4-FFF2-40B4-BE49-F238E27FC236}">
                <a16:creationId xmlns:a16="http://schemas.microsoft.com/office/drawing/2014/main" id="{7F4B4595-A9E2-FBCC-5058-E5A27B5D15F6}"/>
              </a:ext>
            </a:extLst>
          </p:cNvPr>
          <p:cNvSpPr/>
          <p:nvPr/>
        </p:nvSpPr>
        <p:spPr>
          <a:xfrm>
            <a:off x="10171949" y="5438211"/>
            <a:ext cx="301068" cy="560178"/>
          </a:xfrm>
          <a:prstGeom prst="curvedLef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5" name="箭號: 弧形左彎 14">
            <a:extLst>
              <a:ext uri="{FF2B5EF4-FFF2-40B4-BE49-F238E27FC236}">
                <a16:creationId xmlns:a16="http://schemas.microsoft.com/office/drawing/2014/main" id="{2430C41B-97D5-3EB0-E9D3-F71D8514829A}"/>
              </a:ext>
            </a:extLst>
          </p:cNvPr>
          <p:cNvSpPr/>
          <p:nvPr/>
        </p:nvSpPr>
        <p:spPr>
          <a:xfrm flipH="1">
            <a:off x="888999" y="2864205"/>
            <a:ext cx="383988" cy="983212"/>
          </a:xfrm>
          <a:prstGeom prst="curvedLeftArrow">
            <a:avLst>
              <a:gd name="adj1" fmla="val 25000"/>
              <a:gd name="adj2" fmla="val 50000"/>
              <a:gd name="adj3" fmla="val 2733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2393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C35D7-DA38-C69B-34C1-712C2EBE8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A53126E-0931-7768-4D37-129735F778D3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543593-E412-C811-9957-4B295FE43AC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套件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vs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手刻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0E7CAD9-0829-065C-E752-C17CC651F0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671244"/>
              </p:ext>
            </p:extLst>
          </p:nvPr>
        </p:nvGraphicFramePr>
        <p:xfrm>
          <a:off x="1882214" y="2848123"/>
          <a:ext cx="8597527" cy="1614700"/>
        </p:xfrm>
        <a:graphic>
          <a:graphicData uri="http://schemas.openxmlformats.org/drawingml/2006/table">
            <a:tbl>
              <a:tblPr/>
              <a:tblGrid>
                <a:gridCol w="2740141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065315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3792071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1745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項目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GWmodel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手刻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選擇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136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136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最小 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850.8465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850.8465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620167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係數估計差距最大值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2.334e-12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421451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6745B402-224D-65F6-954D-54D6C3A7252A}"/>
              </a:ext>
            </a:extLst>
          </p:cNvPr>
          <p:cNvSpPr txBox="1"/>
          <p:nvPr/>
        </p:nvSpPr>
        <p:spPr>
          <a:xfrm>
            <a:off x="1524001" y="2352084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套件與手刻結果比較</a:t>
            </a:r>
            <a:endParaRPr lang="zh-TW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739523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E60D3-B463-935A-4A38-6C5C5F643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A4E1C29-1BF1-17A0-6ACC-BD173070870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1511EB6-98AB-8389-ACC3-BD8C3CC5DB60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視覺化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(40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*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網格迴歸點版本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CA4B0A8-EA97-E956-EBFA-94A5252714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683" y="956857"/>
            <a:ext cx="6777317" cy="4827495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988255FA-D1F5-A4B4-B4C0-CED96C77CE2F}"/>
              </a:ext>
            </a:extLst>
          </p:cNvPr>
          <p:cNvSpPr txBox="1"/>
          <p:nvPr/>
        </p:nvSpPr>
        <p:spPr>
          <a:xfrm>
            <a:off x="349625" y="2305615"/>
            <a:ext cx="506505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係數估計位置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*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迴歸點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顏色意義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各迴歸點估計值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州界外處理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NA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遮罩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結果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各個變數均有一定程度之空間差異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(e.g.) </a:t>
            </a:r>
            <a:r>
              <a:rPr lang="en-US" altLang="zh-TW" sz="20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PctBlack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在西南部係數較高，代表其在該區域正向關係較強。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D6C23CBE-F195-80A1-623B-AFAC3222BCFD}"/>
              </a:ext>
            </a:extLst>
          </p:cNvPr>
          <p:cNvSpPr txBox="1"/>
          <p:nvPr/>
        </p:nvSpPr>
        <p:spPr>
          <a:xfrm>
            <a:off x="5687909" y="5784352"/>
            <a:ext cx="61049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顏色設定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100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種，將預測值值域切成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100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個區間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424342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2FF9F-DF64-F181-5388-C4893387E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7DB7989-A7C8-ADDE-DAA9-24DF9422A2B6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AF51722-0E8B-CEC4-1938-0BE35EBA6A8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視覺化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(40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*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網格迴歸點版本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3829C65-64D5-DC1C-2C27-521CFA1281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288" y="1113358"/>
            <a:ext cx="6652207" cy="463128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9F0D6197-D0F4-7059-C19E-74CA1175D588}"/>
              </a:ext>
            </a:extLst>
          </p:cNvPr>
          <p:cNvSpPr txBox="1"/>
          <p:nvPr/>
        </p:nvSpPr>
        <p:spPr>
          <a:xfrm>
            <a:off x="125505" y="968992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內建參數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image():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須建立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XY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矩形網格座標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F83D3EFE-457D-8DEC-D674-E0FFC11EB6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955981"/>
              </p:ext>
            </p:extLst>
          </p:nvPr>
        </p:nvGraphicFramePr>
        <p:xfrm>
          <a:off x="519953" y="1458334"/>
          <a:ext cx="4296338" cy="28117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169">
                  <a:extLst>
                    <a:ext uri="{9D8B030D-6E8A-4147-A177-3AD203B41FA5}">
                      <a16:colId xmlns:a16="http://schemas.microsoft.com/office/drawing/2014/main" val="1342119825"/>
                    </a:ext>
                  </a:extLst>
                </a:gridCol>
                <a:gridCol w="2148169">
                  <a:extLst>
                    <a:ext uri="{9D8B030D-6E8A-4147-A177-3AD203B41FA5}">
                      <a16:colId xmlns:a16="http://schemas.microsoft.com/office/drawing/2014/main" val="427253541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主要參數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說明</a:t>
                      </a:r>
                      <a:endParaRPr lang="zh-TW" alt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87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 </a:t>
                      </a:r>
                      <a:r>
                        <a:rPr lang="zh-TW" alt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座標範圍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46520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 </a:t>
                      </a:r>
                      <a:r>
                        <a:rPr lang="zh-TW" alt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座標範圍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1952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z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座標值</a:t>
                      </a:r>
                      <a:endParaRPr lang="zh-TW" alt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13918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col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顏色種類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23436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breaks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區間</a:t>
                      </a:r>
                      <a:endParaRPr lang="zh-TW" alt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3736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xlab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  <a:r>
                        <a:rPr lang="zh-TW" alt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軸名稱</a:t>
                      </a:r>
                      <a:endParaRPr lang="zh-TW" alt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55810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ylab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</a:t>
                      </a:r>
                      <a:r>
                        <a:rPr lang="zh-TW" alt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軸名稱</a:t>
                      </a:r>
                      <a:endParaRPr lang="zh-TW" alt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80731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main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大標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377009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0831BFAD-BA18-5150-CC3D-0F10BF0F4B1E}"/>
              </a:ext>
            </a:extLst>
          </p:cNvPr>
          <p:cNvSpPr txBox="1"/>
          <p:nvPr/>
        </p:nvSpPr>
        <p:spPr>
          <a:xfrm>
            <a:off x="224117" y="4334415"/>
            <a:ext cx="5038167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R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document</a:t>
            </a:r>
          </a:p>
          <a:p>
            <a:r>
              <a:rPr lang="en-US" altLang="zh-TW" sz="105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  <a:hlinkClick r:id="rId3"/>
              </a:rPr>
              <a:t>https://www.rdocumentation.org/packages/graphics/versions/3.6.2/topics/image</a:t>
            </a:r>
            <a:endParaRPr lang="en-US" altLang="zh-TW" sz="105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6A7EDE9-AF0C-DD42-545E-97F24C722FB2}"/>
              </a:ext>
            </a:extLst>
          </p:cNvPr>
          <p:cNvSpPr txBox="1"/>
          <p:nvPr/>
        </p:nvSpPr>
        <p:spPr>
          <a:xfrm>
            <a:off x="5687909" y="5784352"/>
            <a:ext cx="61049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顏色設定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6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種，將預測值值域切成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6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個區間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7082288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DA448-07C4-F34F-19E0-3161D1607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9E1791D-9513-DA30-E953-906967E97682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2655E47-8BAB-5A29-35EB-AED52D0E3F0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檢驗參數非平穩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Monte Carlo Permutation Test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DED24B1-E0CA-7C37-C8FC-AEDCFB521719}"/>
              </a:ext>
            </a:extLst>
          </p:cNvPr>
          <p:cNvSpPr txBox="1"/>
          <p:nvPr/>
        </p:nvSpPr>
        <p:spPr>
          <a:xfrm>
            <a:off x="300754" y="3980965"/>
            <a:ext cx="55920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endParaRPr lang="zh-TW" altLang="en-US" sz="1600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0F96054-0EDC-8EA0-D9B9-E776A46B3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873" y="2578617"/>
            <a:ext cx="5365792" cy="140234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B53EB8F-A0C4-4F37-CE20-0D0724DB55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9205" y="745125"/>
            <a:ext cx="5972041" cy="5585572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7A61C8B9-55B4-2217-0215-8CAE836E4A62}"/>
              </a:ext>
            </a:extLst>
          </p:cNvPr>
          <p:cNvSpPr txBox="1"/>
          <p:nvPr/>
        </p:nvSpPr>
        <p:spPr>
          <a:xfrm>
            <a:off x="6200603" y="6257725"/>
            <a:ext cx="55920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手刻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8782142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E17D4-EC3C-EE2D-3F74-ECE458C0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0585BB1-DFDD-F140-63B0-0D9D46A61A4B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2BB5D3C-6624-3302-3FCC-A49E57BB02A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檢驗參數非平穩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Monte Carlo Permutation Test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C47097B-3943-D3AC-7BA4-AA4E687331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660769"/>
              </p:ext>
            </p:extLst>
          </p:nvPr>
        </p:nvGraphicFramePr>
        <p:xfrm>
          <a:off x="1797237" y="1973028"/>
          <a:ext cx="8597526" cy="2911945"/>
        </p:xfrm>
        <a:graphic>
          <a:graphicData uri="http://schemas.openxmlformats.org/drawingml/2006/table">
            <a:tbl>
              <a:tblPr/>
              <a:tblGrid>
                <a:gridCol w="2865842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865842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2865842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1745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係數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p-value(</a:t>
                      </a:r>
                      <a:r>
                        <a:rPr lang="en-US" altLang="zh-TW" sz="2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GWmodel</a:t>
                      </a: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)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p-value(</a:t>
                      </a:r>
                      <a:r>
                        <a:rPr lang="zh-TW" alt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手刻</a:t>
                      </a: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)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Intercept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0.375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0.379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endParaRPr 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0.331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0.324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620167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endParaRPr 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0.658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0.640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3245738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endParaRPr 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0.004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9422624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endParaRPr 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0.414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0.433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875448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0.034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0.030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8771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91272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BAE2C-BD37-49B0-043F-8A162BE2B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0FE49A7-83E4-1982-EAB1-F2344120CB55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7D962E7-6793-2A28-3AD0-840EA3A63C2B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檢驗參數非平穩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F-test by Leung et al.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（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2000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）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24CF92C-89E6-84AA-D4DE-7FA31DE47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81" y="1284751"/>
            <a:ext cx="4847419" cy="109629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1749C4D3-1157-DE9A-4A20-F6A170A5A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81" y="3596886"/>
            <a:ext cx="4783775" cy="2107906"/>
          </a:xfrm>
          <a:prstGeom prst="rect">
            <a:avLst/>
          </a:prstGeom>
        </p:spPr>
      </p:pic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3D276EC0-4692-6153-1152-6773A959CC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4377158"/>
              </p:ext>
            </p:extLst>
          </p:nvPr>
        </p:nvGraphicFramePr>
        <p:xfrm>
          <a:off x="5069984" y="1338541"/>
          <a:ext cx="7041335" cy="2043951"/>
        </p:xfrm>
        <a:graphic>
          <a:graphicData uri="http://schemas.openxmlformats.org/drawingml/2006/table">
            <a:tbl>
              <a:tblPr/>
              <a:tblGrid>
                <a:gridCol w="1223240">
                  <a:extLst>
                    <a:ext uri="{9D8B030D-6E8A-4147-A177-3AD203B41FA5}">
                      <a16:colId xmlns:a16="http://schemas.microsoft.com/office/drawing/2014/main" val="2346310122"/>
                    </a:ext>
                  </a:extLst>
                </a:gridCol>
                <a:gridCol w="1228164">
                  <a:extLst>
                    <a:ext uri="{9D8B030D-6E8A-4147-A177-3AD203B41FA5}">
                      <a16:colId xmlns:a16="http://schemas.microsoft.com/office/drawing/2014/main" val="3273831870"/>
                    </a:ext>
                  </a:extLst>
                </a:gridCol>
                <a:gridCol w="1515036">
                  <a:extLst>
                    <a:ext uri="{9D8B030D-6E8A-4147-A177-3AD203B41FA5}">
                      <a16:colId xmlns:a16="http://schemas.microsoft.com/office/drawing/2014/main" val="1159255395"/>
                    </a:ext>
                  </a:extLst>
                </a:gridCol>
                <a:gridCol w="1666628">
                  <a:extLst>
                    <a:ext uri="{9D8B030D-6E8A-4147-A177-3AD203B41FA5}">
                      <a16:colId xmlns:a16="http://schemas.microsoft.com/office/drawing/2014/main" val="3786525659"/>
                    </a:ext>
                  </a:extLst>
                </a:gridCol>
                <a:gridCol w="1408267">
                  <a:extLst>
                    <a:ext uri="{9D8B030D-6E8A-4147-A177-3AD203B41FA5}">
                      <a16:colId xmlns:a16="http://schemas.microsoft.com/office/drawing/2014/main" val="2593961742"/>
                    </a:ext>
                  </a:extLst>
                </a:gridCol>
              </a:tblGrid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F3 statistic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Numerator DF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Denominator DF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Pr</a:t>
                      </a: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(&gt;F)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693668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Intercept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1.37932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48.9944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0.04029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326601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1.39656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61.83326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0.02144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7843897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0.43555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51.91984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0.99987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1933712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14.56198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29.99224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&lt; 2.2E-16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228680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3.41707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29.23114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1.19E-09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7615699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5.0173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64.17467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&lt; 2.2E-16 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984046"/>
                  </a:ext>
                </a:extLst>
              </a:tr>
            </a:tbl>
          </a:graphicData>
        </a:graphic>
      </p:graphicFrame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20B11373-FC10-BC8D-5653-54592D2F6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703621"/>
              </p:ext>
            </p:extLst>
          </p:nvPr>
        </p:nvGraphicFramePr>
        <p:xfrm>
          <a:off x="5069984" y="3628864"/>
          <a:ext cx="7041335" cy="2043951"/>
        </p:xfrm>
        <a:graphic>
          <a:graphicData uri="http://schemas.openxmlformats.org/drawingml/2006/table">
            <a:tbl>
              <a:tblPr/>
              <a:tblGrid>
                <a:gridCol w="1223240">
                  <a:extLst>
                    <a:ext uri="{9D8B030D-6E8A-4147-A177-3AD203B41FA5}">
                      <a16:colId xmlns:a16="http://schemas.microsoft.com/office/drawing/2014/main" val="1010960133"/>
                    </a:ext>
                  </a:extLst>
                </a:gridCol>
                <a:gridCol w="1228164">
                  <a:extLst>
                    <a:ext uri="{9D8B030D-6E8A-4147-A177-3AD203B41FA5}">
                      <a16:colId xmlns:a16="http://schemas.microsoft.com/office/drawing/2014/main" val="3642626288"/>
                    </a:ext>
                  </a:extLst>
                </a:gridCol>
                <a:gridCol w="1515036">
                  <a:extLst>
                    <a:ext uri="{9D8B030D-6E8A-4147-A177-3AD203B41FA5}">
                      <a16:colId xmlns:a16="http://schemas.microsoft.com/office/drawing/2014/main" val="307330254"/>
                    </a:ext>
                  </a:extLst>
                </a:gridCol>
                <a:gridCol w="1666628">
                  <a:extLst>
                    <a:ext uri="{9D8B030D-6E8A-4147-A177-3AD203B41FA5}">
                      <a16:colId xmlns:a16="http://schemas.microsoft.com/office/drawing/2014/main" val="208971099"/>
                    </a:ext>
                  </a:extLst>
                </a:gridCol>
                <a:gridCol w="1408267">
                  <a:extLst>
                    <a:ext uri="{9D8B030D-6E8A-4147-A177-3AD203B41FA5}">
                      <a16:colId xmlns:a16="http://schemas.microsoft.com/office/drawing/2014/main" val="1512396529"/>
                    </a:ext>
                  </a:extLst>
                </a:gridCol>
              </a:tblGrid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F3 statistic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Numerator DF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Denominator DF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Pr</a:t>
                      </a: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(&gt;F)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0573634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Intercept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1.379318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2.660224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145.8743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0.253384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3758894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1.396558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2.588568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145.8743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0.248858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1551918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0.435545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2.77371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145.8743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0.712558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451265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14.56199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2.433527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145.8743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2.55E-07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2640880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3.417074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2.40523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145.8743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2.75E-02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50933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5.0173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2.355922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145.8743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0.005122 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1073536"/>
                  </a:ext>
                </a:extLst>
              </a:tr>
            </a:tbl>
          </a:graphicData>
        </a:graphic>
      </p:graphicFrame>
      <p:sp>
        <p:nvSpPr>
          <p:cNvPr id="18" name="文字方塊 17">
            <a:extLst>
              <a:ext uri="{FF2B5EF4-FFF2-40B4-BE49-F238E27FC236}">
                <a16:creationId xmlns:a16="http://schemas.microsoft.com/office/drawing/2014/main" id="{1CEA70A1-3A44-B8BC-FA9D-D44285EB0DD8}"/>
              </a:ext>
            </a:extLst>
          </p:cNvPr>
          <p:cNvSpPr txBox="1"/>
          <p:nvPr/>
        </p:nvSpPr>
        <p:spPr>
          <a:xfrm>
            <a:off x="80681" y="969209"/>
            <a:ext cx="15643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">
              <a:buNone/>
            </a:pPr>
            <a:r>
              <a:rPr lang="en-US" altLang="zh-TW" sz="1800" b="1" i="0" u="none" strike="noStrike" baseline="0" dirty="0" err="1">
                <a:solidFill>
                  <a:srgbClr val="000000"/>
                </a:solidFill>
                <a:effectLst/>
                <a:latin typeface="CMU Serif" panose="02000603000000000000" pitchFamily="2" charset="0"/>
                <a:ea typeface="標楷體" panose="03000509000000000000" pitchFamily="65" charset="-120"/>
              </a:rPr>
              <a:t>GWmodel</a:t>
            </a:r>
            <a:endParaRPr lang="zh-TW" altLang="en-US" sz="1800" b="1" i="0" u="none" strike="noStrike" baseline="0" dirty="0">
              <a:solidFill>
                <a:srgbClr val="000000"/>
              </a:solidFill>
              <a:effectLst/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A2826C6-6A6F-E38E-3DEF-C955E8D1A98D}"/>
              </a:ext>
            </a:extLst>
          </p:cNvPr>
          <p:cNvSpPr txBox="1"/>
          <p:nvPr/>
        </p:nvSpPr>
        <p:spPr>
          <a:xfrm>
            <a:off x="80680" y="3283854"/>
            <a:ext cx="2662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">
              <a:buNone/>
            </a:pPr>
            <a:r>
              <a:rPr lang="en-US" altLang="zh-TW" sz="1800" b="1" i="0" u="none" strike="noStrike" baseline="0" dirty="0">
                <a:solidFill>
                  <a:srgbClr val="000000"/>
                </a:solidFill>
                <a:effectLst/>
                <a:latin typeface="CMU Serif" panose="02000603000000000000" pitchFamily="2" charset="0"/>
                <a:ea typeface="標楷體" panose="03000509000000000000" pitchFamily="65" charset="-120"/>
              </a:rPr>
              <a:t>Leung et al. (2000)</a:t>
            </a:r>
            <a:endParaRPr lang="zh-TW" altLang="en-US" sz="1800" b="1" i="0" u="none" strike="noStrike" baseline="0" dirty="0">
              <a:solidFill>
                <a:srgbClr val="000000"/>
              </a:solidFill>
              <a:effectLst/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028104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4A95C-3DB3-F75B-0F85-AD1C3FB8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1CA86CD-626C-EB7D-A8E7-0EC1F0123958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7DD135B3-9319-6F51-387C-79330C5BDD4D}"/>
              </a:ext>
            </a:extLst>
          </p:cNvPr>
          <p:cNvSpPr/>
          <p:nvPr/>
        </p:nvSpPr>
        <p:spPr>
          <a:xfrm>
            <a:off x="1223963" y="2332831"/>
            <a:ext cx="9744075" cy="1468438"/>
          </a:xfrm>
          <a:prstGeom prst="roundRect">
            <a:avLst/>
          </a:prstGeom>
          <a:solidFill>
            <a:srgbClr val="3333B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實作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2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: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GWR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網格模擬</a:t>
            </a:r>
          </a:p>
        </p:txBody>
      </p:sp>
    </p:spTree>
    <p:extLst>
      <p:ext uri="{BB962C8B-B14F-4D97-AF65-F5344CB8AC3E}">
        <p14:creationId xmlns:p14="http://schemas.microsoft.com/office/powerpoint/2010/main" val="18733270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24FA4-215D-F4CC-FC13-EC4A7E746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D4A6AB-FC0E-4D8F-6381-FA89F9BD820C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8C5220-8EE8-A06C-0684-E9CD0F0F7B2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原論文內容與實作內容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3EAF6D4-A5DF-BDC3-2F21-FDB1BBB3ECC2}"/>
              </a:ext>
            </a:extLst>
          </p:cNvPr>
          <p:cNvSpPr txBox="1"/>
          <p:nvPr/>
        </p:nvSpPr>
        <p:spPr>
          <a:xfrm>
            <a:off x="389964" y="1581440"/>
            <a:ext cx="110758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參考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Wheeler &amp; Calder (2007). J </a:t>
            </a:r>
            <a:r>
              <a:rPr lang="en-US" altLang="zh-TW" sz="2400" dirty="0" err="1">
                <a:latin typeface="CMU Serif" panose="02000603000000000000" pitchFamily="2" charset="0"/>
                <a:ea typeface="標楷體" panose="03000509000000000000" pitchFamily="65" charset="-120"/>
              </a:rPr>
              <a:t>Geogr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 Syst, 9(2), 145-166.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實作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模擬實驗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DAD2EFD-892F-7175-5F37-6E81B20D7FB6}"/>
              </a:ext>
            </a:extLst>
          </p:cNvPr>
          <p:cNvSpPr txBox="1"/>
          <p:nvPr/>
        </p:nvSpPr>
        <p:spPr>
          <a:xfrm>
            <a:off x="1044388" y="2122659"/>
            <a:ext cx="8700247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原論文內容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>
              <a:lnSpc>
                <a:spcPct val="150000"/>
              </a:lnSpc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設計模擬實驗，比較地理加權迴歸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(GWR)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與空間隨位置變動係數過程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(SVCP)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在不同共線性程度下，準確度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(RMSE)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與區間估計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(95%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信賴區間與可信區間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)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的可靠性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實作內容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>
              <a:lnSpc>
                <a:spcPct val="150000"/>
              </a:lnSpc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復刻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3.1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simulation 1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中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模擬流程與結果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833914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7F864-81C3-05AA-E1CA-97B293158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7E438EA-A80C-482F-84A9-D198A3DDE52B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FBABC17-8E63-9D9E-7592-6BE192A42FFF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流程</a:t>
            </a:r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4A0E76AB-C536-089A-BD41-18DEFDF30829}"/>
              </a:ext>
            </a:extLst>
          </p:cNvPr>
          <p:cNvGrpSpPr/>
          <p:nvPr/>
        </p:nvGrpSpPr>
        <p:grpSpPr>
          <a:xfrm>
            <a:off x="408982" y="1118396"/>
            <a:ext cx="11374037" cy="2740372"/>
            <a:chOff x="408982" y="872405"/>
            <a:chExt cx="11374037" cy="2740372"/>
          </a:xfrm>
        </p:grpSpPr>
        <p:sp>
          <p:nvSpPr>
            <p:cNvPr id="3" name="矩形: 圓角 2">
              <a:extLst>
                <a:ext uri="{FF2B5EF4-FFF2-40B4-BE49-F238E27FC236}">
                  <a16:creationId xmlns:a16="http://schemas.microsoft.com/office/drawing/2014/main" id="{7E90E40B-5669-F77B-789A-7B6BA313822F}"/>
                </a:ext>
              </a:extLst>
            </p:cNvPr>
            <p:cNvSpPr/>
            <p:nvPr/>
          </p:nvSpPr>
          <p:spPr>
            <a:xfrm>
              <a:off x="408982" y="872405"/>
              <a:ext cx="11374037" cy="2740372"/>
            </a:xfrm>
            <a:prstGeom prst="roundRect">
              <a:avLst>
                <a:gd name="adj" fmla="val 5576"/>
              </a:avLst>
            </a:prstGeom>
            <a:solidFill>
              <a:srgbClr val="F3F3FB"/>
            </a:solidFill>
            <a:ln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7" name="直線接點 6">
              <a:extLst>
                <a:ext uri="{FF2B5EF4-FFF2-40B4-BE49-F238E27FC236}">
                  <a16:creationId xmlns:a16="http://schemas.microsoft.com/office/drawing/2014/main" id="{D7E582D7-DB94-A5E6-DAE7-26CA2A28AA90}"/>
                </a:ext>
              </a:extLst>
            </p:cNvPr>
            <p:cNvCxnSpPr>
              <a:cxnSpLocks/>
            </p:cNvCxnSpPr>
            <p:nvPr/>
          </p:nvCxnSpPr>
          <p:spPr>
            <a:xfrm>
              <a:off x="759884" y="1427486"/>
              <a:ext cx="10672235" cy="0"/>
            </a:xfrm>
            <a:prstGeom prst="line">
              <a:avLst/>
            </a:prstGeom>
            <a:ln w="19050">
              <a:solidFill>
                <a:srgbClr val="3333B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BAA03FFA-3EDB-CD9C-D263-2E39337558A2}"/>
                </a:ext>
              </a:extLst>
            </p:cNvPr>
            <p:cNvSpPr/>
            <p:nvPr/>
          </p:nvSpPr>
          <p:spPr>
            <a:xfrm>
              <a:off x="762785" y="984440"/>
              <a:ext cx="385296" cy="356040"/>
            </a:xfrm>
            <a:prstGeom prst="roundRect">
              <a:avLst>
                <a:gd name="adj" fmla="val 5576"/>
              </a:avLst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rPr>
                <a:t>1</a:t>
              </a:r>
              <a:endPara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BFDC2939-A1DB-E04F-6CD4-8AD5624BDCD1}"/>
                </a:ext>
              </a:extLst>
            </p:cNvPr>
            <p:cNvSpPr txBox="1"/>
            <p:nvPr/>
          </p:nvSpPr>
          <p:spPr>
            <a:xfrm>
              <a:off x="1148081" y="899615"/>
              <a:ext cx="7994012" cy="53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模擬目的</a:t>
              </a:r>
              <a:endParaRPr lang="zh-TW" altLang="en-US" sz="2800" dirty="0">
                <a:solidFill>
                  <a:srgbClr val="3333B3"/>
                </a:solidFill>
              </a:endParaRP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C28874AF-BF3C-4A47-136D-5AD8C555F1F0}"/>
                </a:ext>
              </a:extLst>
            </p:cNvPr>
            <p:cNvSpPr txBox="1"/>
            <p:nvPr/>
          </p:nvSpPr>
          <p:spPr>
            <a:xfrm>
              <a:off x="955433" y="1531278"/>
              <a:ext cx="9139518" cy="1900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在解釋變數沒有明顯共線性的條件下，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GWR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推論是否可靠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GWR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能否準確估計隨空間變化的迴歸係數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 marL="342900" indent="-342900">
                <a:lnSpc>
                  <a:spcPct val="150000"/>
                </a:lnSpc>
                <a:buFontTx/>
                <a:buAutoNum type="arabicPeriod"/>
              </a:pP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GWR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建立的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95%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信賴區間是否能夠涵蓋真實函數</a:t>
              </a:r>
            </a:p>
            <a:p>
              <a:pPr marL="342900" indent="-342900">
                <a:lnSpc>
                  <a:spcPct val="150000"/>
                </a:lnSpc>
                <a:buFontTx/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不同誤差情形，結果是否一致</a:t>
              </a: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66084AD7-2822-2F0B-265C-A951A397BE68}"/>
              </a:ext>
            </a:extLst>
          </p:cNvPr>
          <p:cNvGrpSpPr/>
          <p:nvPr/>
        </p:nvGrpSpPr>
        <p:grpSpPr>
          <a:xfrm>
            <a:off x="408982" y="4160938"/>
            <a:ext cx="11374037" cy="1797447"/>
            <a:chOff x="408982" y="3724812"/>
            <a:chExt cx="11374037" cy="1797447"/>
          </a:xfrm>
        </p:grpSpPr>
        <p:sp>
          <p:nvSpPr>
            <p:cNvPr id="17" name="矩形: 圓角 16">
              <a:extLst>
                <a:ext uri="{FF2B5EF4-FFF2-40B4-BE49-F238E27FC236}">
                  <a16:creationId xmlns:a16="http://schemas.microsoft.com/office/drawing/2014/main" id="{9C7D62E7-2825-29B1-8E26-94E87AAE7F70}"/>
                </a:ext>
              </a:extLst>
            </p:cNvPr>
            <p:cNvSpPr/>
            <p:nvPr/>
          </p:nvSpPr>
          <p:spPr>
            <a:xfrm>
              <a:off x="408982" y="3724812"/>
              <a:ext cx="11374037" cy="1797447"/>
            </a:xfrm>
            <a:prstGeom prst="roundRect">
              <a:avLst>
                <a:gd name="adj" fmla="val 5576"/>
              </a:avLst>
            </a:prstGeom>
            <a:solidFill>
              <a:srgbClr val="F3F3FB"/>
            </a:solidFill>
            <a:ln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FA89712D-5207-2B8B-E699-2058071F5228}"/>
                </a:ext>
              </a:extLst>
            </p:cNvPr>
            <p:cNvCxnSpPr>
              <a:cxnSpLocks/>
            </p:cNvCxnSpPr>
            <p:nvPr/>
          </p:nvCxnSpPr>
          <p:spPr>
            <a:xfrm>
              <a:off x="759884" y="4279893"/>
              <a:ext cx="10672235" cy="0"/>
            </a:xfrm>
            <a:prstGeom prst="line">
              <a:avLst/>
            </a:prstGeom>
            <a:ln w="19050">
              <a:solidFill>
                <a:srgbClr val="3333B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矩形: 圓角 18">
              <a:extLst>
                <a:ext uri="{FF2B5EF4-FFF2-40B4-BE49-F238E27FC236}">
                  <a16:creationId xmlns:a16="http://schemas.microsoft.com/office/drawing/2014/main" id="{09107986-1A0F-3B8C-E70D-D01F6CDC8541}"/>
                </a:ext>
              </a:extLst>
            </p:cNvPr>
            <p:cNvSpPr/>
            <p:nvPr/>
          </p:nvSpPr>
          <p:spPr>
            <a:xfrm>
              <a:off x="762785" y="3836847"/>
              <a:ext cx="385296" cy="356041"/>
            </a:xfrm>
            <a:prstGeom prst="roundRect">
              <a:avLst>
                <a:gd name="adj" fmla="val 5576"/>
              </a:avLst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rPr>
                <a:t>2</a:t>
              </a:r>
              <a:endPara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FF8170E0-F9AD-E833-712E-FB7E7266B24B}"/>
                </a:ext>
              </a:extLst>
            </p:cNvPr>
            <p:cNvSpPr txBox="1"/>
            <p:nvPr/>
          </p:nvSpPr>
          <p:spPr>
            <a:xfrm>
              <a:off x="1148081" y="3752022"/>
              <a:ext cx="7994012" cy="53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空間樣本配置</a:t>
              </a:r>
              <a:endParaRPr lang="zh-TW" altLang="en-US" sz="2800" dirty="0">
                <a:solidFill>
                  <a:srgbClr val="3333B3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5D668ED6-4266-F27F-79FB-4E044E58B041}"/>
                </a:ext>
              </a:extLst>
            </p:cNvPr>
            <p:cNvSpPr txBox="1"/>
            <p:nvPr/>
          </p:nvSpPr>
          <p:spPr>
            <a:xfrm>
              <a:off x="955433" y="4383685"/>
              <a:ext cx="9139518" cy="9771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10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*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10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網格，樣本數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n=100</a:t>
              </a:r>
            </a:p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座標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(1,1), (2,1), …, (10, 10)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54275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DF138-90D1-00E3-1B17-7BCB7E56B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6F06412-F176-7A75-0E7C-3B86A254A7BD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DD0D444-51E1-ACA6-C0F3-BCC91E37ED11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流程</a:t>
            </a:r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662CB50E-3E76-052A-5CA1-53B80D7D4B30}"/>
              </a:ext>
            </a:extLst>
          </p:cNvPr>
          <p:cNvGrpSpPr/>
          <p:nvPr/>
        </p:nvGrpSpPr>
        <p:grpSpPr>
          <a:xfrm>
            <a:off x="408981" y="880288"/>
            <a:ext cx="11374037" cy="3059531"/>
            <a:chOff x="408982" y="872404"/>
            <a:chExt cx="11374037" cy="3059531"/>
          </a:xfrm>
        </p:grpSpPr>
        <p:sp>
          <p:nvSpPr>
            <p:cNvPr id="3" name="矩形: 圓角 2">
              <a:extLst>
                <a:ext uri="{FF2B5EF4-FFF2-40B4-BE49-F238E27FC236}">
                  <a16:creationId xmlns:a16="http://schemas.microsoft.com/office/drawing/2014/main" id="{339266DA-16E4-0464-887D-19FDDD80B0AD}"/>
                </a:ext>
              </a:extLst>
            </p:cNvPr>
            <p:cNvSpPr/>
            <p:nvPr/>
          </p:nvSpPr>
          <p:spPr>
            <a:xfrm>
              <a:off x="408982" y="872404"/>
              <a:ext cx="11374037" cy="3059531"/>
            </a:xfrm>
            <a:prstGeom prst="roundRect">
              <a:avLst>
                <a:gd name="adj" fmla="val 5576"/>
              </a:avLst>
            </a:prstGeom>
            <a:solidFill>
              <a:srgbClr val="F3F3FB"/>
            </a:solidFill>
            <a:ln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7" name="直線接點 6">
              <a:extLst>
                <a:ext uri="{FF2B5EF4-FFF2-40B4-BE49-F238E27FC236}">
                  <a16:creationId xmlns:a16="http://schemas.microsoft.com/office/drawing/2014/main" id="{AFFCB160-3875-1DE0-15EB-CDA60524AEE2}"/>
                </a:ext>
              </a:extLst>
            </p:cNvPr>
            <p:cNvCxnSpPr>
              <a:cxnSpLocks/>
            </p:cNvCxnSpPr>
            <p:nvPr/>
          </p:nvCxnSpPr>
          <p:spPr>
            <a:xfrm>
              <a:off x="759884" y="1427486"/>
              <a:ext cx="10672235" cy="0"/>
            </a:xfrm>
            <a:prstGeom prst="line">
              <a:avLst/>
            </a:prstGeom>
            <a:ln w="19050">
              <a:solidFill>
                <a:srgbClr val="3333B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0902ED63-56C6-1CB2-2840-9BEFFDD32FA3}"/>
                </a:ext>
              </a:extLst>
            </p:cNvPr>
            <p:cNvSpPr/>
            <p:nvPr/>
          </p:nvSpPr>
          <p:spPr>
            <a:xfrm>
              <a:off x="762785" y="984440"/>
              <a:ext cx="385296" cy="356040"/>
            </a:xfrm>
            <a:prstGeom prst="roundRect">
              <a:avLst>
                <a:gd name="adj" fmla="val 5576"/>
              </a:avLst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rPr>
                <a:t>3</a:t>
              </a:r>
              <a:endPara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0192353E-8EF2-5160-5B63-F595B8E5580E}"/>
                </a:ext>
              </a:extLst>
            </p:cNvPr>
            <p:cNvSpPr txBox="1"/>
            <p:nvPr/>
          </p:nvSpPr>
          <p:spPr>
            <a:xfrm>
              <a:off x="1148081" y="899615"/>
              <a:ext cx="7994012" cy="53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真實迴歸係數設定</a:t>
              </a:r>
              <a:endParaRPr lang="zh-TW" altLang="en-US" sz="2800" dirty="0">
                <a:solidFill>
                  <a:srgbClr val="3333B3"/>
                </a:solidFill>
              </a:endParaRP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78DB3D9-A6CB-2F5A-E368-764DCBADDAF7}"/>
                </a:ext>
              </a:extLst>
            </p:cNvPr>
            <p:cNvSpPr txBox="1"/>
            <p:nvPr/>
          </p:nvSpPr>
          <p:spPr>
            <a:xfrm>
              <a:off x="955433" y="1531278"/>
              <a:ext cx="9139518" cy="24006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     的值為該位置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x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座標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 marL="342900" indent="-342900"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     的值為該位置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y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座標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>
                <a:lnSpc>
                  <a:spcPct val="150000"/>
                </a:lnSpc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呈現情境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: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平滑的空間變化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清楚的線性空間趨勢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明顯空間非平穩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固定不變的係數表面</a:t>
              </a: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52578576-EA90-4288-597F-BE24942EDD6C}"/>
              </a:ext>
            </a:extLst>
          </p:cNvPr>
          <p:cNvGrpSpPr/>
          <p:nvPr/>
        </p:nvGrpSpPr>
        <p:grpSpPr>
          <a:xfrm>
            <a:off x="408981" y="4131261"/>
            <a:ext cx="11374037" cy="2257399"/>
            <a:chOff x="408982" y="3724812"/>
            <a:chExt cx="11374037" cy="2257399"/>
          </a:xfrm>
        </p:grpSpPr>
        <p:sp>
          <p:nvSpPr>
            <p:cNvPr id="17" name="矩形: 圓角 16">
              <a:extLst>
                <a:ext uri="{FF2B5EF4-FFF2-40B4-BE49-F238E27FC236}">
                  <a16:creationId xmlns:a16="http://schemas.microsoft.com/office/drawing/2014/main" id="{1FACE757-E5B1-A696-5C95-42BD005CA4A4}"/>
                </a:ext>
              </a:extLst>
            </p:cNvPr>
            <p:cNvSpPr/>
            <p:nvPr/>
          </p:nvSpPr>
          <p:spPr>
            <a:xfrm>
              <a:off x="408982" y="3724812"/>
              <a:ext cx="11374037" cy="2257399"/>
            </a:xfrm>
            <a:prstGeom prst="roundRect">
              <a:avLst>
                <a:gd name="adj" fmla="val 5576"/>
              </a:avLst>
            </a:prstGeom>
            <a:solidFill>
              <a:srgbClr val="F3F3FB"/>
            </a:solidFill>
            <a:ln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A16DB8A9-B14B-4233-0388-18C909906BD0}"/>
                </a:ext>
              </a:extLst>
            </p:cNvPr>
            <p:cNvCxnSpPr>
              <a:cxnSpLocks/>
            </p:cNvCxnSpPr>
            <p:nvPr/>
          </p:nvCxnSpPr>
          <p:spPr>
            <a:xfrm>
              <a:off x="759884" y="4279893"/>
              <a:ext cx="10672235" cy="0"/>
            </a:xfrm>
            <a:prstGeom prst="line">
              <a:avLst/>
            </a:prstGeom>
            <a:ln w="19050">
              <a:solidFill>
                <a:srgbClr val="3333B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矩形: 圓角 18">
              <a:extLst>
                <a:ext uri="{FF2B5EF4-FFF2-40B4-BE49-F238E27FC236}">
                  <a16:creationId xmlns:a16="http://schemas.microsoft.com/office/drawing/2014/main" id="{B3C6AA49-1EC1-3E67-DF84-D58D9E303833}"/>
                </a:ext>
              </a:extLst>
            </p:cNvPr>
            <p:cNvSpPr/>
            <p:nvPr/>
          </p:nvSpPr>
          <p:spPr>
            <a:xfrm>
              <a:off x="762785" y="3836847"/>
              <a:ext cx="385296" cy="356041"/>
            </a:xfrm>
            <a:prstGeom prst="roundRect">
              <a:avLst>
                <a:gd name="adj" fmla="val 5576"/>
              </a:avLst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rPr>
                <a:t>4</a:t>
              </a:r>
              <a:endPara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CBB483B2-D9ED-EC71-57E9-7D69B7EC140F}"/>
                </a:ext>
              </a:extLst>
            </p:cNvPr>
            <p:cNvSpPr txBox="1"/>
            <p:nvPr/>
          </p:nvSpPr>
          <p:spPr>
            <a:xfrm>
              <a:off x="1148081" y="3752022"/>
              <a:ext cx="7994012" cy="53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解釋變數產生</a:t>
              </a:r>
              <a:endParaRPr lang="zh-TW" altLang="en-US" sz="2800" dirty="0">
                <a:solidFill>
                  <a:srgbClr val="3333B3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AEA8950F-4A8B-2EB4-353A-7FD7E23D1BC4}"/>
                </a:ext>
              </a:extLst>
            </p:cNvPr>
            <p:cNvSpPr txBox="1"/>
            <p:nvPr/>
          </p:nvSpPr>
          <p:spPr>
            <a:xfrm>
              <a:off x="955433" y="4383685"/>
              <a:ext cx="9139518" cy="14388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產生十維資料</a:t>
              </a: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: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由                       生成 </a:t>
              </a: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100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筆資料</a:t>
              </a:r>
              <a:endParaRPr lang="en-US" altLang="zh-TW" sz="2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PCA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</a:t>
              </a:r>
              <a:r>
                <a:rPr lang="zh-TW" altLang="en-US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                          </a:t>
              </a: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):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取前 </a:t>
              </a: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  <a:r>
                <a:rPr lang="zh-TW" altLang="en-US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個主成分作為</a:t>
              </a: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   </a:t>
              </a:r>
              <a:r>
                <a:rPr lang="zh-TW" altLang="en-US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  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，模擬無共線性環境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每次模擬皆重新產生資料</a:t>
              </a:r>
              <a:endParaRPr lang="en-US" altLang="zh-TW" sz="2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pic>
        <p:nvPicPr>
          <p:cNvPr id="6" name="圖片 5">
            <a:extLst>
              <a:ext uri="{FF2B5EF4-FFF2-40B4-BE49-F238E27FC236}">
                <a16:creationId xmlns:a16="http://schemas.microsoft.com/office/drawing/2014/main" id="{C0755B15-AA33-EC65-00FC-BF5083BD90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04"/>
          <a:stretch>
            <a:fillRect/>
          </a:stretch>
        </p:blipFill>
        <p:spPr>
          <a:xfrm>
            <a:off x="6019422" y="1591298"/>
            <a:ext cx="5412696" cy="2174455"/>
          </a:xfrm>
          <a:prstGeom prst="rect">
            <a:avLst/>
          </a:prstGeom>
          <a:ln w="19050">
            <a:solidFill>
              <a:srgbClr val="3333B3"/>
            </a:solidFill>
          </a:ln>
        </p:spPr>
      </p:pic>
      <p:pic>
        <p:nvPicPr>
          <p:cNvPr id="13" name="圖片 12" descr="\documentclass{article}&#10;\usepackage{amsmath}&#10;\pagestyle{empty}&#10;\begin{document}&#10;\[\beta_1^{*}(s)&#10;\]&#10;&#10;&#10;\end{document}" title="IguanaTex Picture Display">
            <a:extLst>
              <a:ext uri="{FF2B5EF4-FFF2-40B4-BE49-F238E27FC236}">
                <a16:creationId xmlns:a16="http://schemas.microsoft.com/office/drawing/2014/main" id="{C8DD7821-A1BF-CDC6-D1FC-E444A336AF3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9190" y="1620019"/>
            <a:ext cx="487816" cy="222583"/>
          </a:xfrm>
          <a:prstGeom prst="rect">
            <a:avLst/>
          </a:prstGeom>
        </p:spPr>
      </p:pic>
      <p:pic>
        <p:nvPicPr>
          <p:cNvPr id="22" name="圖片 21" descr="\documentclass{article}&#10;\usepackage{amsmath}&#10;\pagestyle{empty}&#10;\begin{document}&#10;\[\beta_2^{*}(s)&#10;\]&#10;&#10;&#10;\end{document}" title="IguanaTex Picture Display">
            <a:extLst>
              <a:ext uri="{FF2B5EF4-FFF2-40B4-BE49-F238E27FC236}">
                <a16:creationId xmlns:a16="http://schemas.microsoft.com/office/drawing/2014/main" id="{15FE6E9A-1CB7-696F-0126-03CF294C2E5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9190" y="1923460"/>
            <a:ext cx="487816" cy="222583"/>
          </a:xfrm>
          <a:prstGeom prst="rect">
            <a:avLst/>
          </a:prstGeom>
        </p:spPr>
      </p:pic>
      <p:pic>
        <p:nvPicPr>
          <p:cNvPr id="43" name="圖片 42" descr="\documentclass{article}&#10;\usepackage{amsmath}&#10;\pagestyle{empty}&#10;\begin{document}&#10;&#10;\[Z_i\sim N_{10}(\textbf{0}, \textbf{I}_{10})\]&#10;&#10;&#10;\end{document}" title="IguanaTex Picture Display">
            <a:extLst>
              <a:ext uri="{FF2B5EF4-FFF2-40B4-BE49-F238E27FC236}">
                <a16:creationId xmlns:a16="http://schemas.microsoft.com/office/drawing/2014/main" id="{711FA9AB-D319-EAC4-FA05-504BC3DD20A6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0564" y="4976770"/>
            <a:ext cx="1739347" cy="246724"/>
          </a:xfrm>
          <a:prstGeom prst="rect">
            <a:avLst/>
          </a:prstGeom>
        </p:spPr>
      </p:pic>
      <p:pic>
        <p:nvPicPr>
          <p:cNvPr id="45" name="圖片 44" descr="\documentclass{article}&#10;\usepackage{amsmath}&#10;\pagestyle{empty}&#10;\begin{document}&#10;&#10;\[x_1, x_2\]&#10;&#10;&#10;\end{document}" title="IguanaTex Picture Display">
            <a:extLst>
              <a:ext uri="{FF2B5EF4-FFF2-40B4-BE49-F238E27FC236}">
                <a16:creationId xmlns:a16="http://schemas.microsoft.com/office/drawing/2014/main" id="{65535915-627C-2D1C-55C0-5C584113CD88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5414" y="5498019"/>
            <a:ext cx="600381" cy="160000"/>
          </a:xfrm>
          <a:prstGeom prst="rect">
            <a:avLst/>
          </a:prstGeom>
        </p:spPr>
      </p:pic>
      <p:pic>
        <p:nvPicPr>
          <p:cNvPr id="47" name="圖片 46" descr="\documentclass{article}&#10;\usepackage{amsmath}&#10;\pagestyle{empty}&#10;\begin{document}&#10;&#10;\[100\times 10\rightarrow100 \times 2\]&#10;&#10;&#10;\end{document}" title="IguanaTex Picture Display">
            <a:extLst>
              <a:ext uri="{FF2B5EF4-FFF2-40B4-BE49-F238E27FC236}">
                <a16:creationId xmlns:a16="http://schemas.microsoft.com/office/drawing/2014/main" id="{A72CCEDE-0C82-F146-85F2-19D6FAEF203F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65" y="5477783"/>
            <a:ext cx="2116571" cy="173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4819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4644E-4905-410F-CE14-9015ABEA8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0038C9E-A3D7-B635-46D7-9C4A748607D3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0254E0F-DC27-8CF9-61F1-E1EB902FCD6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流程</a:t>
            </a:r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2AC61068-A38B-5B29-F5BC-B46B4BAB58C6}"/>
              </a:ext>
            </a:extLst>
          </p:cNvPr>
          <p:cNvGrpSpPr/>
          <p:nvPr/>
        </p:nvGrpSpPr>
        <p:grpSpPr>
          <a:xfrm>
            <a:off x="408981" y="1092844"/>
            <a:ext cx="11374037" cy="1728441"/>
            <a:chOff x="408981" y="880288"/>
            <a:chExt cx="11374037" cy="1728441"/>
          </a:xfrm>
        </p:grpSpPr>
        <p:sp>
          <p:nvSpPr>
            <p:cNvPr id="3" name="矩形: 圓角 2">
              <a:extLst>
                <a:ext uri="{FF2B5EF4-FFF2-40B4-BE49-F238E27FC236}">
                  <a16:creationId xmlns:a16="http://schemas.microsoft.com/office/drawing/2014/main" id="{F430D3AC-1767-A111-C711-CBC5B2D0AB32}"/>
                </a:ext>
              </a:extLst>
            </p:cNvPr>
            <p:cNvSpPr/>
            <p:nvPr/>
          </p:nvSpPr>
          <p:spPr>
            <a:xfrm>
              <a:off x="408981" y="880288"/>
              <a:ext cx="11374037" cy="1728441"/>
            </a:xfrm>
            <a:prstGeom prst="roundRect">
              <a:avLst>
                <a:gd name="adj" fmla="val 5576"/>
              </a:avLst>
            </a:prstGeom>
            <a:solidFill>
              <a:srgbClr val="F3F3FB"/>
            </a:solidFill>
            <a:ln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7" name="直線接點 6">
              <a:extLst>
                <a:ext uri="{FF2B5EF4-FFF2-40B4-BE49-F238E27FC236}">
                  <a16:creationId xmlns:a16="http://schemas.microsoft.com/office/drawing/2014/main" id="{26098E43-7FF2-4498-9E1F-4F50A7E334D6}"/>
                </a:ext>
              </a:extLst>
            </p:cNvPr>
            <p:cNvCxnSpPr>
              <a:cxnSpLocks/>
            </p:cNvCxnSpPr>
            <p:nvPr/>
          </p:nvCxnSpPr>
          <p:spPr>
            <a:xfrm>
              <a:off x="759883" y="1435370"/>
              <a:ext cx="10672235" cy="0"/>
            </a:xfrm>
            <a:prstGeom prst="line">
              <a:avLst/>
            </a:prstGeom>
            <a:ln w="19050">
              <a:solidFill>
                <a:srgbClr val="3333B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22504417-2A82-1684-2363-994043287F73}"/>
                </a:ext>
              </a:extLst>
            </p:cNvPr>
            <p:cNvSpPr/>
            <p:nvPr/>
          </p:nvSpPr>
          <p:spPr>
            <a:xfrm>
              <a:off x="762784" y="992324"/>
              <a:ext cx="385296" cy="356040"/>
            </a:xfrm>
            <a:prstGeom prst="roundRect">
              <a:avLst>
                <a:gd name="adj" fmla="val 5576"/>
              </a:avLst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rPr>
                <a:t>5</a:t>
              </a:r>
              <a:endPara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96EF53BE-977C-5DA9-B4A6-0D69B24528A7}"/>
                </a:ext>
              </a:extLst>
            </p:cNvPr>
            <p:cNvSpPr txBox="1"/>
            <p:nvPr/>
          </p:nvSpPr>
          <p:spPr>
            <a:xfrm>
              <a:off x="1148080" y="907499"/>
              <a:ext cx="7994012" cy="53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反應變數產生</a:t>
              </a:r>
              <a:endParaRPr lang="zh-TW" altLang="en-US" sz="2800" dirty="0">
                <a:solidFill>
                  <a:srgbClr val="3333B3"/>
                </a:solidFill>
              </a:endParaRP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80A52DF-E478-D3DE-5D07-B6A6AA60CB2B}"/>
                </a:ext>
              </a:extLst>
            </p:cNvPr>
            <p:cNvSpPr txBox="1"/>
            <p:nvPr/>
          </p:nvSpPr>
          <p:spPr>
            <a:xfrm>
              <a:off x="955432" y="1539162"/>
              <a:ext cx="913951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無截距模型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:</a:t>
              </a:r>
            </a:p>
          </p:txBody>
        </p:sp>
        <p:pic>
          <p:nvPicPr>
            <p:cNvPr id="8" name="圖片 7" descr="\documentclass{article}&#10;\usepackage{amsmath}&#10;\pagestyle{empty}&#10;\begin{document}&#10;&#10;\[y(s_i)=\beta_1^*(s_i)x_1(s_i)+\beta_2^*(s_i)x_2(x)+\epsilon(s_i)\]&#10;&#10;&#10;\end{document}" title="IguanaTex Picture Display">
              <a:extLst>
                <a:ext uri="{FF2B5EF4-FFF2-40B4-BE49-F238E27FC236}">
                  <a16:creationId xmlns:a16="http://schemas.microsoft.com/office/drawing/2014/main" id="{2816004F-8960-01EF-2C38-04F108236866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15619" y="2015924"/>
              <a:ext cx="4560762" cy="254476"/>
            </a:xfrm>
            <a:prstGeom prst="rect">
              <a:avLst/>
            </a:prstGeom>
          </p:spPr>
        </p:pic>
      </p:grp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46198670-D0D1-92E0-45BB-E58AF6EB09F2}"/>
              </a:ext>
            </a:extLst>
          </p:cNvPr>
          <p:cNvGrpSpPr/>
          <p:nvPr/>
        </p:nvGrpSpPr>
        <p:grpSpPr>
          <a:xfrm>
            <a:off x="408981" y="3212825"/>
            <a:ext cx="11374037" cy="2815844"/>
            <a:chOff x="408980" y="2774603"/>
            <a:chExt cx="11374037" cy="2815844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345B1183-7920-A51B-1462-8863C521735D}"/>
                </a:ext>
              </a:extLst>
            </p:cNvPr>
            <p:cNvGrpSpPr/>
            <p:nvPr/>
          </p:nvGrpSpPr>
          <p:grpSpPr>
            <a:xfrm>
              <a:off x="408980" y="2774603"/>
              <a:ext cx="11374037" cy="2815844"/>
              <a:chOff x="408982" y="3724812"/>
              <a:chExt cx="11374037" cy="2815844"/>
            </a:xfrm>
          </p:grpSpPr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B87C51F3-1835-C6AF-4F94-6016EAB60276}"/>
                  </a:ext>
                </a:extLst>
              </p:cNvPr>
              <p:cNvSpPr/>
              <p:nvPr/>
            </p:nvSpPr>
            <p:spPr>
              <a:xfrm>
                <a:off x="408982" y="3724812"/>
                <a:ext cx="11374037" cy="2815844"/>
              </a:xfrm>
              <a:prstGeom prst="roundRect">
                <a:avLst>
                  <a:gd name="adj" fmla="val 5576"/>
                </a:avLst>
              </a:prstGeom>
              <a:solidFill>
                <a:srgbClr val="F3F3FB"/>
              </a:solidFill>
              <a:ln>
                <a:solidFill>
                  <a:srgbClr val="3333B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cxnSp>
            <p:nvCxnSpPr>
              <p:cNvPr id="18" name="直線接點 17">
                <a:extLst>
                  <a:ext uri="{FF2B5EF4-FFF2-40B4-BE49-F238E27FC236}">
                    <a16:creationId xmlns:a16="http://schemas.microsoft.com/office/drawing/2014/main" id="{4B06D9E3-B272-E8A9-74E4-B182A7416A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9884" y="4279893"/>
                <a:ext cx="10672235" cy="0"/>
              </a:xfrm>
              <a:prstGeom prst="line">
                <a:avLst/>
              </a:prstGeom>
              <a:ln w="19050">
                <a:solidFill>
                  <a:srgbClr val="3333B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9D3D5324-A47E-6BF5-5527-B75BC853FD3C}"/>
                  </a:ext>
                </a:extLst>
              </p:cNvPr>
              <p:cNvSpPr/>
              <p:nvPr/>
            </p:nvSpPr>
            <p:spPr>
              <a:xfrm>
                <a:off x="762785" y="3836847"/>
                <a:ext cx="385296" cy="356041"/>
              </a:xfrm>
              <a:prstGeom prst="roundRect">
                <a:avLst>
                  <a:gd name="adj" fmla="val 5576"/>
                </a:avLst>
              </a:prstGeom>
              <a:solidFill>
                <a:srgbClr val="3333B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2400" b="1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6</a:t>
                </a:r>
                <a:endParaRPr lang="zh-TW" altLang="en-US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</p:txBody>
          </p:sp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0EA9BCA4-F1BC-19FA-4F2C-6D214B79DCE6}"/>
                  </a:ext>
                </a:extLst>
              </p:cNvPr>
              <p:cNvSpPr txBox="1"/>
              <p:nvPr/>
            </p:nvSpPr>
            <p:spPr>
              <a:xfrm>
                <a:off x="1148081" y="3752022"/>
                <a:ext cx="7994012" cy="5370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8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</a:rPr>
                  <a:t>誤差項設定</a:t>
                </a:r>
                <a:endParaRPr lang="zh-TW" altLang="en-US" sz="2800" dirty="0">
                  <a:solidFill>
                    <a:srgbClr val="3333B3"/>
                  </a:solidFill>
                </a:endParaRPr>
              </a:p>
            </p:txBody>
          </p:sp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426472A-9394-32F3-3776-EB653DC7BC78}"/>
                  </a:ext>
                </a:extLst>
              </p:cNvPr>
              <p:cNvSpPr txBox="1"/>
              <p:nvPr/>
            </p:nvSpPr>
            <p:spPr>
              <a:xfrm>
                <a:off x="955432" y="4383685"/>
                <a:ext cx="10672235" cy="19005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在各地間獨立生成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  <a:p>
                <a:pPr marL="457200" indent="-457200">
                  <a:lnSpc>
                    <a:spcPct val="150000"/>
                  </a:lnSpc>
                  <a:buAutoNum type="arabicPeriod"/>
                </a:pPr>
                <a:r>
                  <a:rPr lang="zh-TW" altLang="en-US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情境 </a:t>
                </a:r>
                <a:r>
                  <a:rPr lang="en-US" altLang="zh-TW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A : </a:t>
                </a:r>
                <a:r>
                  <a:rPr lang="zh-TW" altLang="en-US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極小誤差           ，檢查乾淨資料下 </a:t>
                </a:r>
                <a:r>
                  <a:rPr lang="en-US" altLang="zh-TW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GWR </a:t>
                </a:r>
                <a:r>
                  <a:rPr lang="zh-TW" altLang="en-US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能否準確還原真實係數</a:t>
                </a:r>
                <a:endParaRPr lang="en-US" altLang="zh-TW" sz="2000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  <a:p>
                <a:pPr marL="457200" indent="-457200">
                  <a:lnSpc>
                    <a:spcPct val="150000"/>
                  </a:lnSpc>
                  <a:buAutoNum type="arabicPeriod"/>
                </a:pPr>
                <a:r>
                  <a:rPr lang="zh-TW" altLang="en-US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情境 </a:t>
                </a:r>
                <a:r>
                  <a:rPr lang="en-US" altLang="zh-TW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B : </a:t>
                </a:r>
                <a:r>
                  <a:rPr lang="zh-TW" altLang="en-US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較大誤差        ，確認結果是否會因誤差程度改變</a:t>
                </a:r>
                <a:endParaRPr lang="en-US" altLang="zh-TW" sz="2000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</p:txBody>
          </p:sp>
        </p:grpSp>
        <p:pic>
          <p:nvPicPr>
            <p:cNvPr id="16" name="圖片 15" descr="\documentclass{article}&#10;\usepackage{amsmath}&#10;\pagestyle{empty}&#10;\begin{document}&#10;&#10;\[\epsilon(s_i)\overset{ind.}{\sim}N(0,\tau^{2*})\]&#10;&#10;&#10;\end{document}" title="IguanaTex Picture Display">
              <a:extLst>
                <a:ext uri="{FF2B5EF4-FFF2-40B4-BE49-F238E27FC236}">
                  <a16:creationId xmlns:a16="http://schemas.microsoft.com/office/drawing/2014/main" id="{8E430DED-01CD-CF1D-7BE7-7AB5552BEF0C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29380" y="3866765"/>
              <a:ext cx="1991619" cy="330667"/>
            </a:xfrm>
            <a:prstGeom prst="rect">
              <a:avLst/>
            </a:prstGeom>
          </p:spPr>
        </p:pic>
        <p:pic>
          <p:nvPicPr>
            <p:cNvPr id="26" name="圖片 25" descr="\documentclass{article}&#10;\usepackage{amsmath}&#10;\pagestyle{empty}&#10;\begin{document}&#10;&#10;&#10;\[\tau^{2*}=0.001\]&#10;&#10;\end{document}" title="IguanaTex Picture Display">
              <a:extLst>
                <a:ext uri="{FF2B5EF4-FFF2-40B4-BE49-F238E27FC236}">
                  <a16:creationId xmlns:a16="http://schemas.microsoft.com/office/drawing/2014/main" id="{21C6A45F-C60E-056C-FF3C-DC04473A167D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3829" y="4514906"/>
              <a:ext cx="1243428" cy="228571"/>
            </a:xfrm>
            <a:prstGeom prst="rect">
              <a:avLst/>
            </a:prstGeom>
          </p:spPr>
        </p:pic>
        <p:pic>
          <p:nvPicPr>
            <p:cNvPr id="28" name="圖片 27" descr="\documentclass{article}&#10;\usepackage{amsmath}&#10;\pagestyle{empty}&#10;\begin{document}&#10;&#10;&#10;\[\tau^{2*}=1\]&#10;&#10;\end{document}" title="IguanaTex Picture Display">
              <a:extLst>
                <a:ext uri="{FF2B5EF4-FFF2-40B4-BE49-F238E27FC236}">
                  <a16:creationId xmlns:a16="http://schemas.microsoft.com/office/drawing/2014/main" id="{C1DCC6E2-7858-5719-CE8A-75ABC50CCB63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15619" y="4971081"/>
              <a:ext cx="793905" cy="2255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210670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6CE62-6B66-B2D2-7D5B-5AB8374E7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0F851AA-2F68-9BBD-D927-820C67EABD23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9894074-639B-9AF2-4CDE-7A84A715CC1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流程</a:t>
            </a:r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90CF6F00-7746-8FC3-807D-36508B932416}"/>
              </a:ext>
            </a:extLst>
          </p:cNvPr>
          <p:cNvGrpSpPr/>
          <p:nvPr/>
        </p:nvGrpSpPr>
        <p:grpSpPr>
          <a:xfrm>
            <a:off x="408980" y="990435"/>
            <a:ext cx="11374037" cy="2740372"/>
            <a:chOff x="408982" y="1118396"/>
            <a:chExt cx="11374037" cy="2740372"/>
          </a:xfrm>
        </p:grpSpPr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8A199E5A-8522-33BC-CE56-72AF4756AD9A}"/>
                </a:ext>
              </a:extLst>
            </p:cNvPr>
            <p:cNvGrpSpPr/>
            <p:nvPr/>
          </p:nvGrpSpPr>
          <p:grpSpPr>
            <a:xfrm>
              <a:off x="408982" y="1118396"/>
              <a:ext cx="11374037" cy="2740372"/>
              <a:chOff x="408982" y="872405"/>
              <a:chExt cx="11374037" cy="2740372"/>
            </a:xfrm>
          </p:grpSpPr>
          <p:sp>
            <p:nvSpPr>
              <p:cNvPr id="3" name="矩形: 圓角 2">
                <a:extLst>
                  <a:ext uri="{FF2B5EF4-FFF2-40B4-BE49-F238E27FC236}">
                    <a16:creationId xmlns:a16="http://schemas.microsoft.com/office/drawing/2014/main" id="{65ACDBF9-A59F-0907-D977-EA19E0E47C13}"/>
                  </a:ext>
                </a:extLst>
              </p:cNvPr>
              <p:cNvSpPr/>
              <p:nvPr/>
            </p:nvSpPr>
            <p:spPr>
              <a:xfrm>
                <a:off x="408982" y="872405"/>
                <a:ext cx="11374037" cy="2740372"/>
              </a:xfrm>
              <a:prstGeom prst="roundRect">
                <a:avLst>
                  <a:gd name="adj" fmla="val 5576"/>
                </a:avLst>
              </a:prstGeom>
              <a:solidFill>
                <a:srgbClr val="F3F3FB"/>
              </a:solidFill>
              <a:ln>
                <a:solidFill>
                  <a:srgbClr val="3333B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cxnSp>
            <p:nvCxnSpPr>
              <p:cNvPr id="7" name="直線接點 6">
                <a:extLst>
                  <a:ext uri="{FF2B5EF4-FFF2-40B4-BE49-F238E27FC236}">
                    <a16:creationId xmlns:a16="http://schemas.microsoft.com/office/drawing/2014/main" id="{6008CA73-FF94-4ABC-1587-852E59134C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9884" y="1427486"/>
                <a:ext cx="10672235" cy="0"/>
              </a:xfrm>
              <a:prstGeom prst="line">
                <a:avLst/>
              </a:prstGeom>
              <a:ln w="19050">
                <a:solidFill>
                  <a:srgbClr val="3333B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1FC02FB4-2025-D16A-5477-89D9B43AB5B1}"/>
                  </a:ext>
                </a:extLst>
              </p:cNvPr>
              <p:cNvSpPr/>
              <p:nvPr/>
            </p:nvSpPr>
            <p:spPr>
              <a:xfrm>
                <a:off x="762785" y="984440"/>
                <a:ext cx="385296" cy="356040"/>
              </a:xfrm>
              <a:prstGeom prst="roundRect">
                <a:avLst>
                  <a:gd name="adj" fmla="val 5576"/>
                </a:avLst>
              </a:prstGeom>
              <a:solidFill>
                <a:srgbClr val="3333B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2400" b="1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7</a:t>
                </a:r>
                <a:endParaRPr lang="zh-TW" altLang="en-US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</p:txBody>
          </p:sp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8D193004-82B2-456D-4312-4F4CBDE62824}"/>
                  </a:ext>
                </a:extLst>
              </p:cNvPr>
              <p:cNvSpPr txBox="1"/>
              <p:nvPr/>
            </p:nvSpPr>
            <p:spPr>
              <a:xfrm>
                <a:off x="1148081" y="899615"/>
                <a:ext cx="7994012" cy="5370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8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</a:rPr>
                  <a:t>模擬次數</a:t>
                </a:r>
                <a:endParaRPr lang="zh-TW" altLang="en-US" sz="2800" dirty="0">
                  <a:solidFill>
                    <a:srgbClr val="3333B3"/>
                  </a:solidFill>
                </a:endParaRPr>
              </a:p>
            </p:txBody>
          </p:sp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0D51B252-3A6D-A3B9-74A4-E67A9AFD3AE5}"/>
                  </a:ext>
                </a:extLst>
              </p:cNvPr>
              <p:cNvSpPr txBox="1"/>
              <p:nvPr/>
            </p:nvSpPr>
            <p:spPr>
              <a:xfrm>
                <a:off x="759884" y="1531278"/>
                <a:ext cx="10672235" cy="19005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R=200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，                  與             各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200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次</a:t>
                </a: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在每次模擬中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空間網格座標固定 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真實係數固定 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解釋變數重新生成 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誤差重新生成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</a:t>
                </a: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反應變數重新計算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GWR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重新用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LOOCV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選擇帶寬 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GWR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重新估計所有迴歸係數</a:t>
                </a:r>
              </a:p>
            </p:txBody>
          </p:sp>
        </p:grpSp>
        <p:pic>
          <p:nvPicPr>
            <p:cNvPr id="2" name="圖片 1" descr="\documentclass{article}&#10;\usepackage{amsmath}&#10;\pagestyle{empty}&#10;\begin{document}&#10;&#10;&#10;\[\tau^{2*}=0.001\]&#10;&#10;\end{document}" title="IguanaTex Picture Display">
              <a:extLst>
                <a:ext uri="{FF2B5EF4-FFF2-40B4-BE49-F238E27FC236}">
                  <a16:creationId xmlns:a16="http://schemas.microsoft.com/office/drawing/2014/main" id="{3B293D56-9CAE-94EE-3718-4D2461FE9A4B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21040" y="1944669"/>
              <a:ext cx="1243428" cy="228571"/>
            </a:xfrm>
            <a:prstGeom prst="rect">
              <a:avLst/>
            </a:prstGeom>
          </p:spPr>
        </p:pic>
        <p:pic>
          <p:nvPicPr>
            <p:cNvPr id="6" name="圖片 5" descr="\documentclass{article}&#10;\usepackage{amsmath}&#10;\pagestyle{empty}&#10;\begin{document}&#10;&#10;&#10;\[\tau^{2*}=1\]&#10;&#10;\end{document}" title="IguanaTex Picture Display">
              <a:extLst>
                <a:ext uri="{FF2B5EF4-FFF2-40B4-BE49-F238E27FC236}">
                  <a16:creationId xmlns:a16="http://schemas.microsoft.com/office/drawing/2014/main" id="{6FB7BF4C-C3E3-EC2C-3DD2-9DE9B923DB1B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64701" y="1944669"/>
              <a:ext cx="793905" cy="225524"/>
            </a:xfrm>
            <a:prstGeom prst="rect">
              <a:avLst/>
            </a:prstGeom>
          </p:spPr>
        </p:pic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72125580-1CDF-43DC-5173-B0FEED13FAB1}"/>
              </a:ext>
            </a:extLst>
          </p:cNvPr>
          <p:cNvGrpSpPr/>
          <p:nvPr/>
        </p:nvGrpSpPr>
        <p:grpSpPr>
          <a:xfrm>
            <a:off x="408980" y="3896312"/>
            <a:ext cx="11374037" cy="2411756"/>
            <a:chOff x="408982" y="3969991"/>
            <a:chExt cx="11374037" cy="2411756"/>
          </a:xfrm>
        </p:grpSpPr>
        <p:grpSp>
          <p:nvGrpSpPr>
            <p:cNvPr id="32" name="群組 31">
              <a:extLst>
                <a:ext uri="{FF2B5EF4-FFF2-40B4-BE49-F238E27FC236}">
                  <a16:creationId xmlns:a16="http://schemas.microsoft.com/office/drawing/2014/main" id="{DE690ECF-2BC3-D821-C2E6-4E624302528B}"/>
                </a:ext>
              </a:extLst>
            </p:cNvPr>
            <p:cNvGrpSpPr/>
            <p:nvPr/>
          </p:nvGrpSpPr>
          <p:grpSpPr>
            <a:xfrm>
              <a:off x="408982" y="3969991"/>
              <a:ext cx="11374037" cy="2411756"/>
              <a:chOff x="408982" y="872405"/>
              <a:chExt cx="11374037" cy="2411756"/>
            </a:xfrm>
          </p:grpSpPr>
          <p:sp>
            <p:nvSpPr>
              <p:cNvPr id="35" name="矩形: 圓角 34">
                <a:extLst>
                  <a:ext uri="{FF2B5EF4-FFF2-40B4-BE49-F238E27FC236}">
                    <a16:creationId xmlns:a16="http://schemas.microsoft.com/office/drawing/2014/main" id="{8258607A-38B1-0784-01B3-4D8C6431D035}"/>
                  </a:ext>
                </a:extLst>
              </p:cNvPr>
              <p:cNvSpPr/>
              <p:nvPr/>
            </p:nvSpPr>
            <p:spPr>
              <a:xfrm>
                <a:off x="408982" y="872405"/>
                <a:ext cx="11374037" cy="2411756"/>
              </a:xfrm>
              <a:prstGeom prst="roundRect">
                <a:avLst>
                  <a:gd name="adj" fmla="val 5576"/>
                </a:avLst>
              </a:prstGeom>
              <a:solidFill>
                <a:srgbClr val="F3F3FB"/>
              </a:solidFill>
              <a:ln>
                <a:solidFill>
                  <a:srgbClr val="3333B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cxnSp>
            <p:nvCxnSpPr>
              <p:cNvPr id="36" name="直線接點 35">
                <a:extLst>
                  <a:ext uri="{FF2B5EF4-FFF2-40B4-BE49-F238E27FC236}">
                    <a16:creationId xmlns:a16="http://schemas.microsoft.com/office/drawing/2014/main" id="{B614FB4A-C95F-5961-52B9-1C0844A4AC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9884" y="1427486"/>
                <a:ext cx="10672235" cy="0"/>
              </a:xfrm>
              <a:prstGeom prst="line">
                <a:avLst/>
              </a:prstGeom>
              <a:ln w="19050">
                <a:solidFill>
                  <a:srgbClr val="3333B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矩形: 圓角 36">
                <a:extLst>
                  <a:ext uri="{FF2B5EF4-FFF2-40B4-BE49-F238E27FC236}">
                    <a16:creationId xmlns:a16="http://schemas.microsoft.com/office/drawing/2014/main" id="{B0A6CB6A-3D5D-DB5E-E3C6-FE19BB4F2A49}"/>
                  </a:ext>
                </a:extLst>
              </p:cNvPr>
              <p:cNvSpPr/>
              <p:nvPr/>
            </p:nvSpPr>
            <p:spPr>
              <a:xfrm>
                <a:off x="762785" y="984440"/>
                <a:ext cx="385296" cy="356040"/>
              </a:xfrm>
              <a:prstGeom prst="roundRect">
                <a:avLst>
                  <a:gd name="adj" fmla="val 5576"/>
                </a:avLst>
              </a:prstGeom>
              <a:solidFill>
                <a:srgbClr val="3333B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2400" b="1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8</a:t>
                </a:r>
                <a:endParaRPr lang="zh-TW" altLang="en-US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</p:txBody>
          </p:sp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C80BD18C-ABD8-7B9E-276A-FDB8AEDF1254}"/>
                  </a:ext>
                </a:extLst>
              </p:cNvPr>
              <p:cNvSpPr txBox="1"/>
              <p:nvPr/>
            </p:nvSpPr>
            <p:spPr>
              <a:xfrm>
                <a:off x="1148081" y="899615"/>
                <a:ext cx="7994012" cy="5370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8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</a:rPr>
                  <a:t>GWR </a:t>
                </a:r>
                <a:r>
                  <a:rPr lang="zh-TW" altLang="en-US" sz="28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</a:rPr>
                  <a:t>核函數設定</a:t>
                </a:r>
                <a:endParaRPr lang="zh-TW" altLang="en-US" sz="2800" dirty="0">
                  <a:solidFill>
                    <a:srgbClr val="3333B3"/>
                  </a:solidFill>
                </a:endParaRPr>
              </a:p>
            </p:txBody>
          </p:sp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544CB444-9995-D72F-8AC0-D0E5E930A517}"/>
                  </a:ext>
                </a:extLst>
              </p:cNvPr>
              <p:cNvSpPr txBox="1"/>
              <p:nvPr/>
            </p:nvSpPr>
            <p:spPr>
              <a:xfrm>
                <a:off x="759884" y="1531278"/>
                <a:ext cx="10672235" cy="1438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指數核函數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其中     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迴歸點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s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與觀測點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j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的距離；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b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帶寬</a:t>
                </a: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</p:txBody>
          </p:sp>
        </p:grpSp>
        <p:pic>
          <p:nvPicPr>
            <p:cNvPr id="41" name="圖片 40" descr="\documentclass{article}&#10;\usepackage{amsmath}&#10;\pagestyle{empty}&#10;\begin{document}&#10;&#10;&#10;\[w_j(s)=exp(-\frac{d_{sj}}{b})\]&#10;&#10;\end{document}" title="IguanaTex Picture Display">
              <a:extLst>
                <a:ext uri="{FF2B5EF4-FFF2-40B4-BE49-F238E27FC236}">
                  <a16:creationId xmlns:a16="http://schemas.microsoft.com/office/drawing/2014/main" id="{A3B49AE1-B114-2758-3F17-8099B06F72DD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52952" y="5035014"/>
              <a:ext cx="2086095" cy="522667"/>
            </a:xfrm>
            <a:prstGeom prst="rect">
              <a:avLst/>
            </a:prstGeom>
          </p:spPr>
        </p:pic>
        <p:pic>
          <p:nvPicPr>
            <p:cNvPr id="43" name="圖片 42" descr="\documentclass{article}&#10;\usepackage{amsmath}&#10;\pagestyle{empty}&#10;\begin{document}&#10;\[d_{sj}\]&#10;&#10;&#10;&#10;\end{document}" title="IguanaTex Picture Display">
              <a:extLst>
                <a:ext uri="{FF2B5EF4-FFF2-40B4-BE49-F238E27FC236}">
                  <a16:creationId xmlns:a16="http://schemas.microsoft.com/office/drawing/2014/main" id="{987CED3D-1819-A696-5E2C-3F2183A5938C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7854" y="5739289"/>
              <a:ext cx="295619" cy="24990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18715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E94AC-E3D9-F62A-4C3A-4F6869820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77CB95E-39A0-4A8E-C328-D03FC117BBB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AE5E8C9-7715-422C-85D3-317D878F2B8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流程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DA027BD-2259-2CB5-72AD-D9E1C049B0BC}"/>
              </a:ext>
            </a:extLst>
          </p:cNvPr>
          <p:cNvSpPr/>
          <p:nvPr/>
        </p:nvSpPr>
        <p:spPr>
          <a:xfrm>
            <a:off x="188788" y="974033"/>
            <a:ext cx="3746718" cy="978411"/>
          </a:xfrm>
          <a:prstGeom prst="roundRect">
            <a:avLst>
              <a:gd name="adj" fmla="val 5576"/>
            </a:avLst>
          </a:prstGeom>
          <a:solidFill>
            <a:srgbClr val="F3F3FB"/>
          </a:solidFill>
          <a:ln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7E23243-D2E7-F57F-6835-B2650C39CB2D}"/>
              </a:ext>
            </a:extLst>
          </p:cNvPr>
          <p:cNvSpPr/>
          <p:nvPr/>
        </p:nvSpPr>
        <p:spPr>
          <a:xfrm>
            <a:off x="420125" y="1285218"/>
            <a:ext cx="507762" cy="356040"/>
          </a:xfrm>
          <a:prstGeom prst="roundRect">
            <a:avLst>
              <a:gd name="adj" fmla="val 5576"/>
            </a:avLst>
          </a:prstGeom>
          <a:solidFill>
            <a:srgbClr val="3333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9</a:t>
            </a:r>
            <a:endParaRPr lang="zh-TW" altLang="en-US" sz="2400" b="1" dirty="0">
              <a:latin typeface="標楷體" panose="03000509000000000000" pitchFamily="65" charset="-12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2F482A8-3DB6-9A08-5CCB-2204AFD7405D}"/>
              </a:ext>
            </a:extLst>
          </p:cNvPr>
          <p:cNvSpPr txBox="1"/>
          <p:nvPr/>
        </p:nvSpPr>
        <p:spPr>
          <a:xfrm>
            <a:off x="927887" y="1232406"/>
            <a:ext cx="30076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帶寬選擇 </a:t>
            </a:r>
            <a:r>
              <a:rPr lang="en-US" altLang="zh-TW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  <a:r>
              <a:rPr lang="en-US" altLang="zh-TW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LOOCV</a:t>
            </a:r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  <a:endParaRPr lang="zh-TW" altLang="en-US" sz="2400" dirty="0">
              <a:solidFill>
                <a:srgbClr val="3333B3"/>
              </a:solidFill>
            </a:endParaRP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1C07B766-4AEF-204F-8810-CE89E7E8F079}"/>
              </a:ext>
            </a:extLst>
          </p:cNvPr>
          <p:cNvSpPr/>
          <p:nvPr/>
        </p:nvSpPr>
        <p:spPr>
          <a:xfrm>
            <a:off x="8240310" y="982780"/>
            <a:ext cx="3746717" cy="960916"/>
          </a:xfrm>
          <a:prstGeom prst="roundRect">
            <a:avLst>
              <a:gd name="adj" fmla="val 5576"/>
            </a:avLst>
          </a:prstGeom>
          <a:solidFill>
            <a:srgbClr val="F3F3FB"/>
          </a:solidFill>
          <a:ln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8638F0CC-E6EB-A261-DFCE-28176999D1B4}"/>
              </a:ext>
            </a:extLst>
          </p:cNvPr>
          <p:cNvSpPr/>
          <p:nvPr/>
        </p:nvSpPr>
        <p:spPr>
          <a:xfrm>
            <a:off x="8471649" y="1285218"/>
            <a:ext cx="507760" cy="356040"/>
          </a:xfrm>
          <a:prstGeom prst="roundRect">
            <a:avLst>
              <a:gd name="adj" fmla="val 5576"/>
            </a:avLst>
          </a:prstGeom>
          <a:solidFill>
            <a:srgbClr val="3333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11</a:t>
            </a:r>
            <a:endParaRPr lang="zh-TW" altLang="en-US" sz="2400" b="1" dirty="0">
              <a:latin typeface="標楷體" panose="03000509000000000000" pitchFamily="65" charset="-12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84FD144-E830-5256-CFD2-44173B272E54}"/>
              </a:ext>
            </a:extLst>
          </p:cNvPr>
          <p:cNvSpPr txBox="1"/>
          <p:nvPr/>
        </p:nvSpPr>
        <p:spPr>
          <a:xfrm>
            <a:off x="8979409" y="1047740"/>
            <a:ext cx="300761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計算</a:t>
            </a:r>
            <a:r>
              <a:rPr lang="en-US" altLang="zh-TW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係數標準誤與信賴區間</a:t>
            </a:r>
            <a:endParaRPr lang="zh-TW" altLang="en-US" sz="2400" dirty="0">
              <a:solidFill>
                <a:srgbClr val="3333B3"/>
              </a:solidFill>
            </a:endParaRP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2157CBD5-B90F-D7E8-5352-3296F1F8D3C6}"/>
              </a:ext>
            </a:extLst>
          </p:cNvPr>
          <p:cNvSpPr/>
          <p:nvPr/>
        </p:nvSpPr>
        <p:spPr>
          <a:xfrm>
            <a:off x="4234736" y="986735"/>
            <a:ext cx="3706343" cy="953007"/>
          </a:xfrm>
          <a:prstGeom prst="roundRect">
            <a:avLst>
              <a:gd name="adj" fmla="val 5576"/>
            </a:avLst>
          </a:prstGeom>
          <a:solidFill>
            <a:srgbClr val="F3F3FB"/>
          </a:solidFill>
          <a:ln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CB62F802-1C66-5F0E-D6FB-973F980CFA59}"/>
              </a:ext>
            </a:extLst>
          </p:cNvPr>
          <p:cNvSpPr/>
          <p:nvPr/>
        </p:nvSpPr>
        <p:spPr>
          <a:xfrm>
            <a:off x="4425699" y="1285218"/>
            <a:ext cx="507762" cy="356040"/>
          </a:xfrm>
          <a:prstGeom prst="roundRect">
            <a:avLst>
              <a:gd name="adj" fmla="val 5576"/>
            </a:avLst>
          </a:prstGeom>
          <a:solidFill>
            <a:srgbClr val="3333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10</a:t>
            </a:r>
            <a:endParaRPr lang="zh-TW" altLang="en-US" sz="2400" b="1" dirty="0">
              <a:latin typeface="標楷體" panose="03000509000000000000" pitchFamily="65" charset="-12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1D60F888-3CD8-D27E-3130-0826963EF4C9}"/>
              </a:ext>
            </a:extLst>
          </p:cNvPr>
          <p:cNvSpPr txBox="1"/>
          <p:nvPr/>
        </p:nvSpPr>
        <p:spPr>
          <a:xfrm>
            <a:off x="4953648" y="1232406"/>
            <a:ext cx="29672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配適 </a:t>
            </a:r>
            <a:r>
              <a:rPr lang="en-US" altLang="zh-TW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 模型</a:t>
            </a:r>
            <a:endParaRPr lang="zh-TW" altLang="en-US" sz="2400" dirty="0">
              <a:solidFill>
                <a:srgbClr val="3333B3"/>
              </a:solidFill>
            </a:endParaRPr>
          </a:p>
        </p:txBody>
      </p: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51B25852-412F-C7E7-1481-311AF32F48E4}"/>
              </a:ext>
            </a:extLst>
          </p:cNvPr>
          <p:cNvGrpSpPr/>
          <p:nvPr/>
        </p:nvGrpSpPr>
        <p:grpSpPr>
          <a:xfrm>
            <a:off x="188788" y="2061430"/>
            <a:ext cx="11798238" cy="4194012"/>
            <a:chOff x="81212" y="2057528"/>
            <a:chExt cx="11798238" cy="4194012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9D717FC1-A86D-B0EE-9D39-62647D925C04}"/>
                </a:ext>
              </a:extLst>
            </p:cNvPr>
            <p:cNvGrpSpPr/>
            <p:nvPr/>
          </p:nvGrpSpPr>
          <p:grpSpPr>
            <a:xfrm>
              <a:off x="81212" y="2057528"/>
              <a:ext cx="11798238" cy="4194012"/>
              <a:chOff x="408983" y="872405"/>
              <a:chExt cx="11798238" cy="4194012"/>
            </a:xfrm>
          </p:grpSpPr>
          <p:sp>
            <p:nvSpPr>
              <p:cNvPr id="28" name="矩形: 圓角 27">
                <a:extLst>
                  <a:ext uri="{FF2B5EF4-FFF2-40B4-BE49-F238E27FC236}">
                    <a16:creationId xmlns:a16="http://schemas.microsoft.com/office/drawing/2014/main" id="{573C40C3-A0EE-3252-E738-BB7EBAEF5BF7}"/>
                  </a:ext>
                </a:extLst>
              </p:cNvPr>
              <p:cNvSpPr/>
              <p:nvPr/>
            </p:nvSpPr>
            <p:spPr>
              <a:xfrm>
                <a:off x="408983" y="872405"/>
                <a:ext cx="11798238" cy="4194012"/>
              </a:xfrm>
              <a:prstGeom prst="roundRect">
                <a:avLst>
                  <a:gd name="adj" fmla="val 2974"/>
                </a:avLst>
              </a:prstGeom>
              <a:solidFill>
                <a:srgbClr val="F3F3FB"/>
              </a:solidFill>
              <a:ln>
                <a:solidFill>
                  <a:srgbClr val="3333B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cxnSp>
            <p:nvCxnSpPr>
              <p:cNvPr id="29" name="直線接點 28">
                <a:extLst>
                  <a:ext uri="{FF2B5EF4-FFF2-40B4-BE49-F238E27FC236}">
                    <a16:creationId xmlns:a16="http://schemas.microsoft.com/office/drawing/2014/main" id="{1A6292C1-F4DD-F0C0-DF62-EB3CC82D3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0321" y="1427486"/>
                <a:ext cx="11225026" cy="9210"/>
              </a:xfrm>
              <a:prstGeom prst="line">
                <a:avLst/>
              </a:prstGeom>
              <a:ln w="19050">
                <a:solidFill>
                  <a:srgbClr val="3333B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矩形: 圓角 30">
                <a:extLst>
                  <a:ext uri="{FF2B5EF4-FFF2-40B4-BE49-F238E27FC236}">
                    <a16:creationId xmlns:a16="http://schemas.microsoft.com/office/drawing/2014/main" id="{4C6A11F5-B7C9-CEAF-F141-DD4CA49DCC50}"/>
                  </a:ext>
                </a:extLst>
              </p:cNvPr>
              <p:cNvSpPr/>
              <p:nvPr/>
            </p:nvSpPr>
            <p:spPr>
              <a:xfrm>
                <a:off x="640321" y="984440"/>
                <a:ext cx="507760" cy="356040"/>
              </a:xfrm>
              <a:prstGeom prst="roundRect">
                <a:avLst>
                  <a:gd name="adj" fmla="val 5576"/>
                </a:avLst>
              </a:prstGeom>
              <a:solidFill>
                <a:srgbClr val="3333B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2400" b="1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12</a:t>
                </a:r>
                <a:endParaRPr lang="zh-TW" altLang="en-US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</p:txBody>
          </p:sp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AE89D35B-5557-5A02-03EA-D15D86DD736F}"/>
                  </a:ext>
                </a:extLst>
              </p:cNvPr>
              <p:cNvSpPr txBox="1"/>
              <p:nvPr/>
            </p:nvSpPr>
            <p:spPr>
              <a:xfrm>
                <a:off x="1148081" y="899615"/>
                <a:ext cx="7994012" cy="5370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8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</a:rPr>
                  <a:t>信賴區間涵蓋率計算</a:t>
                </a:r>
                <a:endParaRPr lang="zh-TW" altLang="en-US" sz="2800" dirty="0">
                  <a:solidFill>
                    <a:srgbClr val="3333B3"/>
                  </a:solidFill>
                </a:endParaRPr>
              </a:p>
            </p:txBody>
          </p:sp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F975671B-E0E5-E9D1-3288-82CFED5EAEF9}"/>
                  </a:ext>
                </a:extLst>
              </p:cNvPr>
              <p:cNvSpPr txBox="1"/>
              <p:nvPr/>
            </p:nvSpPr>
            <p:spPr>
              <a:xfrm>
                <a:off x="759885" y="1531278"/>
                <a:ext cx="11105462" cy="3285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先計算每個地點在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200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次模擬的涵蓋率，再對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100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個地點取平均</a:t>
                </a: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每次模擬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r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，對每個位置   ，每個係數         ，檢查是否落在該次模擬得到的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95%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信賴區間內</a:t>
                </a: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對特定位置涵蓋率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將同一位置在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100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個位置中的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CP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取平均，得到論文結果中的</a:t>
                </a: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</p:txBody>
          </p:sp>
        </p:grpSp>
        <p:pic>
          <p:nvPicPr>
            <p:cNvPr id="50" name="圖片 49" descr="\documentclass{article}&#10;\usepackage{amsmath}&#10;\pagestyle{empty}&#10;\begin{document}&#10;\[s_i\]&#10;&#10;&#10;&#10;\end{document}" title="IguanaTex Picture Display">
              <a:extLst>
                <a:ext uri="{FF2B5EF4-FFF2-40B4-BE49-F238E27FC236}">
                  <a16:creationId xmlns:a16="http://schemas.microsoft.com/office/drawing/2014/main" id="{BB6AB912-CA5E-A6E9-8785-EF8756726054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6823" y="3429000"/>
              <a:ext cx="169143" cy="150857"/>
            </a:xfrm>
            <a:prstGeom prst="rect">
              <a:avLst/>
            </a:prstGeom>
          </p:spPr>
        </p:pic>
        <p:pic>
          <p:nvPicPr>
            <p:cNvPr id="52" name="圖片 51" descr="\documentclass{article}&#10;\usepackage{amsmath}&#10;\pagestyle{empty}&#10;\begin{document}&#10;&#10;\[\beta_k^*(s_i)\]&#10;&#10;&#10;\end{document}" title="IguanaTex Picture Display">
              <a:extLst>
                <a:ext uri="{FF2B5EF4-FFF2-40B4-BE49-F238E27FC236}">
                  <a16:creationId xmlns:a16="http://schemas.microsoft.com/office/drawing/2014/main" id="{6ED87CF5-178C-1CCE-A11D-FFF5755E669F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4002" y="3360262"/>
              <a:ext cx="641524" cy="254476"/>
            </a:xfrm>
            <a:prstGeom prst="rect">
              <a:avLst/>
            </a:prstGeom>
          </p:spPr>
        </p:pic>
        <p:pic>
          <p:nvPicPr>
            <p:cNvPr id="54" name="圖片 53" descr="\documentclass{article}&#10;\usepackage{amsmath}&#10;\pagestyle{empty}&#10;\begin{document}&#10;&#10;\[I_{ikr}= \begin{cases}&#10;1,\beta_k^*(s_i)\in CI_{ikr}^{95\%}\\&#10;0, ow&#10;\end{cases}\]&#10;&#10;&#10;\end{document}" title="IguanaTex Picture Display">
              <a:extLst>
                <a:ext uri="{FF2B5EF4-FFF2-40B4-BE49-F238E27FC236}">
                  <a16:creationId xmlns:a16="http://schemas.microsoft.com/office/drawing/2014/main" id="{34F10406-8C94-F959-8570-1A8706DAB31F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7855" y="3821261"/>
              <a:ext cx="2844952" cy="758857"/>
            </a:xfrm>
            <a:prstGeom prst="rect">
              <a:avLst/>
            </a:prstGeom>
          </p:spPr>
        </p:pic>
        <p:pic>
          <p:nvPicPr>
            <p:cNvPr id="56" name="圖片 55" descr="\documentclass{article}&#10;\usepackage{amsmath}&#10;\pagestyle{empty}&#10;\begin{document}&#10;&#10;\[CP_{ik}=\frac{1}{200}\sum_{r=1}^{200}I_{ikr}\]&#10;&#10;&#10;\end{document}" title="IguanaTex Picture Display">
              <a:extLst>
                <a:ext uri="{FF2B5EF4-FFF2-40B4-BE49-F238E27FC236}">
                  <a16:creationId xmlns:a16="http://schemas.microsoft.com/office/drawing/2014/main" id="{9825B8EE-A7A0-98BC-B4F7-B15C042C716D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1474" y="4786641"/>
              <a:ext cx="2157714" cy="729905"/>
            </a:xfrm>
            <a:prstGeom prst="rect">
              <a:avLst/>
            </a:prstGeom>
          </p:spPr>
        </p:pic>
        <p:pic>
          <p:nvPicPr>
            <p:cNvPr id="58" name="圖片 57" descr="\documentclass{article}&#10;\usepackage{amsmath}&#10;\pagestyle{empty}&#10;\begin{document}&#10;\[MeanCP(\beta_k)\]&#10;&#10;\end{document}" title="IguanaTex Picture Display">
              <a:extLst>
                <a:ext uri="{FF2B5EF4-FFF2-40B4-BE49-F238E27FC236}">
                  <a16:creationId xmlns:a16="http://schemas.microsoft.com/office/drawing/2014/main" id="{159A7DEC-BDA2-D798-84FB-4114946C22B4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06447" y="5661123"/>
              <a:ext cx="1502476" cy="2544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417788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4DCB0-E1C4-438A-99F5-5E0E68FD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6015FBA-B7FD-3F37-1395-B04CA9C7EFA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46D3468-1826-A3AE-8933-D3FE335E3EC8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流程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D0D6B607-1B94-ABAC-FBF7-95FADAA06A30}"/>
              </a:ext>
            </a:extLst>
          </p:cNvPr>
          <p:cNvGrpSpPr/>
          <p:nvPr/>
        </p:nvGrpSpPr>
        <p:grpSpPr>
          <a:xfrm>
            <a:off x="196881" y="1380293"/>
            <a:ext cx="11798238" cy="4097414"/>
            <a:chOff x="408983" y="872405"/>
            <a:chExt cx="11798238" cy="4097414"/>
          </a:xfrm>
        </p:grpSpPr>
        <p:sp>
          <p:nvSpPr>
            <p:cNvPr id="28" name="矩形: 圓角 27">
              <a:extLst>
                <a:ext uri="{FF2B5EF4-FFF2-40B4-BE49-F238E27FC236}">
                  <a16:creationId xmlns:a16="http://schemas.microsoft.com/office/drawing/2014/main" id="{AE9C27AC-C6F5-513C-42D3-C2CBD8CBEFFC}"/>
                </a:ext>
              </a:extLst>
            </p:cNvPr>
            <p:cNvSpPr/>
            <p:nvPr/>
          </p:nvSpPr>
          <p:spPr>
            <a:xfrm>
              <a:off x="408983" y="872405"/>
              <a:ext cx="11798238" cy="4097414"/>
            </a:xfrm>
            <a:prstGeom prst="roundRect">
              <a:avLst>
                <a:gd name="adj" fmla="val 2974"/>
              </a:avLst>
            </a:prstGeom>
            <a:solidFill>
              <a:srgbClr val="F3F3FB"/>
            </a:solidFill>
            <a:ln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29" name="直線接點 28">
              <a:extLst>
                <a:ext uri="{FF2B5EF4-FFF2-40B4-BE49-F238E27FC236}">
                  <a16:creationId xmlns:a16="http://schemas.microsoft.com/office/drawing/2014/main" id="{62B693CD-712F-CE8F-DDEC-ECE9DB04CAFB}"/>
                </a:ext>
              </a:extLst>
            </p:cNvPr>
            <p:cNvCxnSpPr>
              <a:cxnSpLocks/>
            </p:cNvCxnSpPr>
            <p:nvPr/>
          </p:nvCxnSpPr>
          <p:spPr>
            <a:xfrm>
              <a:off x="640321" y="1427486"/>
              <a:ext cx="11225026" cy="9210"/>
            </a:xfrm>
            <a:prstGeom prst="line">
              <a:avLst/>
            </a:prstGeom>
            <a:ln w="19050">
              <a:solidFill>
                <a:srgbClr val="3333B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20B64BEE-9EBF-3FE5-C79F-8588F2336DFC}"/>
                </a:ext>
              </a:extLst>
            </p:cNvPr>
            <p:cNvSpPr/>
            <p:nvPr/>
          </p:nvSpPr>
          <p:spPr>
            <a:xfrm>
              <a:off x="640321" y="984440"/>
              <a:ext cx="507760" cy="356040"/>
            </a:xfrm>
            <a:prstGeom prst="roundRect">
              <a:avLst>
                <a:gd name="adj" fmla="val 5576"/>
              </a:avLst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rPr>
                <a:t>13</a:t>
              </a:r>
              <a:endPara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BD7E13A8-5829-640E-DEF7-0EA3970FD310}"/>
                </a:ext>
              </a:extLst>
            </p:cNvPr>
            <p:cNvSpPr txBox="1"/>
            <p:nvPr/>
          </p:nvSpPr>
          <p:spPr>
            <a:xfrm>
              <a:off x="1148081" y="899615"/>
              <a:ext cx="7994012" cy="53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RMSE</a:t>
              </a:r>
              <a:r>
                <a:rPr lang="zh-TW" altLang="en-US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計算</a:t>
              </a:r>
              <a:endParaRPr lang="zh-TW" altLang="en-US" sz="2800" dirty="0">
                <a:solidFill>
                  <a:srgbClr val="3333B3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ED8DF381-342B-1140-EA65-4C9A2964ECD8}"/>
                </a:ext>
              </a:extLst>
            </p:cNvPr>
            <p:cNvSpPr txBox="1"/>
            <p:nvPr/>
          </p:nvSpPr>
          <p:spPr>
            <a:xfrm>
              <a:off x="759885" y="1531278"/>
              <a:ext cx="11105462" cy="34009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對每次模擬，計算全部空間位置與係數的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RMSE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(100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個位置、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200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個係數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)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:</a:t>
              </a:r>
            </a:p>
            <a:p>
              <a:pPr>
                <a:lnSpc>
                  <a:spcPct val="150000"/>
                </a:lnSpc>
              </a:pP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>
                <a:lnSpc>
                  <a:spcPct val="150000"/>
                </a:lnSpc>
              </a:pP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>
                <a:lnSpc>
                  <a:spcPct val="150000"/>
                </a:lnSpc>
              </a:pP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>
                <a:lnSpc>
                  <a:spcPct val="150000"/>
                </a:lnSpc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再將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200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次模擬的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RMSE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取平均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:</a:t>
              </a:r>
            </a:p>
            <a:p>
              <a:pPr>
                <a:lnSpc>
                  <a:spcPct val="150000"/>
                </a:lnSpc>
              </a:pP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>
                <a:lnSpc>
                  <a:spcPct val="200000"/>
                </a:lnSpc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將此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RMSE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平均作為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GWR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係數準確度的衡量指標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</p:txBody>
        </p:sp>
      </p:grpSp>
      <p:pic>
        <p:nvPicPr>
          <p:cNvPr id="6" name="圖片 5" descr="\documentclass{article}&#10;\usepackage{amsmath}&#10;\pagestyle{empty}&#10;\begin{document}&#10;&#10;\[RMSE_r=\sqrt{\frac{1}{200}\sum_{i=1}^{100}\sum_{k=1}^2[\hat{\beta}_{k,r}(s_i)-\beta_k^*(s_i)]^2}\]&#10;&#10;&#10;\end{document}" title="IguanaTex Picture Display">
            <a:extLst>
              <a:ext uri="{FF2B5EF4-FFF2-40B4-BE49-F238E27FC236}">
                <a16:creationId xmlns:a16="http://schemas.microsoft.com/office/drawing/2014/main" id="{22BFC738-821D-3E88-4FE9-14F59B6159C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0095" y="2767211"/>
            <a:ext cx="4851809" cy="911238"/>
          </a:xfrm>
          <a:prstGeom prst="rect">
            <a:avLst/>
          </a:prstGeom>
        </p:spPr>
      </p:pic>
      <p:pic>
        <p:nvPicPr>
          <p:cNvPr id="15" name="圖片 14" descr="\documentclass{article}&#10;\usepackage{amsmath}&#10;\pagestyle{empty}&#10;\begin{document}&#10;&#10;\[\overline{RMSE}=\frac{1}{200}RMSE_r\]&#10;&#10;&#10;\end{document}" title="IguanaTex Picture Display">
            <a:extLst>
              <a:ext uri="{FF2B5EF4-FFF2-40B4-BE49-F238E27FC236}">
                <a16:creationId xmlns:a16="http://schemas.microsoft.com/office/drawing/2014/main" id="{04C56764-1330-EED0-CB4A-C8F402307508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0475" y="4347593"/>
            <a:ext cx="2531047" cy="51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6197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2C6AF-7934-68A9-F7F9-F1D04B4C4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1638388-2CC7-49A5-51FB-7355DF141FA0}"/>
              </a:ext>
            </a:extLst>
          </p:cNvPr>
          <p:cNvSpPr/>
          <p:nvPr/>
        </p:nvSpPr>
        <p:spPr>
          <a:xfrm>
            <a:off x="0" y="6642846"/>
            <a:ext cx="12192000" cy="21515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4C89337-1567-69ED-6169-B5F37D1B8ED8}"/>
              </a:ext>
            </a:extLst>
          </p:cNvPr>
          <p:cNvSpPr/>
          <p:nvPr/>
        </p:nvSpPr>
        <p:spPr>
          <a:xfrm>
            <a:off x="0" y="0"/>
            <a:ext cx="12192000" cy="520766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程式碼架構</a:t>
            </a: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39DAE8C1-D18F-1615-14FC-9622453554EB}"/>
              </a:ext>
            </a:extLst>
          </p:cNvPr>
          <p:cNvGrpSpPr/>
          <p:nvPr/>
        </p:nvGrpSpPr>
        <p:grpSpPr>
          <a:xfrm>
            <a:off x="141337" y="614187"/>
            <a:ext cx="4401670" cy="336176"/>
            <a:chOff x="2376723" y="1192307"/>
            <a:chExt cx="4401670" cy="336176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88BC4FAC-9053-40D0-138C-99F4F7BEAAF4}"/>
                </a:ext>
              </a:extLst>
            </p:cNvPr>
            <p:cNvSpPr/>
            <p:nvPr/>
          </p:nvSpPr>
          <p:spPr>
            <a:xfrm>
              <a:off x="2376723" y="1192307"/>
              <a:ext cx="4401670" cy="336176"/>
            </a:xfrm>
            <a:prstGeom prst="roundRect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主要函數與流程</a:t>
              </a:r>
            </a:p>
          </p:txBody>
        </p:sp>
        <p:sp>
          <p:nvSpPr>
            <p:cNvPr id="3" name="橢圓 2">
              <a:extLst>
                <a:ext uri="{FF2B5EF4-FFF2-40B4-BE49-F238E27FC236}">
                  <a16:creationId xmlns:a16="http://schemas.microsoft.com/office/drawing/2014/main" id="{1D56A549-0B81-40B8-7999-16C92CD5A913}"/>
                </a:ext>
              </a:extLst>
            </p:cNvPr>
            <p:cNvSpPr/>
            <p:nvPr/>
          </p:nvSpPr>
          <p:spPr>
            <a:xfrm>
              <a:off x="2462414" y="1234889"/>
              <a:ext cx="251012" cy="251012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  <a:cs typeface="CMU Serif" panose="02000603000000000000" pitchFamily="2" charset="0"/>
                </a:rPr>
                <a:t>1</a:t>
              </a:r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CMU Serif" panose="02000603000000000000" pitchFamily="2" charset="0"/>
              </a:endParaRPr>
            </a:p>
          </p:txBody>
        </p:sp>
      </p:grp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4E3D17E-C2B7-E8AF-270E-BFDDAF92B244}"/>
              </a:ext>
            </a:extLst>
          </p:cNvPr>
          <p:cNvSpPr/>
          <p:nvPr/>
        </p:nvSpPr>
        <p:spPr>
          <a:xfrm>
            <a:off x="287805" y="1052075"/>
            <a:ext cx="2673582" cy="2114977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1. </a:t>
            </a:r>
            <a:r>
              <a:rPr lang="en-US" altLang="zh-TW" sz="1400" b="1" spc="-50" dirty="0" err="1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global_parameter_config</a:t>
            </a: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()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設定模擬參數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10 * 10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空間網格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(n =100)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raw_dim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=10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PCA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後保留 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2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個解釋變數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sims=200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error_var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={0.001, 1}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95% CI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seed = 123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GWR :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無截距、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exponential 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kernel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fixed bandwidth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LOOCV 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96983A9-9D04-2FF0-E70F-592CDE1BA48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7" b="9668"/>
          <a:stretch>
            <a:fillRect/>
          </a:stretch>
        </p:blipFill>
        <p:spPr>
          <a:xfrm>
            <a:off x="0" y="7062148"/>
            <a:ext cx="12192000" cy="6119533"/>
          </a:xfrm>
          <a:prstGeom prst="rect">
            <a:avLst/>
          </a:prstGeom>
        </p:spPr>
      </p:pic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39CAB897-AB99-327D-091A-0C302AC333C0}"/>
              </a:ext>
            </a:extLst>
          </p:cNvPr>
          <p:cNvSpPr/>
          <p:nvPr/>
        </p:nvSpPr>
        <p:spPr>
          <a:xfrm>
            <a:off x="3086842" y="1052074"/>
            <a:ext cx="2242509" cy="2114766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2. </a:t>
            </a:r>
            <a:r>
              <a:rPr lang="en-US" altLang="zh-TW" sz="1400" b="1" spc="-50" dirty="0" err="1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grid_setup</a:t>
            </a: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(parameter)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建立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(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x,y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)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座標網格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取出所有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(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x,y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)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座標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計算距離矩陣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DB7608DA-43AE-5502-692C-E5368690CE7D}"/>
              </a:ext>
            </a:extLst>
          </p:cNvPr>
          <p:cNvSpPr/>
          <p:nvPr/>
        </p:nvSpPr>
        <p:spPr>
          <a:xfrm>
            <a:off x="5454807" y="1052074"/>
            <a:ext cx="2108805" cy="2114766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3. </a:t>
            </a:r>
            <a:r>
              <a:rPr lang="en-US" altLang="zh-TW" sz="1400" b="1" spc="-50" dirty="0" err="1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true_coef_setup</a:t>
            </a: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(grid)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設定真實係數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beta1_true=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grid$x_coord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beta2_true=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grid$y_coord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9B77AF66-F58F-2701-F68A-0004E1619D64}"/>
              </a:ext>
            </a:extLst>
          </p:cNvPr>
          <p:cNvSpPr/>
          <p:nvPr/>
        </p:nvSpPr>
        <p:spPr>
          <a:xfrm>
            <a:off x="7689068" y="1052074"/>
            <a:ext cx="2108805" cy="2114765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4. </a:t>
            </a:r>
            <a:r>
              <a:rPr lang="en-US" altLang="zh-TW" sz="1400" b="1" spc="-50" dirty="0" err="1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run_sim</a:t>
            </a: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(parameter, grid, </a:t>
            </a:r>
            <a:r>
              <a:rPr lang="en-US" altLang="zh-TW" sz="1400" b="1" spc="-50" dirty="0" err="1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true_coef</a:t>
            </a: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核心模擬函數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外層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: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兩種誤差情境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(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error_var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={0.001, 1})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zh-TW" altLang="en-US" sz="1200" b="1" spc="-5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內層 </a:t>
            </a:r>
            <a:r>
              <a:rPr lang="en-US" altLang="zh-TW" sz="1200" b="1" spc="-5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: </a:t>
            </a:r>
            <a:r>
              <a:rPr lang="zh-TW" altLang="en-US" sz="1200" b="1" spc="-5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每種情境模擬 </a:t>
            </a:r>
            <a:r>
              <a:rPr lang="en-US" altLang="zh-TW" sz="1200" b="1" spc="-5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200 </a:t>
            </a:r>
            <a:r>
              <a:rPr lang="zh-TW" altLang="en-US" sz="1200" b="1" spc="-5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次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3EB13A9E-A2CD-AE98-F008-45C8F9F349D0}"/>
              </a:ext>
            </a:extLst>
          </p:cNvPr>
          <p:cNvSpPr/>
          <p:nvPr/>
        </p:nvSpPr>
        <p:spPr>
          <a:xfrm>
            <a:off x="9923328" y="1052075"/>
            <a:ext cx="2082803" cy="2114764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5. </a:t>
            </a:r>
            <a:r>
              <a:rPr lang="zh-TW" altLang="en-US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輸出結果 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all_results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summary_table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BA1C23AA-7296-0ADA-9653-8F7B22018A09}"/>
              </a:ext>
            </a:extLst>
          </p:cNvPr>
          <p:cNvGrpSpPr/>
          <p:nvPr/>
        </p:nvGrpSpPr>
        <p:grpSpPr>
          <a:xfrm>
            <a:off x="141337" y="3335420"/>
            <a:ext cx="4401670" cy="336176"/>
            <a:chOff x="2376723" y="1192307"/>
            <a:chExt cx="4401670" cy="336176"/>
          </a:xfrm>
        </p:grpSpPr>
        <p:sp>
          <p:nvSpPr>
            <p:cNvPr id="19" name="矩形: 圓角 18">
              <a:extLst>
                <a:ext uri="{FF2B5EF4-FFF2-40B4-BE49-F238E27FC236}">
                  <a16:creationId xmlns:a16="http://schemas.microsoft.com/office/drawing/2014/main" id="{BC02981B-7818-B49F-25B9-93A4D03DD907}"/>
                </a:ext>
              </a:extLst>
            </p:cNvPr>
            <p:cNvSpPr/>
            <p:nvPr/>
          </p:nvSpPr>
          <p:spPr>
            <a:xfrm>
              <a:off x="2376723" y="1192307"/>
              <a:ext cx="4401670" cy="336176"/>
            </a:xfrm>
            <a:prstGeom prst="roundRect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600" b="1" dirty="0" err="1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run_sim</a:t>
              </a:r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()</a:t>
              </a:r>
              <a:r>
                <a:rPr lang="zh-TW" altLang="en-US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內圈 </a:t>
              </a:r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200</a:t>
              </a:r>
              <a:r>
                <a:rPr lang="zh-TW" altLang="en-US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次模擬流程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ADC6064B-2F10-DA86-B486-2762AE7B21D7}"/>
                </a:ext>
              </a:extLst>
            </p:cNvPr>
            <p:cNvSpPr/>
            <p:nvPr/>
          </p:nvSpPr>
          <p:spPr>
            <a:xfrm>
              <a:off x="2462414" y="1234889"/>
              <a:ext cx="251012" cy="251012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  <a:cs typeface="CMU Serif" panose="02000603000000000000" pitchFamily="2" charset="0"/>
                </a:rPr>
                <a:t>2</a:t>
              </a:r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CMU Serif" panose="02000603000000000000" pitchFamily="2" charset="0"/>
              </a:endParaRP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CA5ABD20-1053-C5E5-F7DA-AD691463452C}"/>
              </a:ext>
            </a:extLst>
          </p:cNvPr>
          <p:cNvGrpSpPr/>
          <p:nvPr/>
        </p:nvGrpSpPr>
        <p:grpSpPr>
          <a:xfrm>
            <a:off x="287805" y="3726977"/>
            <a:ext cx="4591905" cy="283545"/>
            <a:chOff x="216088" y="3940509"/>
            <a:chExt cx="4591905" cy="283545"/>
          </a:xfrm>
        </p:grpSpPr>
        <p:sp>
          <p:nvSpPr>
            <p:cNvPr id="21" name="矩形: 圓角 20">
              <a:extLst>
                <a:ext uri="{FF2B5EF4-FFF2-40B4-BE49-F238E27FC236}">
                  <a16:creationId xmlns:a16="http://schemas.microsoft.com/office/drawing/2014/main" id="{D3F8BC8E-748B-1ABD-DF01-E0B64263007E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產生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100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*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10 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原始資料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: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</a:t>
              </a: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5CA0B7E1-F03E-5981-B57D-AF02BF84A8A8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711A67AC-825C-9DF6-5ED9-FEC9FFC9DF8F}"/>
              </a:ext>
            </a:extLst>
          </p:cNvPr>
          <p:cNvGrpSpPr/>
          <p:nvPr/>
        </p:nvGrpSpPr>
        <p:grpSpPr>
          <a:xfrm>
            <a:off x="287805" y="4097621"/>
            <a:ext cx="4591905" cy="283545"/>
            <a:chOff x="216088" y="3940509"/>
            <a:chExt cx="4591905" cy="283545"/>
          </a:xfrm>
        </p:grpSpPr>
        <p:sp>
          <p:nvSpPr>
            <p:cNvPr id="25" name="矩形: 圓角 24">
              <a:extLst>
                <a:ext uri="{FF2B5EF4-FFF2-40B4-BE49-F238E27FC236}">
                  <a16:creationId xmlns:a16="http://schemas.microsoft.com/office/drawing/2014/main" id="{5D1982EC-29CF-8673-2CB9-003B3ABB0738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PCA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: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取前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2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主成分作為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4B55034B-F45C-0AB2-9684-0C5BF69EECE7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7F0FC23E-9EA9-9FDA-49C1-8925BA7D6E4D}"/>
              </a:ext>
            </a:extLst>
          </p:cNvPr>
          <p:cNvGrpSpPr/>
          <p:nvPr/>
        </p:nvGrpSpPr>
        <p:grpSpPr>
          <a:xfrm>
            <a:off x="287805" y="4448627"/>
            <a:ext cx="4591905" cy="283545"/>
            <a:chOff x="216088" y="3940509"/>
            <a:chExt cx="4591905" cy="283545"/>
          </a:xfrm>
        </p:grpSpPr>
        <p:sp>
          <p:nvSpPr>
            <p:cNvPr id="28" name="矩形: 圓角 27">
              <a:extLst>
                <a:ext uri="{FF2B5EF4-FFF2-40B4-BE49-F238E27FC236}">
                  <a16:creationId xmlns:a16="http://schemas.microsoft.com/office/drawing/2014/main" id="{FFFD01D3-42DD-783A-BB96-9A89DC615E5A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生成誤差</a:t>
              </a:r>
            </a:p>
          </p:txBody>
        </p:sp>
        <p:sp>
          <p:nvSpPr>
            <p:cNvPr id="29" name="橢圓 28">
              <a:extLst>
                <a:ext uri="{FF2B5EF4-FFF2-40B4-BE49-F238E27FC236}">
                  <a16:creationId xmlns:a16="http://schemas.microsoft.com/office/drawing/2014/main" id="{65D72F0C-AC82-0BC5-E512-B762DC9EB864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612341D2-CE8F-698F-6EB1-1218FAABCB8B}"/>
              </a:ext>
            </a:extLst>
          </p:cNvPr>
          <p:cNvGrpSpPr/>
          <p:nvPr/>
        </p:nvGrpSpPr>
        <p:grpSpPr>
          <a:xfrm>
            <a:off x="287805" y="4815305"/>
            <a:ext cx="4591905" cy="283545"/>
            <a:chOff x="216088" y="3940509"/>
            <a:chExt cx="4591905" cy="283545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AD832BC-118B-64A8-1BA5-E85FDECA53E7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建立反應變數</a:t>
              </a:r>
            </a:p>
          </p:txBody>
        </p:sp>
        <p:sp>
          <p:nvSpPr>
            <p:cNvPr id="32" name="橢圓 31">
              <a:extLst>
                <a:ext uri="{FF2B5EF4-FFF2-40B4-BE49-F238E27FC236}">
                  <a16:creationId xmlns:a16="http://schemas.microsoft.com/office/drawing/2014/main" id="{721EAEC6-8ABF-AF98-FCF7-5A3A42E5CB66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4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984689C5-245D-9AE6-6FED-C883237ACD44}"/>
              </a:ext>
            </a:extLst>
          </p:cNvPr>
          <p:cNvGrpSpPr/>
          <p:nvPr/>
        </p:nvGrpSpPr>
        <p:grpSpPr>
          <a:xfrm>
            <a:off x="287805" y="5172690"/>
            <a:ext cx="4591905" cy="283545"/>
            <a:chOff x="216088" y="3940509"/>
            <a:chExt cx="4591905" cy="283545"/>
          </a:xfrm>
        </p:grpSpPr>
        <p:sp>
          <p:nvSpPr>
            <p:cNvPr id="34" name="矩形: 圓角 33">
              <a:extLst>
                <a:ext uri="{FF2B5EF4-FFF2-40B4-BE49-F238E27FC236}">
                  <a16:creationId xmlns:a16="http://schemas.microsoft.com/office/drawing/2014/main" id="{5ABEA5D1-B2D9-25F7-9BC1-C4DBF1D3C054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使用 </a:t>
              </a:r>
              <a:r>
                <a:rPr lang="en-US" altLang="zh-TW" sz="1400" b="1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GWmodel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的 </a:t>
              </a:r>
              <a:r>
                <a:rPr lang="en-US" altLang="zh-TW" sz="1400" b="1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bw_gwr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() 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選最佳帶寬</a:t>
              </a:r>
            </a:p>
          </p:txBody>
        </p:sp>
        <p:sp>
          <p:nvSpPr>
            <p:cNvPr id="35" name="橢圓 34">
              <a:extLst>
                <a:ext uri="{FF2B5EF4-FFF2-40B4-BE49-F238E27FC236}">
                  <a16:creationId xmlns:a16="http://schemas.microsoft.com/office/drawing/2014/main" id="{9BDF39BE-F740-A145-2A2B-4DD22F492469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5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11556B80-E67F-1049-FE1C-A179DB2B1B5F}"/>
              </a:ext>
            </a:extLst>
          </p:cNvPr>
          <p:cNvGrpSpPr/>
          <p:nvPr/>
        </p:nvGrpSpPr>
        <p:grpSpPr>
          <a:xfrm>
            <a:off x="287805" y="5511393"/>
            <a:ext cx="4591905" cy="283545"/>
            <a:chOff x="216088" y="3940509"/>
            <a:chExt cx="4591905" cy="283545"/>
          </a:xfrm>
        </p:grpSpPr>
        <p:sp>
          <p:nvSpPr>
            <p:cNvPr id="37" name="矩形: 圓角 36">
              <a:extLst>
                <a:ext uri="{FF2B5EF4-FFF2-40B4-BE49-F238E27FC236}">
                  <a16:creationId xmlns:a16="http://schemas.microsoft.com/office/drawing/2014/main" id="{1A47F5ED-FBF4-FD5E-E2A9-165CE8BAEBF1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使用 </a:t>
              </a:r>
              <a:r>
                <a:rPr lang="en-US" altLang="zh-TW" sz="1400" b="1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GWmodel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的 </a:t>
              </a:r>
              <a:r>
                <a:rPr lang="en-US" altLang="zh-TW" sz="1400" b="1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gwr.basic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() 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估計各點係數</a:t>
              </a:r>
            </a:p>
          </p:txBody>
        </p:sp>
        <p:sp>
          <p:nvSpPr>
            <p:cNvPr id="38" name="橢圓 37">
              <a:extLst>
                <a:ext uri="{FF2B5EF4-FFF2-40B4-BE49-F238E27FC236}">
                  <a16:creationId xmlns:a16="http://schemas.microsoft.com/office/drawing/2014/main" id="{5D21A4DD-15F9-C353-C272-2D38474F6B53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6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69D533D9-0DF4-E473-D0DE-5FF68874AC39}"/>
              </a:ext>
            </a:extLst>
          </p:cNvPr>
          <p:cNvGrpSpPr/>
          <p:nvPr/>
        </p:nvGrpSpPr>
        <p:grpSpPr>
          <a:xfrm>
            <a:off x="287805" y="5856475"/>
            <a:ext cx="4591905" cy="283545"/>
            <a:chOff x="216088" y="3940509"/>
            <a:chExt cx="4591905" cy="283545"/>
          </a:xfrm>
        </p:grpSpPr>
        <p:sp>
          <p:nvSpPr>
            <p:cNvPr id="40" name="矩形: 圓角 39">
              <a:extLst>
                <a:ext uri="{FF2B5EF4-FFF2-40B4-BE49-F238E27FC236}">
                  <a16:creationId xmlns:a16="http://schemas.microsoft.com/office/drawing/2014/main" id="{EACEBD16-B196-B791-02F8-67BEBA985238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計算係數標準誤並建立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95%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CI</a:t>
              </a:r>
              <a:endPara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41" name="橢圓 40">
              <a:extLst>
                <a:ext uri="{FF2B5EF4-FFF2-40B4-BE49-F238E27FC236}">
                  <a16:creationId xmlns:a16="http://schemas.microsoft.com/office/drawing/2014/main" id="{BE3B175A-57BD-4210-A9CD-A2924D50BA6F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7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CAB33592-ADFC-8E42-9D11-E955965D8120}"/>
              </a:ext>
            </a:extLst>
          </p:cNvPr>
          <p:cNvGrpSpPr/>
          <p:nvPr/>
        </p:nvGrpSpPr>
        <p:grpSpPr>
          <a:xfrm>
            <a:off x="287805" y="6201557"/>
            <a:ext cx="4591905" cy="283545"/>
            <a:chOff x="216088" y="3940509"/>
            <a:chExt cx="4591905" cy="283545"/>
          </a:xfrm>
        </p:grpSpPr>
        <p:sp>
          <p:nvSpPr>
            <p:cNvPr id="43" name="矩形: 圓角 42">
              <a:extLst>
                <a:ext uri="{FF2B5EF4-FFF2-40B4-BE49-F238E27FC236}">
                  <a16:creationId xmlns:a16="http://schemas.microsoft.com/office/drawing/2014/main" id="{ADDB71C3-8A4C-6502-7FA7-77DC8721A0A1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計算信賴區間涵蓋率與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RMSE</a:t>
              </a:r>
              <a:endPara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44" name="橢圓 43">
              <a:extLst>
                <a:ext uri="{FF2B5EF4-FFF2-40B4-BE49-F238E27FC236}">
                  <a16:creationId xmlns:a16="http://schemas.microsoft.com/office/drawing/2014/main" id="{6B14BD12-EE1B-AB24-A80C-33F1ECABA918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8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A9DFA031-0E9E-3DE2-1ABD-77D43667848D}"/>
              </a:ext>
            </a:extLst>
          </p:cNvPr>
          <p:cNvGrpSpPr/>
          <p:nvPr/>
        </p:nvGrpSpPr>
        <p:grpSpPr>
          <a:xfrm>
            <a:off x="5454807" y="3380932"/>
            <a:ext cx="4401670" cy="336176"/>
            <a:chOff x="2376723" y="1192307"/>
            <a:chExt cx="4401670" cy="336176"/>
          </a:xfrm>
        </p:grpSpPr>
        <p:sp>
          <p:nvSpPr>
            <p:cNvPr id="46" name="矩形: 圓角 45">
              <a:extLst>
                <a:ext uri="{FF2B5EF4-FFF2-40B4-BE49-F238E27FC236}">
                  <a16:creationId xmlns:a16="http://schemas.microsoft.com/office/drawing/2014/main" id="{76BEFB19-4D6F-026F-3E43-A8EB13F3A5D7}"/>
                </a:ext>
              </a:extLst>
            </p:cNvPr>
            <p:cNvSpPr/>
            <p:nvPr/>
          </p:nvSpPr>
          <p:spPr>
            <a:xfrm>
              <a:off x="2376723" y="1192307"/>
              <a:ext cx="4401670" cy="336176"/>
            </a:xfrm>
            <a:prstGeom prst="roundRect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模擬重點與輸出指標</a:t>
              </a:r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7D319414-3A63-D708-90CB-61B1CDAB909B}"/>
                </a:ext>
              </a:extLst>
            </p:cNvPr>
            <p:cNvSpPr/>
            <p:nvPr/>
          </p:nvSpPr>
          <p:spPr>
            <a:xfrm>
              <a:off x="2462414" y="1234889"/>
              <a:ext cx="251012" cy="251012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  <a:cs typeface="CMU Serif" panose="02000603000000000000" pitchFamily="2" charset="0"/>
                </a:rPr>
                <a:t>3</a:t>
              </a:r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CMU Serif" panose="02000603000000000000" pitchFamily="2" charset="0"/>
              </a:endParaRPr>
            </a:p>
          </p:txBody>
        </p:sp>
      </p:grpSp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CDACBFD6-FA42-A292-F8CD-511D8C033CF7}"/>
              </a:ext>
            </a:extLst>
          </p:cNvPr>
          <p:cNvSpPr/>
          <p:nvPr/>
        </p:nvSpPr>
        <p:spPr>
          <a:xfrm>
            <a:off x="5540498" y="3799175"/>
            <a:ext cx="3324022" cy="1743996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6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 .  </a:t>
            </a:r>
            <a:r>
              <a:rPr lang="zh-TW" altLang="en-US" sz="16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模擬目的</a:t>
            </a:r>
            <a:endParaRPr lang="en-US" altLang="zh-TW" sz="1600" b="1" spc="-50" dirty="0">
              <a:solidFill>
                <a:srgbClr val="3333B3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解釋變數無明顯共線性情況下，</a:t>
            </a: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GWR</a:t>
            </a: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推論是否可靠</a:t>
            </a:r>
            <a:endParaRPr lang="en-US" altLang="zh-TW" sz="14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GWR</a:t>
            </a: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是否能準確還原空間變動係數</a:t>
            </a:r>
            <a:endParaRPr lang="en-US" altLang="zh-TW" sz="14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95%</a:t>
            </a: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CI</a:t>
            </a: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是否能涵蓋真實係數</a:t>
            </a:r>
            <a:endParaRPr lang="en-US" altLang="zh-TW" sz="14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結果是否受誤差大小影響</a:t>
            </a:r>
            <a:endParaRPr lang="en-US" altLang="zh-TW" sz="14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419BA65A-84DB-D2EC-E34D-BB668E5DE71B}"/>
              </a:ext>
            </a:extLst>
          </p:cNvPr>
          <p:cNvSpPr/>
          <p:nvPr/>
        </p:nvSpPr>
        <p:spPr>
          <a:xfrm>
            <a:off x="8960007" y="3801564"/>
            <a:ext cx="2466210" cy="1743996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6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 .  </a:t>
            </a:r>
            <a:r>
              <a:rPr lang="zh-TW" altLang="en-US" sz="16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主要評估指標</a:t>
            </a:r>
            <a:endParaRPr lang="en-US" altLang="zh-TW" sz="1600" b="1" spc="-50" dirty="0">
              <a:solidFill>
                <a:srgbClr val="3333B3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RMSE</a:t>
            </a: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Mean CP (   </a:t>
            </a: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 </a:t>
            </a: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)</a:t>
            </a: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Mean CP (   </a:t>
            </a: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 </a:t>
            </a: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)</a:t>
            </a:r>
          </a:p>
        </p:txBody>
      </p:sp>
      <p:cxnSp>
        <p:nvCxnSpPr>
          <p:cNvPr id="61" name="直線單箭頭接點 60">
            <a:extLst>
              <a:ext uri="{FF2B5EF4-FFF2-40B4-BE49-F238E27FC236}">
                <a16:creationId xmlns:a16="http://schemas.microsoft.com/office/drawing/2014/main" id="{34811DBD-6F37-B103-4CE4-5E9DBE45CD49}"/>
              </a:ext>
            </a:extLst>
          </p:cNvPr>
          <p:cNvCxnSpPr/>
          <p:nvPr/>
        </p:nvCxnSpPr>
        <p:spPr>
          <a:xfrm flipH="1">
            <a:off x="4670612" y="2429435"/>
            <a:ext cx="3514164" cy="94856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圖片 64" descr="\documentclass{article}&#10;\usepackage{amsmath}&#10;\pagestyle{empty}&#10;\begin{document}&#10;&#10;\[Z_i\sim N_{10}(\textbf{0}, \textbf{I}_{10})\]&#10;&#10;&#10;\end{document}" title="IguanaTex Picture Display">
            <a:extLst>
              <a:ext uri="{FF2B5EF4-FFF2-40B4-BE49-F238E27FC236}">
                <a16:creationId xmlns:a16="http://schemas.microsoft.com/office/drawing/2014/main" id="{1BB610C2-F159-C3C3-87C5-194B785ACD4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9293" y="3792966"/>
            <a:ext cx="1226667" cy="178133"/>
          </a:xfrm>
          <a:prstGeom prst="rect">
            <a:avLst/>
          </a:prstGeom>
        </p:spPr>
      </p:pic>
      <p:pic>
        <p:nvPicPr>
          <p:cNvPr id="69" name="圖片 68" descr="\documentclass{article}&#10;\usepackage{amsmath}&#10;\pagestyle{empty}&#10;\begin{document}&#10;&#10;\[x_1, x_2\]&#10;&#10;&#10;\end{document}" title="IguanaTex Picture Display">
            <a:extLst>
              <a:ext uri="{FF2B5EF4-FFF2-40B4-BE49-F238E27FC236}">
                <a16:creationId xmlns:a16="http://schemas.microsoft.com/office/drawing/2014/main" id="{A18D3FB7-AE8E-9F18-FD6F-AB27C82D077A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315" y="4201755"/>
            <a:ext cx="420267" cy="112000"/>
          </a:xfrm>
          <a:prstGeom prst="rect">
            <a:avLst/>
          </a:prstGeom>
        </p:spPr>
      </p:pic>
      <p:pic>
        <p:nvPicPr>
          <p:cNvPr id="75" name="圖片 74" descr="\documentclass{article}&#10;\usepackage{amsmath}&#10;\pagestyle{empty}&#10;\begin{document}&#10;&#10;\[\epsilon(s_i)\overset{ind.}{\sim}N(0,\tau^{2*})\]&#10;&#10;&#10;\end{document}" title="IguanaTex Picture Display">
            <a:extLst>
              <a:ext uri="{FF2B5EF4-FFF2-40B4-BE49-F238E27FC236}">
                <a16:creationId xmlns:a16="http://schemas.microsoft.com/office/drawing/2014/main" id="{23B27D86-75D7-A480-B190-768E988C9FD3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491" y="4479269"/>
            <a:ext cx="1219860" cy="202533"/>
          </a:xfrm>
          <a:prstGeom prst="rect">
            <a:avLst/>
          </a:prstGeom>
        </p:spPr>
      </p:pic>
      <p:pic>
        <p:nvPicPr>
          <p:cNvPr id="79" name="圖片 78" descr="\documentclass{article}&#10;\usepackage{amsmath}&#10;\pagestyle{empty}&#10;\begin{document}&#10;&#10;&#10;\[y(s_i)=\beta_1^*(s_i)x_1(s_i)+\beta_2^*(s_i)x_2(x)+\epsilon(s_i)\]&#10;&#10;\end{document}" title="IguanaTex Picture Display">
            <a:extLst>
              <a:ext uri="{FF2B5EF4-FFF2-40B4-BE49-F238E27FC236}">
                <a16:creationId xmlns:a16="http://schemas.microsoft.com/office/drawing/2014/main" id="{9F0C6AC3-6AC6-152B-F00C-3A709858D480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0518" y="4886975"/>
            <a:ext cx="2717308" cy="151617"/>
          </a:xfrm>
          <a:prstGeom prst="rect">
            <a:avLst/>
          </a:prstGeom>
        </p:spPr>
      </p:pic>
      <p:pic>
        <p:nvPicPr>
          <p:cNvPr id="81" name="圖片 80" descr="\documentclass{article}&#10;\usepackage{amsmath}&#10;\pagestyle{empty}&#10;\begin{document}&#10;&#10;\[\beta_1\]&#10;&#10;&#10;\end{document}" title="IguanaTex Picture Display">
            <a:extLst>
              <a:ext uri="{FF2B5EF4-FFF2-40B4-BE49-F238E27FC236}">
                <a16:creationId xmlns:a16="http://schemas.microsoft.com/office/drawing/2014/main" id="{365B61F6-0A62-A369-DC91-00C606E1F4AD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2427" y="4448627"/>
            <a:ext cx="154667" cy="160000"/>
          </a:xfrm>
          <a:prstGeom prst="rect">
            <a:avLst/>
          </a:prstGeom>
        </p:spPr>
      </p:pic>
      <p:pic>
        <p:nvPicPr>
          <p:cNvPr id="84" name="圖片 83" descr="\documentclass{article}&#10;\usepackage{amsmath}&#10;\pagestyle{empty}&#10;\begin{document}&#10;&#10;\[\beta_2\]&#10;&#10;&#10;\end{document}" title="IguanaTex Picture Display">
            <a:extLst>
              <a:ext uri="{FF2B5EF4-FFF2-40B4-BE49-F238E27FC236}">
                <a16:creationId xmlns:a16="http://schemas.microsoft.com/office/drawing/2014/main" id="{CDE012DD-D0CA-04C1-2B46-451FCE55416F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2426" y="4702048"/>
            <a:ext cx="158934" cy="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6410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65107-2881-44C0-03B3-73EBA68FC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96099D4-5C25-A742-1833-194D364A4E3A}"/>
              </a:ext>
            </a:extLst>
          </p:cNvPr>
          <p:cNvSpPr/>
          <p:nvPr/>
        </p:nvSpPr>
        <p:spPr>
          <a:xfrm>
            <a:off x="0" y="6642846"/>
            <a:ext cx="12192000" cy="21515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0F1FD09-32B2-FC80-3D94-5F69DF075D87}"/>
              </a:ext>
            </a:extLst>
          </p:cNvPr>
          <p:cNvSpPr/>
          <p:nvPr/>
        </p:nvSpPr>
        <p:spPr>
          <a:xfrm>
            <a:off x="0" y="0"/>
            <a:ext cx="12192000" cy="520766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結果比較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94A2E3F-ADE9-75F0-2057-CF5A73D439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7" b="9668"/>
          <a:stretch>
            <a:fillRect/>
          </a:stretch>
        </p:blipFill>
        <p:spPr>
          <a:xfrm>
            <a:off x="0" y="7173759"/>
            <a:ext cx="12192000" cy="6119533"/>
          </a:xfrm>
          <a:prstGeom prst="rect">
            <a:avLst/>
          </a:prstGeom>
        </p:spPr>
      </p:pic>
      <p:grpSp>
        <p:nvGrpSpPr>
          <p:cNvPr id="7" name="群組 6">
            <a:extLst>
              <a:ext uri="{FF2B5EF4-FFF2-40B4-BE49-F238E27FC236}">
                <a16:creationId xmlns:a16="http://schemas.microsoft.com/office/drawing/2014/main" id="{7CF6CDCC-D315-3952-78AC-38F6462ED0B4}"/>
              </a:ext>
            </a:extLst>
          </p:cNvPr>
          <p:cNvGrpSpPr/>
          <p:nvPr/>
        </p:nvGrpSpPr>
        <p:grpSpPr>
          <a:xfrm>
            <a:off x="3895165" y="828986"/>
            <a:ext cx="4401670" cy="336176"/>
            <a:chOff x="2376723" y="1192307"/>
            <a:chExt cx="4401670" cy="336176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A6FC970E-80CF-262C-9653-2C980819A8F1}"/>
                </a:ext>
              </a:extLst>
            </p:cNvPr>
            <p:cNvSpPr/>
            <p:nvPr/>
          </p:nvSpPr>
          <p:spPr>
            <a:xfrm>
              <a:off x="2376723" y="1192307"/>
              <a:ext cx="4401670" cy="336176"/>
            </a:xfrm>
            <a:prstGeom prst="roundRect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論文模擬實驗結果</a:t>
              </a:r>
            </a:p>
          </p:txBody>
        </p:sp>
        <p:sp>
          <p:nvSpPr>
            <p:cNvPr id="3" name="橢圓 2">
              <a:extLst>
                <a:ext uri="{FF2B5EF4-FFF2-40B4-BE49-F238E27FC236}">
                  <a16:creationId xmlns:a16="http://schemas.microsoft.com/office/drawing/2014/main" id="{57EA3D58-2DCA-7E23-5508-5BEF8884C67A}"/>
                </a:ext>
              </a:extLst>
            </p:cNvPr>
            <p:cNvSpPr/>
            <p:nvPr/>
          </p:nvSpPr>
          <p:spPr>
            <a:xfrm>
              <a:off x="2462414" y="1234889"/>
              <a:ext cx="251012" cy="251012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  <a:cs typeface="CMU Serif" panose="02000603000000000000" pitchFamily="2" charset="0"/>
                </a:rPr>
                <a:t>1</a:t>
              </a:r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CMU Serif" panose="02000603000000000000" pitchFamily="2" charset="0"/>
              </a:endParaRPr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1423C766-8AF8-CBD1-CD12-580C6311B3AC}"/>
              </a:ext>
            </a:extLst>
          </p:cNvPr>
          <p:cNvGrpSpPr/>
          <p:nvPr/>
        </p:nvGrpSpPr>
        <p:grpSpPr>
          <a:xfrm>
            <a:off x="3895165" y="4748818"/>
            <a:ext cx="4401670" cy="336176"/>
            <a:chOff x="2376723" y="1192307"/>
            <a:chExt cx="4401670" cy="336176"/>
          </a:xfrm>
        </p:grpSpPr>
        <p:sp>
          <p:nvSpPr>
            <p:cNvPr id="19" name="矩形: 圓角 18">
              <a:extLst>
                <a:ext uri="{FF2B5EF4-FFF2-40B4-BE49-F238E27FC236}">
                  <a16:creationId xmlns:a16="http://schemas.microsoft.com/office/drawing/2014/main" id="{E43D8506-C69A-6064-92A3-E5994524BC82}"/>
                </a:ext>
              </a:extLst>
            </p:cNvPr>
            <p:cNvSpPr/>
            <p:nvPr/>
          </p:nvSpPr>
          <p:spPr>
            <a:xfrm>
              <a:off x="2376723" y="1192307"/>
              <a:ext cx="4401670" cy="336176"/>
            </a:xfrm>
            <a:prstGeom prst="roundRect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復刻模擬實驗結果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42040123-7FFA-3603-04E1-2F04EF5312C4}"/>
                </a:ext>
              </a:extLst>
            </p:cNvPr>
            <p:cNvSpPr/>
            <p:nvPr/>
          </p:nvSpPr>
          <p:spPr>
            <a:xfrm>
              <a:off x="2462414" y="1234889"/>
              <a:ext cx="251012" cy="251012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  <a:cs typeface="CMU Serif" panose="02000603000000000000" pitchFamily="2" charset="0"/>
                </a:rPr>
                <a:t>2</a:t>
              </a:r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0" name="圖片 9">
            <a:extLst>
              <a:ext uri="{FF2B5EF4-FFF2-40B4-BE49-F238E27FC236}">
                <a16:creationId xmlns:a16="http://schemas.microsoft.com/office/drawing/2014/main" id="{B8402CE7-7CB3-61C9-486E-20799FB18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8044" y="1258583"/>
            <a:ext cx="6595913" cy="1600950"/>
          </a:xfrm>
          <a:prstGeom prst="rect">
            <a:avLst/>
          </a:prstGeom>
          <a:ln w="19050">
            <a:noFill/>
          </a:ln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0A823BB8-179E-F6B1-0461-E2E3DCD4F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8044" y="2980998"/>
            <a:ext cx="6595913" cy="1573083"/>
          </a:xfrm>
          <a:prstGeom prst="rect">
            <a:avLst/>
          </a:prstGeom>
          <a:ln w="19050">
            <a:noFill/>
          </a:ln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8E79165B-339E-33ED-AF52-DB276831196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6453"/>
          <a:stretch>
            <a:fillRect/>
          </a:stretch>
        </p:blipFill>
        <p:spPr>
          <a:xfrm>
            <a:off x="2650797" y="5235827"/>
            <a:ext cx="6890405" cy="1140986"/>
          </a:xfrm>
          <a:prstGeom prst="rect">
            <a:avLst/>
          </a:prstGeom>
          <a:ln w="28575">
            <a:noFill/>
          </a:ln>
        </p:spPr>
      </p:pic>
      <p:sp>
        <p:nvSpPr>
          <p:cNvPr id="51" name="矩形: 圓角 50">
            <a:extLst>
              <a:ext uri="{FF2B5EF4-FFF2-40B4-BE49-F238E27FC236}">
                <a16:creationId xmlns:a16="http://schemas.microsoft.com/office/drawing/2014/main" id="{145A3260-D618-3C4D-8EC5-DE88DFD2974A}"/>
              </a:ext>
            </a:extLst>
          </p:cNvPr>
          <p:cNvSpPr/>
          <p:nvPr/>
        </p:nvSpPr>
        <p:spPr>
          <a:xfrm>
            <a:off x="2798043" y="2465679"/>
            <a:ext cx="6454584" cy="29324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A027BDDC-4F9C-1BE5-9BC5-10BC9632DF06}"/>
              </a:ext>
            </a:extLst>
          </p:cNvPr>
          <p:cNvSpPr/>
          <p:nvPr/>
        </p:nvSpPr>
        <p:spPr>
          <a:xfrm>
            <a:off x="2798043" y="4188954"/>
            <a:ext cx="6454584" cy="29324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36925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7C0CF-87A7-0096-7D0D-40723CA04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871D5C7-ABED-AB1C-5CFE-A0C1464EAA28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729AA185-79F7-C2F3-928C-6162E77455D1}"/>
              </a:ext>
            </a:extLst>
          </p:cNvPr>
          <p:cNvSpPr/>
          <p:nvPr/>
        </p:nvSpPr>
        <p:spPr>
          <a:xfrm>
            <a:off x="1223963" y="2332831"/>
            <a:ext cx="9744075" cy="1468438"/>
          </a:xfrm>
          <a:prstGeom prst="roundRect">
            <a:avLst/>
          </a:prstGeom>
          <a:solidFill>
            <a:srgbClr val="3333B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實作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3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: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</a:t>
            </a:r>
            <a:r>
              <a:rPr lang="zh-TW" altLang="en-US" sz="3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黃金分割搜尋演算法</a:t>
            </a:r>
            <a:endParaRPr lang="zh-TW" altLang="en-US" sz="360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773575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579FF-DA42-CCEB-C702-4ED462795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8126DFAB-A211-E37A-BA2C-F3B51E039519}"/>
              </a:ext>
            </a:extLst>
          </p:cNvPr>
          <p:cNvSpPr/>
          <p:nvPr/>
        </p:nvSpPr>
        <p:spPr>
          <a:xfrm>
            <a:off x="242048" y="984575"/>
            <a:ext cx="11707905" cy="5532763"/>
          </a:xfrm>
          <a:prstGeom prst="roundRect">
            <a:avLst>
              <a:gd name="adj" fmla="val 3624"/>
            </a:avLst>
          </a:prstGeom>
          <a:solidFill>
            <a:srgbClr val="F3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CDB0FC95-A2F6-3F86-6122-C31D0C1B6C00}"/>
              </a:ext>
            </a:extLst>
          </p:cNvPr>
          <p:cNvCxnSpPr>
            <a:cxnSpLocks/>
          </p:cNvCxnSpPr>
          <p:nvPr/>
        </p:nvCxnSpPr>
        <p:spPr>
          <a:xfrm>
            <a:off x="6096000" y="1125066"/>
            <a:ext cx="0" cy="52891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F11116A4-64FC-C9E3-377B-3CC27012745C}"/>
              </a:ext>
            </a:extLst>
          </p:cNvPr>
          <p:cNvSpPr/>
          <p:nvPr/>
        </p:nvSpPr>
        <p:spPr>
          <a:xfrm>
            <a:off x="0" y="6707954"/>
            <a:ext cx="12192000" cy="1500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20E2710-32C9-7097-A989-BE6435161C5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最佳帶寬選擇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黃金切割搜尋演算法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(Golden Section Search)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43" name="圖片 42" descr="\documentclass{article}&#10;\usepackage{amsmath}&#10;\pagestyle{empty}&#10;\begin{document}&#10;&#10;\begin{minipage}{0.94\linewidth}&#10;\setlength{\parindent}{0pt}&#10;&#10;\textbf{Basic Idea}&#10;&#10;Assume&#10;\[&#10;a&lt;b&lt;c,&#10;\qquad&#10;f(b)&lt;f(a),&#10;\qquad&#10;f(b)&lt;f(c).&#10;\]&#10;&#10;Choose another test point $x$ such that&#10;\[&#10;a&lt;b&lt;x&lt;c.&#10;\]&#10;&#10;The search interval is reduced according to&#10;\[&#10;\begin{cases}&#10;f(b)&lt;f(x)&#10;&amp;\Rightarrow [a,c]\rightarrow[a,x],\\[4pt]&#10;f(b)&gt;f(x)&#10;&amp;\Rightarrow [a,c]\rightarrow[b,c].&#10;\end{cases}&#10;\]&#10;&#10;\medskip&#10;&#10;\textbf{Golden Ratio Selection}&#10;&#10;Let&#10;\[&#10;w=\frac{b-a}{c-a}.&#10;\]&#10;&#10;Choose $x$ so that the same ratio is preserved:&#10;\[&#10;\frac{x-b}{c-b}=w.&#10;\]&#10;&#10;\end{minipage}&#10;&#10;&#10;\end{document}" title="IguanaTex Picture Display">
            <a:extLst>
              <a:ext uri="{FF2B5EF4-FFF2-40B4-BE49-F238E27FC236}">
                <a16:creationId xmlns:a16="http://schemas.microsoft.com/office/drawing/2014/main" id="{34394DDA-F58B-31D2-9298-9479EA494E2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67" y="1344703"/>
            <a:ext cx="5202895" cy="4949333"/>
          </a:xfrm>
          <a:prstGeom prst="rect">
            <a:avLst/>
          </a:prstGeom>
        </p:spPr>
      </p:pic>
      <p:pic>
        <p:nvPicPr>
          <p:cNvPr id="41" name="圖片 40" descr="\documentclass{article}&#10;\usepackage{amsmath}&#10;\pagestyle{empty}&#10;\begin{document}&#10;\begin{minipage}{0.94\linewidth}&#10;Since&#10;\[&#10;b-a=w(c-a),&#10;\qquad&#10;c-b=(1-w)(c-a),&#10;\]&#10;and&#10;\[&#10;x-b=(1-2w)(c-a),&#10;\]&#10;it follows that&#10;\[&#10;\frac{1-2w}{1-w}=w.&#10;\]&#10;&#10;Hence,&#10;\[&#10;w^2-3w+1=0.&#10;\]&#10;&#10;For $0&lt;w&lt;1$,&#10;\[&#10;\boxed{&#10;w=\frac{3-\sqrt{5}}{2}&#10;\approx 0.381966&#10;}&#10;\]&#10;&#10;and&#10;\[&#10;\boxed{&#10;1-w=\frac{\sqrt{5}-1}{2}&#10;\approx 0.618034&#10;}.&#10;\]&#10;&#10;Therefore, the golden-section ratio is approximately&#10;\[&#10;\boxed{0.382:0.618}.&#10;\]&#10;&#10;\end{minipage}&#10;&#10;&#10;\end{document}" title="IguanaTex Picture Display">
            <a:extLst>
              <a:ext uri="{FF2B5EF4-FFF2-40B4-BE49-F238E27FC236}">
                <a16:creationId xmlns:a16="http://schemas.microsoft.com/office/drawing/2014/main" id="{2167D324-3191-BEFC-D71A-11D2759618C1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7904" y="1344703"/>
            <a:ext cx="5240685" cy="5039542"/>
          </a:xfrm>
          <a:prstGeom prst="rect">
            <a:avLst/>
          </a:prstGeom>
        </p:spPr>
      </p:pic>
      <p:sp>
        <p:nvSpPr>
          <p:cNvPr id="47" name="文字方塊 46">
            <a:extLst>
              <a:ext uri="{FF2B5EF4-FFF2-40B4-BE49-F238E27FC236}">
                <a16:creationId xmlns:a16="http://schemas.microsoft.com/office/drawing/2014/main" id="{991C5328-9B04-7DC2-82F6-256F0DA86D20}"/>
              </a:ext>
            </a:extLst>
          </p:cNvPr>
          <p:cNvSpPr txBox="1"/>
          <p:nvPr/>
        </p:nvSpPr>
        <p:spPr>
          <a:xfrm>
            <a:off x="242047" y="744184"/>
            <a:ext cx="23980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基本觀念與推導</a:t>
            </a:r>
            <a:endParaRPr lang="zh-TW" altLang="en-US" sz="2400" b="1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35348D6-CE0C-4D29-222B-80C02B0BD1E2}"/>
              </a:ext>
            </a:extLst>
          </p:cNvPr>
          <p:cNvSpPr txBox="1"/>
          <p:nvPr/>
        </p:nvSpPr>
        <p:spPr>
          <a:xfrm>
            <a:off x="5262282" y="6465499"/>
            <a:ext cx="6929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Reference:</a:t>
            </a:r>
            <a:r>
              <a:rPr lang="zh-TW" altLang="en-US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Press et al., Numerical Recipes, 3rd ed., Cambridge University Press, 2007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6005460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1AA3C-04E8-F0AE-5774-97B5EC669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48DF662-A469-D3DA-EDA5-7097D94EE1A1}"/>
              </a:ext>
            </a:extLst>
          </p:cNvPr>
          <p:cNvSpPr/>
          <p:nvPr/>
        </p:nvSpPr>
        <p:spPr>
          <a:xfrm>
            <a:off x="0" y="6707954"/>
            <a:ext cx="12192000" cy="1500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750EB5D-7C09-7517-A115-9388D204F24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最佳帶寬選擇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黃金切割搜尋演算法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(Golden Section Search)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22AC4A29-A33C-0AAE-7DC8-A22138C12995}"/>
              </a:ext>
            </a:extLst>
          </p:cNvPr>
          <p:cNvSpPr txBox="1"/>
          <p:nvPr/>
        </p:nvSpPr>
        <p:spPr>
          <a:xfrm>
            <a:off x="3043517" y="1081758"/>
            <a:ext cx="61049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黃金分割搜尋概念圖解</a:t>
            </a:r>
            <a:endParaRPr lang="zh-TW" altLang="en-US" sz="2800" b="1" dirty="0"/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5A27FDBB-2BA6-23CB-B24A-271BD7CD02B2}"/>
              </a:ext>
            </a:extLst>
          </p:cNvPr>
          <p:cNvGrpSpPr/>
          <p:nvPr/>
        </p:nvGrpSpPr>
        <p:grpSpPr>
          <a:xfrm>
            <a:off x="763679" y="1750063"/>
            <a:ext cx="10664641" cy="4462477"/>
            <a:chOff x="1410818" y="1848676"/>
            <a:chExt cx="9872383" cy="4097684"/>
          </a:xfrm>
        </p:grpSpPr>
        <p:pic>
          <p:nvPicPr>
            <p:cNvPr id="74" name="圖片 73">
              <a:extLst>
                <a:ext uri="{FF2B5EF4-FFF2-40B4-BE49-F238E27FC236}">
                  <a16:creationId xmlns:a16="http://schemas.microsoft.com/office/drawing/2014/main" id="{0D9E848D-8A68-40DF-0E5F-C22FE1C112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6" t="14641" r="2181" b="14771"/>
            <a:stretch>
              <a:fillRect/>
            </a:stretch>
          </p:blipFill>
          <p:spPr>
            <a:xfrm>
              <a:off x="1410818" y="1848676"/>
              <a:ext cx="9872383" cy="4097684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48AFC11B-C9C4-798D-7535-ACB2C2E15403}"/>
                </a:ext>
              </a:extLst>
            </p:cNvPr>
            <p:cNvSpPr/>
            <p:nvPr/>
          </p:nvSpPr>
          <p:spPr>
            <a:xfrm>
              <a:off x="1604323" y="2282772"/>
              <a:ext cx="4163567" cy="18775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9EE2E987-0C5D-5727-68E2-786409C79498}"/>
                </a:ext>
              </a:extLst>
            </p:cNvPr>
            <p:cNvGrpSpPr/>
            <p:nvPr/>
          </p:nvGrpSpPr>
          <p:grpSpPr>
            <a:xfrm>
              <a:off x="1732339" y="2164591"/>
              <a:ext cx="4096511" cy="1947614"/>
              <a:chOff x="1432560" y="2209541"/>
              <a:chExt cx="4038600" cy="1947614"/>
            </a:xfrm>
          </p:grpSpPr>
          <p:cxnSp>
            <p:nvCxnSpPr>
              <p:cNvPr id="14" name="直線接點 13">
                <a:extLst>
                  <a:ext uri="{FF2B5EF4-FFF2-40B4-BE49-F238E27FC236}">
                    <a16:creationId xmlns:a16="http://schemas.microsoft.com/office/drawing/2014/main" id="{AD09FFB6-A4DD-0BF9-D8A6-747782CB0E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8310" y="2853641"/>
                <a:ext cx="0" cy="1291639"/>
              </a:xfrm>
              <a:prstGeom prst="line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手繪多邊形: 圖案 1">
                <a:extLst>
                  <a:ext uri="{FF2B5EF4-FFF2-40B4-BE49-F238E27FC236}">
                    <a16:creationId xmlns:a16="http://schemas.microsoft.com/office/drawing/2014/main" id="{A6DED71E-C612-C18A-44ED-A04608EFD2C9}"/>
                  </a:ext>
                </a:extLst>
              </p:cNvPr>
              <p:cNvSpPr/>
              <p:nvPr/>
            </p:nvSpPr>
            <p:spPr>
              <a:xfrm>
                <a:off x="1516156" y="2209541"/>
                <a:ext cx="3817844" cy="1734963"/>
              </a:xfrm>
              <a:custGeom>
                <a:avLst/>
                <a:gdLst>
                  <a:gd name="connsiteX0" fmla="*/ 0 w 4356847"/>
                  <a:gd name="connsiteY0" fmla="*/ 251012 h 1734963"/>
                  <a:gd name="connsiteX1" fmla="*/ 1353670 w 4356847"/>
                  <a:gd name="connsiteY1" fmla="*/ 1721224 h 1734963"/>
                  <a:gd name="connsiteX2" fmla="*/ 2788023 w 4356847"/>
                  <a:gd name="connsiteY2" fmla="*/ 968188 h 1734963"/>
                  <a:gd name="connsiteX3" fmla="*/ 3971365 w 4356847"/>
                  <a:gd name="connsiteY3" fmla="*/ 654424 h 1734963"/>
                  <a:gd name="connsiteX4" fmla="*/ 4356847 w 4356847"/>
                  <a:gd name="connsiteY4" fmla="*/ 0 h 1734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56847" h="1734963">
                    <a:moveTo>
                      <a:pt x="0" y="251012"/>
                    </a:moveTo>
                    <a:cubicBezTo>
                      <a:pt x="444500" y="926353"/>
                      <a:pt x="889000" y="1601695"/>
                      <a:pt x="1353670" y="1721224"/>
                    </a:cubicBezTo>
                    <a:cubicBezTo>
                      <a:pt x="1818340" y="1840753"/>
                      <a:pt x="2351741" y="1145988"/>
                      <a:pt x="2788023" y="968188"/>
                    </a:cubicBezTo>
                    <a:cubicBezTo>
                      <a:pt x="3224305" y="790388"/>
                      <a:pt x="3709894" y="815789"/>
                      <a:pt x="3971365" y="654424"/>
                    </a:cubicBezTo>
                    <a:cubicBezTo>
                      <a:pt x="4232836" y="493059"/>
                      <a:pt x="4337424" y="112059"/>
                      <a:pt x="4356847" y="0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" name="橢圓 2">
                <a:extLst>
                  <a:ext uri="{FF2B5EF4-FFF2-40B4-BE49-F238E27FC236}">
                    <a16:creationId xmlns:a16="http://schemas.microsoft.com/office/drawing/2014/main" id="{884C3CE9-83DA-1A31-A89C-DCDD5CFCFC42}"/>
                  </a:ext>
                </a:extLst>
              </p:cNvPr>
              <p:cNvSpPr/>
              <p:nvPr/>
            </p:nvSpPr>
            <p:spPr>
              <a:xfrm>
                <a:off x="1661160" y="2724101"/>
                <a:ext cx="129540" cy="12954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6" name="橢圓 5">
                <a:extLst>
                  <a:ext uri="{FF2B5EF4-FFF2-40B4-BE49-F238E27FC236}">
                    <a16:creationId xmlns:a16="http://schemas.microsoft.com/office/drawing/2014/main" id="{8C0C356B-5051-4061-886F-4DCCA4C66692}"/>
                  </a:ext>
                </a:extLst>
              </p:cNvPr>
              <p:cNvSpPr/>
              <p:nvPr/>
            </p:nvSpPr>
            <p:spPr>
              <a:xfrm>
                <a:off x="2567940" y="3848418"/>
                <a:ext cx="129540" cy="129540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7" name="橢圓 6">
                <a:extLst>
                  <a:ext uri="{FF2B5EF4-FFF2-40B4-BE49-F238E27FC236}">
                    <a16:creationId xmlns:a16="http://schemas.microsoft.com/office/drawing/2014/main" id="{10C0FE3B-1DC5-02B8-BB9B-E2E226D44B95}"/>
                  </a:ext>
                </a:extLst>
              </p:cNvPr>
              <p:cNvSpPr/>
              <p:nvPr/>
            </p:nvSpPr>
            <p:spPr>
              <a:xfrm>
                <a:off x="3878580" y="3118578"/>
                <a:ext cx="129540" cy="1295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8" name="橢圓 7">
                <a:extLst>
                  <a:ext uri="{FF2B5EF4-FFF2-40B4-BE49-F238E27FC236}">
                    <a16:creationId xmlns:a16="http://schemas.microsoft.com/office/drawing/2014/main" id="{03AC425C-5EE4-D318-35D3-BA3277DD1D29}"/>
                  </a:ext>
                </a:extLst>
              </p:cNvPr>
              <p:cNvSpPr/>
              <p:nvPr/>
            </p:nvSpPr>
            <p:spPr>
              <a:xfrm>
                <a:off x="4945380" y="2792681"/>
                <a:ext cx="129540" cy="12954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cxnSp>
            <p:nvCxnSpPr>
              <p:cNvPr id="10" name="直線單箭頭接點 9">
                <a:extLst>
                  <a:ext uri="{FF2B5EF4-FFF2-40B4-BE49-F238E27FC236}">
                    <a16:creationId xmlns:a16="http://schemas.microsoft.com/office/drawing/2014/main" id="{CA27F922-AF80-7F20-7F5F-AED1EB211808}"/>
                  </a:ext>
                </a:extLst>
              </p:cNvPr>
              <p:cNvCxnSpPr/>
              <p:nvPr/>
            </p:nvCxnSpPr>
            <p:spPr>
              <a:xfrm>
                <a:off x="1432560" y="4145280"/>
                <a:ext cx="40386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線接點 16">
                <a:extLst>
                  <a:ext uri="{FF2B5EF4-FFF2-40B4-BE49-F238E27FC236}">
                    <a16:creationId xmlns:a16="http://schemas.microsoft.com/office/drawing/2014/main" id="{13206DEE-AACF-8235-DF4F-A3D4313B538A}"/>
                  </a:ext>
                </a:extLst>
              </p:cNvPr>
              <p:cNvCxnSpPr>
                <a:cxnSpLocks/>
                <a:stCxn id="6" idx="4"/>
              </p:cNvCxnSpPr>
              <p:nvPr/>
            </p:nvCxnSpPr>
            <p:spPr>
              <a:xfrm flipH="1">
                <a:off x="2631948" y="3977958"/>
                <a:ext cx="762" cy="167322"/>
              </a:xfrm>
              <a:prstGeom prst="line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接點 19">
                <a:extLst>
                  <a:ext uri="{FF2B5EF4-FFF2-40B4-BE49-F238E27FC236}">
                    <a16:creationId xmlns:a16="http://schemas.microsoft.com/office/drawing/2014/main" id="{40F31C19-29DA-77D0-BE3B-D1A54125A8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43350" y="3208738"/>
                <a:ext cx="0" cy="948417"/>
              </a:xfrm>
              <a:prstGeom prst="line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線接點 22">
                <a:extLst>
                  <a:ext uri="{FF2B5EF4-FFF2-40B4-BE49-F238E27FC236}">
                    <a16:creationId xmlns:a16="http://schemas.microsoft.com/office/drawing/2014/main" id="{0C2C0931-83CF-057E-5CEA-347AE2248B6D}"/>
                  </a:ext>
                </a:extLst>
              </p:cNvPr>
              <p:cNvCxnSpPr>
                <a:cxnSpLocks/>
                <a:stCxn id="8" idx="4"/>
              </p:cNvCxnSpPr>
              <p:nvPr/>
            </p:nvCxnSpPr>
            <p:spPr>
              <a:xfrm>
                <a:off x="5010150" y="2922221"/>
                <a:ext cx="0" cy="1223059"/>
              </a:xfrm>
              <a:prstGeom prst="line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E5E898C2-5FE0-4B2B-A3F1-6AFB8A9DA7F2}"/>
                </a:ext>
              </a:extLst>
            </p:cNvPr>
            <p:cNvSpPr/>
            <p:nvPr/>
          </p:nvSpPr>
          <p:spPr>
            <a:xfrm>
              <a:off x="6784288" y="2270780"/>
              <a:ext cx="4254463" cy="188574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59" name="群組 58">
              <a:extLst>
                <a:ext uri="{FF2B5EF4-FFF2-40B4-BE49-F238E27FC236}">
                  <a16:creationId xmlns:a16="http://schemas.microsoft.com/office/drawing/2014/main" id="{61CF6CDF-EEE0-0E56-33E6-29636F279C0C}"/>
                </a:ext>
              </a:extLst>
            </p:cNvPr>
            <p:cNvGrpSpPr/>
            <p:nvPr/>
          </p:nvGrpSpPr>
          <p:grpSpPr>
            <a:xfrm>
              <a:off x="6863263" y="2412701"/>
              <a:ext cx="4096511" cy="1699504"/>
              <a:chOff x="6467856" y="2578608"/>
              <a:chExt cx="4096511" cy="1699504"/>
            </a:xfrm>
          </p:grpSpPr>
          <p:sp>
            <p:nvSpPr>
              <p:cNvPr id="50" name="手繪多邊形: 圖案 49">
                <a:extLst>
                  <a:ext uri="{FF2B5EF4-FFF2-40B4-BE49-F238E27FC236}">
                    <a16:creationId xmlns:a16="http://schemas.microsoft.com/office/drawing/2014/main" id="{AF1D22BE-B95C-AC93-DFCC-42CF68544E9D}"/>
                  </a:ext>
                </a:extLst>
              </p:cNvPr>
              <p:cNvSpPr/>
              <p:nvPr/>
            </p:nvSpPr>
            <p:spPr>
              <a:xfrm>
                <a:off x="6559296" y="2578608"/>
                <a:ext cx="2450592" cy="1482645"/>
              </a:xfrm>
              <a:custGeom>
                <a:avLst/>
                <a:gdLst>
                  <a:gd name="connsiteX0" fmla="*/ 0 w 2450592"/>
                  <a:gd name="connsiteY0" fmla="*/ 0 h 1506740"/>
                  <a:gd name="connsiteX1" fmla="*/ 1267968 w 2450592"/>
                  <a:gd name="connsiteY1" fmla="*/ 1493520 h 1506740"/>
                  <a:gd name="connsiteX2" fmla="*/ 2450592 w 2450592"/>
                  <a:gd name="connsiteY2" fmla="*/ 737616 h 1506740"/>
                  <a:gd name="connsiteX0" fmla="*/ 0 w 2450592"/>
                  <a:gd name="connsiteY0" fmla="*/ 0 h 1470750"/>
                  <a:gd name="connsiteX1" fmla="*/ 1188720 w 2450592"/>
                  <a:gd name="connsiteY1" fmla="*/ 1456944 h 1470750"/>
                  <a:gd name="connsiteX2" fmla="*/ 2450592 w 2450592"/>
                  <a:gd name="connsiteY2" fmla="*/ 737616 h 1470750"/>
                  <a:gd name="connsiteX0" fmla="*/ 0 w 2450592"/>
                  <a:gd name="connsiteY0" fmla="*/ 0 h 1470652"/>
                  <a:gd name="connsiteX1" fmla="*/ 1188720 w 2450592"/>
                  <a:gd name="connsiteY1" fmla="*/ 1456944 h 1470652"/>
                  <a:gd name="connsiteX2" fmla="*/ 2450592 w 2450592"/>
                  <a:gd name="connsiteY2" fmla="*/ 737616 h 1470652"/>
                  <a:gd name="connsiteX0" fmla="*/ 0 w 2450592"/>
                  <a:gd name="connsiteY0" fmla="*/ 0 h 1482645"/>
                  <a:gd name="connsiteX1" fmla="*/ 1170432 w 2450592"/>
                  <a:gd name="connsiteY1" fmla="*/ 1469136 h 1482645"/>
                  <a:gd name="connsiteX2" fmla="*/ 2450592 w 2450592"/>
                  <a:gd name="connsiteY2" fmla="*/ 737616 h 14826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450592" h="1482645">
                    <a:moveTo>
                      <a:pt x="0" y="0"/>
                    </a:moveTo>
                    <a:cubicBezTo>
                      <a:pt x="429768" y="685292"/>
                      <a:pt x="762000" y="1346200"/>
                      <a:pt x="1170432" y="1469136"/>
                    </a:cubicBezTo>
                    <a:cubicBezTo>
                      <a:pt x="1578864" y="1592072"/>
                      <a:pt x="2226056" y="838200"/>
                      <a:pt x="2450592" y="737616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cxnSp>
            <p:nvCxnSpPr>
              <p:cNvPr id="39" name="直線接點 38">
                <a:extLst>
                  <a:ext uri="{FF2B5EF4-FFF2-40B4-BE49-F238E27FC236}">
                    <a16:creationId xmlns:a16="http://schemas.microsoft.com/office/drawing/2014/main" id="{56334350-193A-4425-1C74-E631E892E9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57703" y="2974598"/>
                <a:ext cx="0" cy="1291639"/>
              </a:xfrm>
              <a:prstGeom prst="line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橢圓 40">
                <a:extLst>
                  <a:ext uri="{FF2B5EF4-FFF2-40B4-BE49-F238E27FC236}">
                    <a16:creationId xmlns:a16="http://schemas.microsoft.com/office/drawing/2014/main" id="{94A69401-5EB7-FEF6-685E-A709178F5F66}"/>
                  </a:ext>
                </a:extLst>
              </p:cNvPr>
              <p:cNvSpPr/>
              <p:nvPr/>
            </p:nvSpPr>
            <p:spPr>
              <a:xfrm>
                <a:off x="6699734" y="2845058"/>
                <a:ext cx="131398" cy="12954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2" name="橢圓 41">
                <a:extLst>
                  <a:ext uri="{FF2B5EF4-FFF2-40B4-BE49-F238E27FC236}">
                    <a16:creationId xmlns:a16="http://schemas.microsoft.com/office/drawing/2014/main" id="{E2044550-C0FF-FE69-08FF-CEB7E7B62782}"/>
                  </a:ext>
                </a:extLst>
              </p:cNvPr>
              <p:cNvSpPr/>
              <p:nvPr/>
            </p:nvSpPr>
            <p:spPr>
              <a:xfrm>
                <a:off x="7619517" y="3969375"/>
                <a:ext cx="131398" cy="129540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cxnSp>
            <p:nvCxnSpPr>
              <p:cNvPr id="45" name="直線單箭頭接點 44">
                <a:extLst>
                  <a:ext uri="{FF2B5EF4-FFF2-40B4-BE49-F238E27FC236}">
                    <a16:creationId xmlns:a16="http://schemas.microsoft.com/office/drawing/2014/main" id="{13864C87-FBD7-0DCF-4834-45BD5126B9AE}"/>
                  </a:ext>
                </a:extLst>
              </p:cNvPr>
              <p:cNvCxnSpPr/>
              <p:nvPr/>
            </p:nvCxnSpPr>
            <p:spPr>
              <a:xfrm>
                <a:off x="6467856" y="4266237"/>
                <a:ext cx="4096511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線接點 45">
                <a:extLst>
                  <a:ext uri="{FF2B5EF4-FFF2-40B4-BE49-F238E27FC236}">
                    <a16:creationId xmlns:a16="http://schemas.microsoft.com/office/drawing/2014/main" id="{19601D59-FB53-C7E7-69F4-2F28E6F2AFA3}"/>
                  </a:ext>
                </a:extLst>
              </p:cNvPr>
              <p:cNvCxnSpPr>
                <a:cxnSpLocks/>
                <a:stCxn id="42" idx="4"/>
              </p:cNvCxnSpPr>
              <p:nvPr/>
            </p:nvCxnSpPr>
            <p:spPr>
              <a:xfrm flipH="1">
                <a:off x="7684442" y="4098915"/>
                <a:ext cx="773" cy="167322"/>
              </a:xfrm>
              <a:prstGeom prst="line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線接點 46">
                <a:extLst>
                  <a:ext uri="{FF2B5EF4-FFF2-40B4-BE49-F238E27FC236}">
                    <a16:creationId xmlns:a16="http://schemas.microsoft.com/office/drawing/2014/main" id="{70CB6792-5509-EA1F-264E-532DB0E7A5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14649" y="3329695"/>
                <a:ext cx="0" cy="948417"/>
              </a:xfrm>
              <a:prstGeom prst="line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橢圓 42">
                <a:extLst>
                  <a:ext uri="{FF2B5EF4-FFF2-40B4-BE49-F238E27FC236}">
                    <a16:creationId xmlns:a16="http://schemas.microsoft.com/office/drawing/2014/main" id="{7719FDE1-1B0E-881D-26AF-9B533A04970F}"/>
                  </a:ext>
                </a:extLst>
              </p:cNvPr>
              <p:cNvSpPr/>
              <p:nvPr/>
            </p:nvSpPr>
            <p:spPr>
              <a:xfrm>
                <a:off x="8948950" y="3239535"/>
                <a:ext cx="131398" cy="129540"/>
              </a:xfrm>
              <a:prstGeom prst="ellipse">
                <a:avLst/>
              </a:prstGeom>
              <a:solidFill>
                <a:srgbClr val="027B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3492E1A2-2871-E0D5-C44D-47B163EFC2BC}"/>
                  </a:ext>
                </a:extLst>
              </p:cNvPr>
              <p:cNvSpPr/>
              <p:nvPr/>
            </p:nvSpPr>
            <p:spPr>
              <a:xfrm>
                <a:off x="8426028" y="3659279"/>
                <a:ext cx="131398" cy="1295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cxnSp>
            <p:nvCxnSpPr>
              <p:cNvPr id="52" name="直線接點 51">
                <a:extLst>
                  <a:ext uri="{FF2B5EF4-FFF2-40B4-BE49-F238E27FC236}">
                    <a16:creationId xmlns:a16="http://schemas.microsoft.com/office/drawing/2014/main" id="{6B5687B4-5690-F857-4169-90A48C85862E}"/>
                  </a:ext>
                </a:extLst>
              </p:cNvPr>
              <p:cNvCxnSpPr>
                <a:cxnSpLocks/>
                <a:stCxn id="51" idx="4"/>
              </p:cNvCxnSpPr>
              <p:nvPr/>
            </p:nvCxnSpPr>
            <p:spPr>
              <a:xfrm>
                <a:off x="8491727" y="3788819"/>
                <a:ext cx="0" cy="489293"/>
              </a:xfrm>
              <a:prstGeom prst="line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矩形: 圓角 53">
                <a:extLst>
                  <a:ext uri="{FF2B5EF4-FFF2-40B4-BE49-F238E27FC236}">
                    <a16:creationId xmlns:a16="http://schemas.microsoft.com/office/drawing/2014/main" id="{B511C4CF-BEC7-151F-E50D-5D023D4DFC9B}"/>
                  </a:ext>
                </a:extLst>
              </p:cNvPr>
              <p:cNvSpPr/>
              <p:nvPr/>
            </p:nvSpPr>
            <p:spPr>
              <a:xfrm>
                <a:off x="7355238" y="2748441"/>
                <a:ext cx="1390371" cy="352797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sz="14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新增一個新點</a:t>
                </a:r>
              </a:p>
            </p:txBody>
          </p:sp>
        </p:grpSp>
      </p:grpSp>
      <p:cxnSp>
        <p:nvCxnSpPr>
          <p:cNvPr id="70" name="接點: 弧形 69">
            <a:extLst>
              <a:ext uri="{FF2B5EF4-FFF2-40B4-BE49-F238E27FC236}">
                <a16:creationId xmlns:a16="http://schemas.microsoft.com/office/drawing/2014/main" id="{93829EE0-8793-C8ED-DD4B-9A1E11F8F18E}"/>
              </a:ext>
            </a:extLst>
          </p:cNvPr>
          <p:cNvCxnSpPr>
            <a:cxnSpLocks/>
            <a:stCxn id="54" idx="2"/>
          </p:cNvCxnSpPr>
          <p:nvPr/>
        </p:nvCxnSpPr>
        <p:spPr>
          <a:xfrm rot="16200000" flipH="1">
            <a:off x="8166763" y="3129942"/>
            <a:ext cx="678427" cy="285453"/>
          </a:xfrm>
          <a:prstGeom prst="curvedConnector3">
            <a:avLst>
              <a:gd name="adj1" fmla="val 10279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87338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48672-A5EC-D75C-92DF-930E907A6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A4A9A39-0BA8-4E9D-528E-DFB6B8B233D2}"/>
              </a:ext>
            </a:extLst>
          </p:cNvPr>
          <p:cNvSpPr/>
          <p:nvPr/>
        </p:nvSpPr>
        <p:spPr>
          <a:xfrm>
            <a:off x="0" y="6707954"/>
            <a:ext cx="12192000" cy="1500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A9FBD33-4119-5FEA-94DD-4FEA90639D77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最佳帶寬選擇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黃金切割搜尋演算法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(Golden Section Search)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4217BBFC-91E2-31D1-FD74-E2F0AB247F38}"/>
              </a:ext>
            </a:extLst>
          </p:cNvPr>
          <p:cNvSpPr txBox="1"/>
          <p:nvPr/>
        </p:nvSpPr>
        <p:spPr>
          <a:xfrm>
            <a:off x="1214718" y="1717582"/>
            <a:ext cx="23980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定位精度設置</a:t>
            </a:r>
            <a:endParaRPr lang="zh-TW" altLang="en-US" sz="2400" b="1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17011E2-7FBD-A348-0CA3-860BF8E4D18B}"/>
              </a:ext>
            </a:extLst>
          </p:cNvPr>
          <p:cNvSpPr txBox="1"/>
          <p:nvPr/>
        </p:nvSpPr>
        <p:spPr>
          <a:xfrm>
            <a:off x="1584512" y="2179247"/>
            <a:ext cx="10295964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當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x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非常接近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，雖然不完全相同，但函數值已小到電腦無法分辨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最小值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附近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泰勒展開近似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因此函數值變化和距離平方成正比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尋找最小值時，橫座標的合理相對精度通常約為機器精度的平方根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單精度          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位置精度通常約為 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雙精度           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位置精度通常約為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6" name="圖片 5" descr="\documentclass{article}&#10;\usepackage{amsmath}&#10;\pagestyle{empty}&#10;\begin{document}&#10;&#10;\[f^\prime(b)=0\]&#10;&#10;\end{document}" title="IguanaTex Picture Display">
            <a:extLst>
              <a:ext uri="{FF2B5EF4-FFF2-40B4-BE49-F238E27FC236}">
                <a16:creationId xmlns:a16="http://schemas.microsoft.com/office/drawing/2014/main" id="{9A53DF07-63A8-DE81-F00F-C93F79A3373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7160" y="2897826"/>
            <a:ext cx="970667" cy="268190"/>
          </a:xfrm>
          <a:prstGeom prst="rect">
            <a:avLst/>
          </a:prstGeom>
        </p:spPr>
      </p:pic>
      <p:pic>
        <p:nvPicPr>
          <p:cNvPr id="8" name="圖片 7" descr="\documentclass{article}&#10;\usepackage{amsmath}&#10;\pagestyle{empty}&#10;\begin{document}&#10;&#10;\begin{align}&#10;f(x)&amp;\approx f(b)+\frac{1}{2}f^{\prime\prime}(b)(x-b)^2\\&#10;&amp;\Rightarrow f(x) - f(b) \propto (x-b)^2&#10;\end{align}&#10;&#10;&#10;\end{document}" title="IguanaTex Picture Display">
            <a:extLst>
              <a:ext uri="{FF2B5EF4-FFF2-40B4-BE49-F238E27FC236}">
                <a16:creationId xmlns:a16="http://schemas.microsoft.com/office/drawing/2014/main" id="{287FCFEB-E2D5-4A0E-3E6A-14DF5B1A6C08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347"/>
          <a:stretch>
            <a:fillRect/>
          </a:stretch>
        </p:blipFill>
        <p:spPr>
          <a:xfrm>
            <a:off x="5061830" y="3365721"/>
            <a:ext cx="3341325" cy="896000"/>
          </a:xfrm>
          <a:prstGeom prst="rect">
            <a:avLst/>
          </a:prstGeom>
        </p:spPr>
      </p:pic>
      <p:pic>
        <p:nvPicPr>
          <p:cNvPr id="16" name="圖片 15" descr="\documentclass{article}&#10;\usepackage{amsmath}&#10;\pagestyle{empty}&#10;\begin{document}&#10;&#10;\[\epsilon\sim10^{-7}\]&#10;&#10;&#10;\end{document}" title="IguanaTex Picture Display">
            <a:extLst>
              <a:ext uri="{FF2B5EF4-FFF2-40B4-BE49-F238E27FC236}">
                <a16:creationId xmlns:a16="http://schemas.microsoft.com/office/drawing/2014/main" id="{547A54EE-EFC6-8B3A-8CD6-91DB029DBA99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695" y="4995570"/>
            <a:ext cx="750933" cy="185295"/>
          </a:xfrm>
          <a:prstGeom prst="rect">
            <a:avLst/>
          </a:prstGeom>
        </p:spPr>
      </p:pic>
      <p:pic>
        <p:nvPicPr>
          <p:cNvPr id="19" name="圖片 18" descr="\documentclass{article}&#10;\usepackage{amsmath}&#10;\pagestyle{empty}&#10;\begin{document}&#10;&#10;\[\epsilon\sim10^{-16}\]&#10;&#10;&#10;\end{document}" title="IguanaTex Picture Display">
            <a:extLst>
              <a:ext uri="{FF2B5EF4-FFF2-40B4-BE49-F238E27FC236}">
                <a16:creationId xmlns:a16="http://schemas.microsoft.com/office/drawing/2014/main" id="{61DBE955-FD1C-2DE5-A8CF-32FCDCEF0F00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695" y="5326346"/>
            <a:ext cx="826514" cy="182857"/>
          </a:xfrm>
          <a:prstGeom prst="rect">
            <a:avLst/>
          </a:prstGeom>
        </p:spPr>
      </p:pic>
      <p:pic>
        <p:nvPicPr>
          <p:cNvPr id="23" name="圖片 22" descr="\documentclass{article}&#10;\usepackage{amsmath}&#10;\pagestyle{empty}&#10;\begin{document}&#10;\[10^{-4}\]&#10;&#10;&#10;&#10;\end{document}" title="IguanaTex Picture Display">
            <a:extLst>
              <a:ext uri="{FF2B5EF4-FFF2-40B4-BE49-F238E27FC236}">
                <a16:creationId xmlns:a16="http://schemas.microsoft.com/office/drawing/2014/main" id="{B1318BFC-BA53-0364-1D90-9A9AFB26C7F6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378" y="4984674"/>
            <a:ext cx="436114" cy="207086"/>
          </a:xfrm>
          <a:prstGeom prst="rect">
            <a:avLst/>
          </a:prstGeom>
        </p:spPr>
      </p:pic>
      <p:pic>
        <p:nvPicPr>
          <p:cNvPr id="26" name="圖片 25" descr="\documentclass{article}&#10;\usepackage{amsmath}&#10;\pagestyle{empty}&#10;\begin{document}&#10;\[10^{-8}\]&#10;&#10;&#10;&#10;\end{document}" title="IguanaTex Picture Display">
            <a:extLst>
              <a:ext uri="{FF2B5EF4-FFF2-40B4-BE49-F238E27FC236}">
                <a16:creationId xmlns:a16="http://schemas.microsoft.com/office/drawing/2014/main" id="{638779C5-D801-E6D9-8E95-8D1F1ACFDC05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1062" y="5285954"/>
            <a:ext cx="433371" cy="205715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E20532F9-CB6A-A98D-D9D2-1F3E577D74F1}"/>
              </a:ext>
            </a:extLst>
          </p:cNvPr>
          <p:cNvSpPr txBox="1"/>
          <p:nvPr/>
        </p:nvSpPr>
        <p:spPr>
          <a:xfrm>
            <a:off x="5262282" y="6465499"/>
            <a:ext cx="6929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Reference:</a:t>
            </a:r>
            <a:r>
              <a:rPr lang="zh-TW" altLang="en-US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Press et al., Numerical Recipes, 3rd ed., Cambridge University Press, 2007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9074317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6C656-662D-A903-2278-734A77FBD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FD6B231-FEA9-56AA-11F3-428550AE80F1}"/>
              </a:ext>
            </a:extLst>
          </p:cNvPr>
          <p:cNvSpPr/>
          <p:nvPr/>
        </p:nvSpPr>
        <p:spPr>
          <a:xfrm>
            <a:off x="0" y="6707954"/>
            <a:ext cx="12192000" cy="1500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14F7843-4D21-EEF0-71EC-BED02CAB19C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最佳帶寬選擇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黃金切割搜尋演算法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(Golden Section Search)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BA5BF5FD-4131-650F-621F-B454D5F9D96B}"/>
              </a:ext>
            </a:extLst>
          </p:cNvPr>
          <p:cNvGrpSpPr/>
          <p:nvPr/>
        </p:nvGrpSpPr>
        <p:grpSpPr>
          <a:xfrm>
            <a:off x="2567423" y="1389699"/>
            <a:ext cx="7057154" cy="4595306"/>
            <a:chOff x="2147047" y="1389699"/>
            <a:chExt cx="7057154" cy="4595306"/>
          </a:xfrm>
        </p:grpSpPr>
        <p:sp>
          <p:nvSpPr>
            <p:cNvPr id="47" name="文字方塊 46">
              <a:extLst>
                <a:ext uri="{FF2B5EF4-FFF2-40B4-BE49-F238E27FC236}">
                  <a16:creationId xmlns:a16="http://schemas.microsoft.com/office/drawing/2014/main" id="{BE63C43B-A18B-EBCF-EF3A-1F1DCC1A6332}"/>
                </a:ext>
              </a:extLst>
            </p:cNvPr>
            <p:cNvSpPr txBox="1"/>
            <p:nvPr/>
          </p:nvSpPr>
          <p:spPr>
            <a:xfrm>
              <a:off x="2147047" y="4534666"/>
              <a:ext cx="105783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400" b="1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優點</a:t>
              </a:r>
              <a:endParaRPr lang="zh-TW" altLang="en-US" sz="2400" b="1" dirty="0"/>
            </a:p>
          </p:txBody>
        </p:sp>
        <p:sp>
          <p:nvSpPr>
            <p:cNvPr id="2" name="文字方塊 1">
              <a:extLst>
                <a:ext uri="{FF2B5EF4-FFF2-40B4-BE49-F238E27FC236}">
                  <a16:creationId xmlns:a16="http://schemas.microsoft.com/office/drawing/2014/main" id="{B46031C6-C84F-96C1-C875-CED78CC52A97}"/>
                </a:ext>
              </a:extLst>
            </p:cNvPr>
            <p:cNvSpPr txBox="1"/>
            <p:nvPr/>
          </p:nvSpPr>
          <p:spPr>
            <a:xfrm>
              <a:off x="2594971" y="1865540"/>
              <a:ext cx="6609230" cy="23621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假設目前已知最小值位於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[a, c]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中，在區間放兩個內部點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</a:p>
            <a:p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  <a:p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  <a:p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若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                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，丟掉       ，留        進入下一輪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若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                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，丟掉       ，留        進入下一輪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  <a:p>
              <a:pPr>
                <a:lnSpc>
                  <a:spcPct val="150000"/>
                </a:lnSpc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重複過程，直到區間足夠小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pic>
          <p:nvPicPr>
            <p:cNvPr id="7" name="圖片 6" descr="\documentclass{article}&#10;\usepackage{amsmath}&#10;\pagestyle{empty}&#10;\begin{document}&#10;&#10;\begin{align}&#10;x_1=c-0.618034(c-a)=a+0.381966(c-a)\\&#10;x_2=a+0.618034(c-a)=c-0.381966(c-a)&#10;\end{align}&#10;&#10;&#10;\end{document}" title="IguanaTex Picture Display">
              <a:extLst>
                <a:ext uri="{FF2B5EF4-FFF2-40B4-BE49-F238E27FC236}">
                  <a16:creationId xmlns:a16="http://schemas.microsoft.com/office/drawing/2014/main" id="{93646D5F-6CC3-DEDC-B0DF-67B4435F51AB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4520"/>
            <a:stretch>
              <a:fillRect/>
            </a:stretch>
          </p:blipFill>
          <p:spPr>
            <a:xfrm>
              <a:off x="3641600" y="2392679"/>
              <a:ext cx="4710952" cy="570514"/>
            </a:xfrm>
            <a:prstGeom prst="rect">
              <a:avLst/>
            </a:prstGeom>
          </p:spPr>
        </p:pic>
        <p:pic>
          <p:nvPicPr>
            <p:cNvPr id="17" name="圖片 16" descr="\documentclass{article}&#10;\usepackage{amsmath}&#10;\pagestyle{empty}&#10;\begin{document}&#10;&#10;\[f(x_1)&lt;f(x_2)\]&#10;&#10;&#10;\end{document}" title="IguanaTex Picture Display">
              <a:extLst>
                <a:ext uri="{FF2B5EF4-FFF2-40B4-BE49-F238E27FC236}">
                  <a16:creationId xmlns:a16="http://schemas.microsoft.com/office/drawing/2014/main" id="{67B8ECEB-D0D1-A812-8C1A-9101D4547180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09264" y="3170601"/>
              <a:ext cx="1360457" cy="229029"/>
            </a:xfrm>
            <a:prstGeom prst="rect">
              <a:avLst/>
            </a:prstGeom>
          </p:spPr>
        </p:pic>
        <p:pic>
          <p:nvPicPr>
            <p:cNvPr id="22" name="圖片 21" descr="\documentclass{article}&#10;\usepackage{amsmath}&#10;\pagestyle{empty}&#10;\begin{document}&#10;\[[x_2,c]\]&#10;&#10;&#10;&#10;\end{document}" title="IguanaTex Picture Display">
              <a:extLst>
                <a:ext uri="{FF2B5EF4-FFF2-40B4-BE49-F238E27FC236}">
                  <a16:creationId xmlns:a16="http://schemas.microsoft.com/office/drawing/2014/main" id="{039FB392-666B-0209-9FC3-B648B273369A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44540" y="3170600"/>
              <a:ext cx="506057" cy="229029"/>
            </a:xfrm>
            <a:prstGeom prst="rect">
              <a:avLst/>
            </a:prstGeom>
          </p:spPr>
        </p:pic>
        <p:pic>
          <p:nvPicPr>
            <p:cNvPr id="25" name="圖片 24" descr="\documentclass{article}&#10;\usepackage{amsmath}&#10;\pagestyle{empty}&#10;\begin{document}&#10;&#10;\[[a,x_2]\]&#10;&#10;&#10;\end{document}" title="IguanaTex Picture Display">
              <a:extLst>
                <a:ext uri="{FF2B5EF4-FFF2-40B4-BE49-F238E27FC236}">
                  <a16:creationId xmlns:a16="http://schemas.microsoft.com/office/drawing/2014/main" id="{94CF81D4-588C-96E2-476E-69CC32087E56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50315" y="3170599"/>
              <a:ext cx="528000" cy="229029"/>
            </a:xfrm>
            <a:prstGeom prst="rect">
              <a:avLst/>
            </a:prstGeom>
          </p:spPr>
        </p:pic>
        <p:pic>
          <p:nvPicPr>
            <p:cNvPr id="29" name="圖片 28" descr="\documentclass{article}&#10;\usepackage{amsmath}&#10;\pagestyle{empty}&#10;\begin{document}&#10;&#10;\[f(x_1)&gt;f(x_2)\]&#10;&#10;&#10;\end{document}" title="IguanaTex Picture Display">
              <a:extLst>
                <a:ext uri="{FF2B5EF4-FFF2-40B4-BE49-F238E27FC236}">
                  <a16:creationId xmlns:a16="http://schemas.microsoft.com/office/drawing/2014/main" id="{8BBA2647-1958-AC81-FD53-0FD438945AA0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09264" y="3490332"/>
              <a:ext cx="1360457" cy="229029"/>
            </a:xfrm>
            <a:prstGeom prst="rect">
              <a:avLst/>
            </a:prstGeom>
          </p:spPr>
        </p:pic>
        <p:pic>
          <p:nvPicPr>
            <p:cNvPr id="34" name="圖片 33" descr="\documentclass{article}&#10;\usepackage{amsmath}&#10;\pagestyle{empty}&#10;\begin{document}&#10;\[[a,x_1]\]&#10;&#10;&#10;&#10;\end{document}" title="IguanaTex Picture Display">
              <a:extLst>
                <a:ext uri="{FF2B5EF4-FFF2-40B4-BE49-F238E27FC236}">
                  <a16:creationId xmlns:a16="http://schemas.microsoft.com/office/drawing/2014/main" id="{7938CFCF-1F4D-342F-BA7B-8294C1232BBB}"/>
                </a:ext>
              </a:extLst>
            </p:cNvPr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42533" y="3474856"/>
              <a:ext cx="528000" cy="229029"/>
            </a:xfrm>
            <a:prstGeom prst="rect">
              <a:avLst/>
            </a:prstGeom>
          </p:spPr>
        </p:pic>
        <p:pic>
          <p:nvPicPr>
            <p:cNvPr id="37" name="圖片 36" descr="\documentclass{article}&#10;\usepackage{amsmath}&#10;\pagestyle{empty}&#10;\begin{document}&#10;&#10;\[[x_1,c]\]&#10;&#10;&#10;\end{document}" title="IguanaTex Picture Display">
              <a:extLst>
                <a:ext uri="{FF2B5EF4-FFF2-40B4-BE49-F238E27FC236}">
                  <a16:creationId xmlns:a16="http://schemas.microsoft.com/office/drawing/2014/main" id="{1B385743-9FE8-5682-9CB8-878714B1C2DB}"/>
                </a:ext>
              </a:extLst>
            </p:cNvPr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52321" y="3474856"/>
              <a:ext cx="506057" cy="229029"/>
            </a:xfrm>
            <a:prstGeom prst="rect">
              <a:avLst/>
            </a:prstGeom>
          </p:spPr>
        </p:pic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8C83CE17-ABBD-6468-F5E0-6DF672F3DFE4}"/>
                </a:ext>
              </a:extLst>
            </p:cNvPr>
            <p:cNvSpPr txBox="1"/>
            <p:nvPr/>
          </p:nvSpPr>
          <p:spPr>
            <a:xfrm>
              <a:off x="2594971" y="4969342"/>
              <a:ext cx="660923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原先其中一個內部點，會自動成為新區間中的分割點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最壞情況最佳化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舊點可重複利用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3F92CB3C-619E-5006-532B-4D59FB53B3F7}"/>
                </a:ext>
              </a:extLst>
            </p:cNvPr>
            <p:cNvSpPr txBox="1"/>
            <p:nvPr/>
          </p:nvSpPr>
          <p:spPr>
            <a:xfrm>
              <a:off x="2147047" y="1389699"/>
              <a:ext cx="239805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400" b="1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實際作法</a:t>
              </a:r>
              <a:endParaRPr lang="zh-TW" altLang="en-US" sz="2400" b="1" dirty="0"/>
            </a:p>
          </p:txBody>
        </p: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E6528F14-DB3F-1E11-DAE9-2063AF84AFD6}"/>
              </a:ext>
            </a:extLst>
          </p:cNvPr>
          <p:cNvSpPr txBox="1"/>
          <p:nvPr/>
        </p:nvSpPr>
        <p:spPr>
          <a:xfrm>
            <a:off x="5262282" y="6465499"/>
            <a:ext cx="6929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Reference:</a:t>
            </a:r>
            <a:r>
              <a:rPr lang="zh-TW" altLang="en-US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Press et al., Numerical Recipes, 3rd ed., Cambridge University Press, 2007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9354366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5C093-329F-33D6-028A-9C01FF882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6DC087E-ED57-2191-E188-679D9E3E594B}"/>
              </a:ext>
            </a:extLst>
          </p:cNvPr>
          <p:cNvSpPr/>
          <p:nvPr/>
        </p:nvSpPr>
        <p:spPr>
          <a:xfrm>
            <a:off x="0" y="6707954"/>
            <a:ext cx="12192000" cy="1500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5FA9435-46C3-DA88-E454-4269E24D2288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最佳帶寬選擇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黃金切割搜尋演算法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(Golden Section Search)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E7A30EA-CCC1-9E8D-F1E2-65B622C90594}"/>
              </a:ext>
            </a:extLst>
          </p:cNvPr>
          <p:cNvSpPr txBox="1"/>
          <p:nvPr/>
        </p:nvSpPr>
        <p:spPr>
          <a:xfrm>
            <a:off x="4254770" y="865498"/>
            <a:ext cx="34827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18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gold() </a:t>
            </a:r>
            <a:r>
              <a:rPr lang="zh-TW" altLang="en-US" sz="18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演算法 </a:t>
            </a:r>
            <a:endParaRPr lang="zh-TW" altLang="en-US" b="1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74B11BC-B43C-5DAF-8335-A1C9A56385AB}"/>
              </a:ext>
            </a:extLst>
          </p:cNvPr>
          <p:cNvSpPr txBox="1"/>
          <p:nvPr/>
        </p:nvSpPr>
        <p:spPr>
          <a:xfrm>
            <a:off x="6203576" y="6430955"/>
            <a:ext cx="60242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</a:t>
            </a:r>
            <a:r>
              <a:rPr lang="zh-TW" altLang="en-US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12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R package source code, R/</a:t>
            </a:r>
            <a:r>
              <a:rPr lang="en-US" altLang="zh-TW" sz="12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bw.sel.r</a:t>
            </a:r>
            <a:r>
              <a:rPr lang="en-US" altLang="zh-TW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, accessed via rdrr.io.</a:t>
            </a:r>
            <a:endParaRPr lang="zh-TW" altLang="en-US" sz="1200" b="1" dirty="0"/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02285FD4-94F0-AAB6-8529-6A9C74317DB6}"/>
              </a:ext>
            </a:extLst>
          </p:cNvPr>
          <p:cNvGrpSpPr/>
          <p:nvPr/>
        </p:nvGrpSpPr>
        <p:grpSpPr>
          <a:xfrm>
            <a:off x="1295400" y="1295399"/>
            <a:ext cx="4591905" cy="283545"/>
            <a:chOff x="216088" y="3940509"/>
            <a:chExt cx="4591905" cy="283545"/>
          </a:xfrm>
        </p:grpSpPr>
        <p:sp>
          <p:nvSpPr>
            <p:cNvPr id="10" name="矩形: 圓角 9">
              <a:extLst>
                <a:ext uri="{FF2B5EF4-FFF2-40B4-BE49-F238E27FC236}">
                  <a16:creationId xmlns:a16="http://schemas.microsoft.com/office/drawing/2014/main" id="{6DB5179B-5F9C-E519-2DA7-45CCF0AA6C58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設定搜尋區間</a:t>
              </a: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8F2E096A-8E25-9F40-75A1-D49F636F031E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B014B22B-05D2-AB63-A92F-11BDB66F5F7B}"/>
              </a:ext>
            </a:extLst>
          </p:cNvPr>
          <p:cNvSpPr/>
          <p:nvPr/>
        </p:nvSpPr>
        <p:spPr>
          <a:xfrm>
            <a:off x="1485635" y="1661985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</a:p>
        </p:txBody>
      </p: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52FF6AEC-3A25-FA16-70F1-9435399E5AB4}"/>
              </a:ext>
            </a:extLst>
          </p:cNvPr>
          <p:cNvGrpSpPr/>
          <p:nvPr/>
        </p:nvGrpSpPr>
        <p:grpSpPr>
          <a:xfrm>
            <a:off x="1295400" y="2282328"/>
            <a:ext cx="4591905" cy="283545"/>
            <a:chOff x="216088" y="3940509"/>
            <a:chExt cx="4591905" cy="283545"/>
          </a:xfrm>
        </p:grpSpPr>
        <p:sp>
          <p:nvSpPr>
            <p:cNvPr id="14" name="矩形: 圓角 13">
              <a:extLst>
                <a:ext uri="{FF2B5EF4-FFF2-40B4-BE49-F238E27FC236}">
                  <a16:creationId xmlns:a16="http://schemas.microsoft.com/office/drawing/2014/main" id="{05A51563-2AAB-D638-930A-6E75689E08A5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計算黃金比例</a:t>
              </a: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4E00B1A0-6AB2-F0C8-EF52-98BFD712080B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BB17C605-4448-CEBA-34FE-5F29E08B3094}"/>
              </a:ext>
            </a:extLst>
          </p:cNvPr>
          <p:cNvSpPr/>
          <p:nvPr/>
        </p:nvSpPr>
        <p:spPr>
          <a:xfrm>
            <a:off x="1485635" y="2648914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00C80BE9-7EAC-CB3B-1F35-EECE33841DB7}"/>
              </a:ext>
            </a:extLst>
          </p:cNvPr>
          <p:cNvGrpSpPr/>
          <p:nvPr/>
        </p:nvGrpSpPr>
        <p:grpSpPr>
          <a:xfrm>
            <a:off x="1295400" y="3276886"/>
            <a:ext cx="4591905" cy="283545"/>
            <a:chOff x="216088" y="3940509"/>
            <a:chExt cx="4591905" cy="283545"/>
          </a:xfrm>
        </p:grpSpPr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DCED8C34-81F7-A000-A4F1-9D64403C707E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建立初始步長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9E329EA1-A915-FE23-FF58-EDA5DA1DCF84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6563683B-1881-AF4A-8068-198B0B06BAE7}"/>
              </a:ext>
            </a:extLst>
          </p:cNvPr>
          <p:cNvSpPr/>
          <p:nvPr/>
        </p:nvSpPr>
        <p:spPr>
          <a:xfrm>
            <a:off x="1485635" y="3643472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</a:p>
        </p:txBody>
      </p: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472C940D-6948-82E9-6D0E-4699C5CE8732}"/>
              </a:ext>
            </a:extLst>
          </p:cNvPr>
          <p:cNvGrpSpPr/>
          <p:nvPr/>
        </p:nvGrpSpPr>
        <p:grpSpPr>
          <a:xfrm>
            <a:off x="1295400" y="4271445"/>
            <a:ext cx="4591905" cy="283545"/>
            <a:chOff x="216088" y="3940509"/>
            <a:chExt cx="4591905" cy="283545"/>
          </a:xfrm>
        </p:grpSpPr>
        <p:sp>
          <p:nvSpPr>
            <p:cNvPr id="30" name="矩形: 圓角 29">
              <a:extLst>
                <a:ext uri="{FF2B5EF4-FFF2-40B4-BE49-F238E27FC236}">
                  <a16:creationId xmlns:a16="http://schemas.microsoft.com/office/drawing/2014/main" id="{9D91F189-D2AB-183B-2681-B3C16F970D38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建立兩個候選點</a:t>
              </a:r>
            </a:p>
          </p:txBody>
        </p:sp>
        <p:sp>
          <p:nvSpPr>
            <p:cNvPr id="31" name="橢圓 30">
              <a:extLst>
                <a:ext uri="{FF2B5EF4-FFF2-40B4-BE49-F238E27FC236}">
                  <a16:creationId xmlns:a16="http://schemas.microsoft.com/office/drawing/2014/main" id="{2C778B80-CE42-BF67-C7B8-D725A76137B3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4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32" name="矩形: 圓角 31">
            <a:extLst>
              <a:ext uri="{FF2B5EF4-FFF2-40B4-BE49-F238E27FC236}">
                <a16:creationId xmlns:a16="http://schemas.microsoft.com/office/drawing/2014/main" id="{E1C7A615-2762-391A-F950-338942318B91}"/>
              </a:ext>
            </a:extLst>
          </p:cNvPr>
          <p:cNvSpPr/>
          <p:nvPr/>
        </p:nvSpPr>
        <p:spPr>
          <a:xfrm>
            <a:off x="1485635" y="4638031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ED47F598-5AB4-DB1D-B1D7-19B6F14A09E4}"/>
              </a:ext>
            </a:extLst>
          </p:cNvPr>
          <p:cNvGrpSpPr/>
          <p:nvPr/>
        </p:nvGrpSpPr>
        <p:grpSpPr>
          <a:xfrm>
            <a:off x="1295400" y="5282115"/>
            <a:ext cx="4591905" cy="283545"/>
            <a:chOff x="216088" y="3940509"/>
            <a:chExt cx="4591905" cy="283545"/>
          </a:xfrm>
        </p:grpSpPr>
        <p:sp>
          <p:nvSpPr>
            <p:cNvPr id="35" name="矩形: 圓角 34">
              <a:extLst>
                <a:ext uri="{FF2B5EF4-FFF2-40B4-BE49-F238E27FC236}">
                  <a16:creationId xmlns:a16="http://schemas.microsoft.com/office/drawing/2014/main" id="{32D1465A-19D1-B79C-8EB9-C83EE354CCC2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計算目標函數</a:t>
              </a:r>
            </a:p>
          </p:txBody>
        </p:sp>
        <p:sp>
          <p:nvSpPr>
            <p:cNvPr id="36" name="橢圓 35">
              <a:extLst>
                <a:ext uri="{FF2B5EF4-FFF2-40B4-BE49-F238E27FC236}">
                  <a16:creationId xmlns:a16="http://schemas.microsoft.com/office/drawing/2014/main" id="{65F85338-8135-DCD7-5C9F-9987737A0AAE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5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41" name="矩形: 圓角 40">
            <a:extLst>
              <a:ext uri="{FF2B5EF4-FFF2-40B4-BE49-F238E27FC236}">
                <a16:creationId xmlns:a16="http://schemas.microsoft.com/office/drawing/2014/main" id="{94F2E870-E80F-0504-AB38-5AEB9EF9B642}"/>
              </a:ext>
            </a:extLst>
          </p:cNvPr>
          <p:cNvSpPr/>
          <p:nvPr/>
        </p:nvSpPr>
        <p:spPr>
          <a:xfrm>
            <a:off x="1485635" y="5648701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</a:p>
        </p:txBody>
      </p: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0EF9BFA0-64AD-CD4C-12A0-4F2FDC6CB6C6}"/>
              </a:ext>
            </a:extLst>
          </p:cNvPr>
          <p:cNvGrpSpPr/>
          <p:nvPr/>
        </p:nvGrpSpPr>
        <p:grpSpPr>
          <a:xfrm>
            <a:off x="6077540" y="1295399"/>
            <a:ext cx="4591905" cy="283545"/>
            <a:chOff x="216088" y="3940509"/>
            <a:chExt cx="4591905" cy="283545"/>
          </a:xfrm>
        </p:grpSpPr>
        <p:sp>
          <p:nvSpPr>
            <p:cNvPr id="43" name="矩形: 圓角 42">
              <a:extLst>
                <a:ext uri="{FF2B5EF4-FFF2-40B4-BE49-F238E27FC236}">
                  <a16:creationId xmlns:a16="http://schemas.microsoft.com/office/drawing/2014/main" id="{218D678D-EDEE-9C8B-CC58-C2327D467085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比較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f1 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與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f2	</a:t>
              </a:r>
              <a:endPara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44" name="橢圓 43">
              <a:extLst>
                <a:ext uri="{FF2B5EF4-FFF2-40B4-BE49-F238E27FC236}">
                  <a16:creationId xmlns:a16="http://schemas.microsoft.com/office/drawing/2014/main" id="{AF8D4171-4C65-E79B-8193-731FA4793D68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6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1F7E7386-112B-2181-FD88-240AF2D74344}"/>
              </a:ext>
            </a:extLst>
          </p:cNvPr>
          <p:cNvSpPr/>
          <p:nvPr/>
        </p:nvSpPr>
        <p:spPr>
          <a:xfrm>
            <a:off x="6267775" y="1661985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若                  ，保留右側區間   </a:t>
            </a:r>
            <a:endParaRPr lang="en-US" altLang="zh-TW" sz="140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若                  ，保留左側區間</a:t>
            </a:r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D22C2D25-8842-F481-9E1C-99C8DADD2DCA}"/>
              </a:ext>
            </a:extLst>
          </p:cNvPr>
          <p:cNvGrpSpPr/>
          <p:nvPr/>
        </p:nvGrpSpPr>
        <p:grpSpPr>
          <a:xfrm>
            <a:off x="6077540" y="2282328"/>
            <a:ext cx="4591905" cy="283545"/>
            <a:chOff x="216088" y="3940509"/>
            <a:chExt cx="4591905" cy="283545"/>
          </a:xfrm>
        </p:grpSpPr>
        <p:sp>
          <p:nvSpPr>
            <p:cNvPr id="48" name="矩形: 圓角 47">
              <a:extLst>
                <a:ext uri="{FF2B5EF4-FFF2-40B4-BE49-F238E27FC236}">
                  <a16:creationId xmlns:a16="http://schemas.microsoft.com/office/drawing/2014/main" id="{572A6C29-4036-5BC2-174A-5BF4AE068BC1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更新步長</a:t>
              </a:r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D57E4A9F-3AEC-2437-E6C9-08508FFD428F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7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50" name="矩形: 圓角 49">
            <a:extLst>
              <a:ext uri="{FF2B5EF4-FFF2-40B4-BE49-F238E27FC236}">
                <a16:creationId xmlns:a16="http://schemas.microsoft.com/office/drawing/2014/main" id="{AF04D94F-E317-7894-B51A-90E861685553}"/>
              </a:ext>
            </a:extLst>
          </p:cNvPr>
          <p:cNvSpPr/>
          <p:nvPr/>
        </p:nvSpPr>
        <p:spPr>
          <a:xfrm>
            <a:off x="6267775" y="2648914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</a:p>
        </p:txBody>
      </p:sp>
      <p:grpSp>
        <p:nvGrpSpPr>
          <p:cNvPr id="51" name="群組 50">
            <a:extLst>
              <a:ext uri="{FF2B5EF4-FFF2-40B4-BE49-F238E27FC236}">
                <a16:creationId xmlns:a16="http://schemas.microsoft.com/office/drawing/2014/main" id="{C57C3CDF-6520-2A74-4D6D-3462BB2B87F6}"/>
              </a:ext>
            </a:extLst>
          </p:cNvPr>
          <p:cNvGrpSpPr/>
          <p:nvPr/>
        </p:nvGrpSpPr>
        <p:grpSpPr>
          <a:xfrm>
            <a:off x="6077540" y="3276886"/>
            <a:ext cx="4591905" cy="283545"/>
            <a:chOff x="216088" y="3940509"/>
            <a:chExt cx="4591905" cy="283545"/>
          </a:xfrm>
        </p:grpSpPr>
        <p:sp>
          <p:nvSpPr>
            <p:cNvPr id="52" name="矩形: 圓角 51">
              <a:extLst>
                <a:ext uri="{FF2B5EF4-FFF2-40B4-BE49-F238E27FC236}">
                  <a16:creationId xmlns:a16="http://schemas.microsoft.com/office/drawing/2014/main" id="{E432C3AC-3730-4525-2479-25B29317769C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重複利用舊點</a:t>
              </a:r>
            </a:p>
          </p:txBody>
        </p: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64D292CB-37DE-FD4A-40FA-CFB80923179A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8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8464A60B-F0AC-5F17-B39C-0115976783A7}"/>
              </a:ext>
            </a:extLst>
          </p:cNvPr>
          <p:cNvSpPr/>
          <p:nvPr/>
        </p:nvSpPr>
        <p:spPr>
          <a:xfrm>
            <a:off x="6267775" y="3643472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舊的其中一個候選點保留，只建立一個新的候選點，每輪只需重新計算一次目標函數</a:t>
            </a:r>
            <a:endParaRPr lang="en-US" altLang="zh-TW" sz="140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D3D654CA-8470-B5C7-6C12-D0DA8B5769AF}"/>
              </a:ext>
            </a:extLst>
          </p:cNvPr>
          <p:cNvGrpSpPr/>
          <p:nvPr/>
        </p:nvGrpSpPr>
        <p:grpSpPr>
          <a:xfrm>
            <a:off x="6077540" y="4271445"/>
            <a:ext cx="4591905" cy="283545"/>
            <a:chOff x="216088" y="3940509"/>
            <a:chExt cx="4591905" cy="283545"/>
          </a:xfrm>
        </p:grpSpPr>
        <p:sp>
          <p:nvSpPr>
            <p:cNvPr id="56" name="矩形: 圓角 55">
              <a:extLst>
                <a:ext uri="{FF2B5EF4-FFF2-40B4-BE49-F238E27FC236}">
                  <a16:creationId xmlns:a16="http://schemas.microsoft.com/office/drawing/2014/main" id="{B7A6A5D8-C80D-D975-44A6-38966265FB8E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停止條件</a:t>
              </a:r>
            </a:p>
          </p:txBody>
        </p:sp>
        <p:sp>
          <p:nvSpPr>
            <p:cNvPr id="57" name="橢圓 56">
              <a:extLst>
                <a:ext uri="{FF2B5EF4-FFF2-40B4-BE49-F238E27FC236}">
                  <a16:creationId xmlns:a16="http://schemas.microsoft.com/office/drawing/2014/main" id="{C4711B10-9D0C-2AA0-81ED-CFC5FD56BFF2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9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58" name="矩形: 圓角 57">
            <a:extLst>
              <a:ext uri="{FF2B5EF4-FFF2-40B4-BE49-F238E27FC236}">
                <a16:creationId xmlns:a16="http://schemas.microsoft.com/office/drawing/2014/main" id="{F36EE684-A84D-A123-BD31-50B9C86E5E97}"/>
              </a:ext>
            </a:extLst>
          </p:cNvPr>
          <p:cNvSpPr/>
          <p:nvPr/>
        </p:nvSpPr>
        <p:spPr>
          <a:xfrm>
            <a:off x="6267775" y="4638031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</a:p>
        </p:txBody>
      </p: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BCACE2C9-8802-1C01-03CF-5028059EFEC7}"/>
              </a:ext>
            </a:extLst>
          </p:cNvPr>
          <p:cNvGrpSpPr/>
          <p:nvPr/>
        </p:nvGrpSpPr>
        <p:grpSpPr>
          <a:xfrm>
            <a:off x="6077540" y="5282115"/>
            <a:ext cx="4591905" cy="283545"/>
            <a:chOff x="216088" y="3940509"/>
            <a:chExt cx="4591905" cy="283545"/>
          </a:xfrm>
        </p:grpSpPr>
        <p:sp>
          <p:nvSpPr>
            <p:cNvPr id="60" name="矩形: 圓角 59">
              <a:extLst>
                <a:ext uri="{FF2B5EF4-FFF2-40B4-BE49-F238E27FC236}">
                  <a16:creationId xmlns:a16="http://schemas.microsoft.com/office/drawing/2014/main" id="{ADABE15F-1C78-DC16-5CEC-C42DA403D8EA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回傳最佳帶寬</a:t>
              </a:r>
            </a:p>
          </p:txBody>
        </p:sp>
        <p:sp>
          <p:nvSpPr>
            <p:cNvPr id="61" name="橢圓 60">
              <a:extLst>
                <a:ext uri="{FF2B5EF4-FFF2-40B4-BE49-F238E27FC236}">
                  <a16:creationId xmlns:a16="http://schemas.microsoft.com/office/drawing/2014/main" id="{A1BAEB25-445E-0512-F67D-15C211FA57F4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2652B662-2519-5DF3-14E3-EE8EB2617652}"/>
              </a:ext>
            </a:extLst>
          </p:cNvPr>
          <p:cNvSpPr txBox="1"/>
          <p:nvPr/>
        </p:nvSpPr>
        <p:spPr>
          <a:xfrm>
            <a:off x="5996164" y="5280855"/>
            <a:ext cx="4137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solidFill>
                  <a:schemeClr val="bg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10</a:t>
            </a:r>
            <a:endParaRPr lang="zh-TW" altLang="en-US" sz="1400" b="1" dirty="0">
              <a:solidFill>
                <a:schemeClr val="bg1"/>
              </a:solidFill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66" name="圖片 65" descr="\documentclass{article}&#10;\usepackage{amsmath}&#10;\pagestyle{empty}&#10;\begin{document}&#10;&#10;\[\left[x_L,x_U\right]\]&#10;&#10;&#10;\end{document}" title="IguanaTex Picture Display">
            <a:extLst>
              <a:ext uri="{FF2B5EF4-FFF2-40B4-BE49-F238E27FC236}">
                <a16:creationId xmlns:a16="http://schemas.microsoft.com/office/drawing/2014/main" id="{38031E27-B6D9-0865-D265-94D3956B4C4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184" y="1808136"/>
            <a:ext cx="804571" cy="254476"/>
          </a:xfrm>
          <a:prstGeom prst="rect">
            <a:avLst/>
          </a:prstGeom>
        </p:spPr>
      </p:pic>
      <p:pic>
        <p:nvPicPr>
          <p:cNvPr id="70" name="圖片 69" descr="\documentclass{article}&#10;\usepackage{amsmath}&#10;\pagestyle{empty}&#10;\begin{document}&#10;&#10;\[R = \frac{\sqrt{5}-1}{2}\approx0.618\]&#10;&#10;&#10;\end{document}" title="IguanaTex Picture Display">
            <a:extLst>
              <a:ext uri="{FF2B5EF4-FFF2-40B4-BE49-F238E27FC236}">
                <a16:creationId xmlns:a16="http://schemas.microsoft.com/office/drawing/2014/main" id="{86445913-FA71-1F92-61A2-DB0DAF5B556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155" y="2706590"/>
            <a:ext cx="1806628" cy="451048"/>
          </a:xfrm>
          <a:prstGeom prst="rect">
            <a:avLst/>
          </a:prstGeom>
        </p:spPr>
      </p:pic>
      <p:pic>
        <p:nvPicPr>
          <p:cNvPr id="76" name="圖片 75" descr="\documentclass{article}&#10;\usepackage{amsmath}&#10;\pagestyle{empty}&#10;\begin{document}&#10;&#10;\[d = R \times (X_U-X_L)\]&#10;&#10;&#10;\end{document}" title="IguanaTex Picture Display">
            <a:extLst>
              <a:ext uri="{FF2B5EF4-FFF2-40B4-BE49-F238E27FC236}">
                <a16:creationId xmlns:a16="http://schemas.microsoft.com/office/drawing/2014/main" id="{72D74FDC-B18B-2F59-E4FF-F981A0D2C15A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021" y="3852819"/>
            <a:ext cx="1746895" cy="203581"/>
          </a:xfrm>
          <a:prstGeom prst="rect">
            <a:avLst/>
          </a:prstGeom>
        </p:spPr>
      </p:pic>
      <p:pic>
        <p:nvPicPr>
          <p:cNvPr id="80" name="圖片 79" descr="\documentclass{article}&#10;\usepackage{amsmath}&#10;\pagestyle{empty}&#10;\begin{document}&#10;&#10;\[x_1=x_L+d,\quad x_2=x_U-d\]&#10;&#10;&#10;\end{document}" title="IguanaTex Picture Display">
            <a:extLst>
              <a:ext uri="{FF2B5EF4-FFF2-40B4-BE49-F238E27FC236}">
                <a16:creationId xmlns:a16="http://schemas.microsoft.com/office/drawing/2014/main" id="{17662320-B556-F155-0941-A8E9F3FA6D81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0468" y="4687776"/>
            <a:ext cx="2432000" cy="179200"/>
          </a:xfrm>
          <a:prstGeom prst="rect">
            <a:avLst/>
          </a:prstGeom>
        </p:spPr>
      </p:pic>
      <p:pic>
        <p:nvPicPr>
          <p:cNvPr id="83" name="圖片 82" descr="\documentclass{article}&#10;\usepackage{amsmath}&#10;\pagestyle{empty}&#10;\begin{document}&#10;&#10;\[x_1=round(x_1),\quad x_2=round(x_2)\]&#10;&#10;&#10;\end{document}" title="IguanaTex Picture Display">
            <a:extLst>
              <a:ext uri="{FF2B5EF4-FFF2-40B4-BE49-F238E27FC236}">
                <a16:creationId xmlns:a16="http://schemas.microsoft.com/office/drawing/2014/main" id="{1F047C7F-1613-7331-FD4D-0EDB9D5F3691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2817" y="4931994"/>
            <a:ext cx="3022019" cy="203581"/>
          </a:xfrm>
          <a:prstGeom prst="rect">
            <a:avLst/>
          </a:prstGeom>
        </p:spPr>
      </p:pic>
      <p:sp>
        <p:nvSpPr>
          <p:cNvPr id="85" name="文字方塊 84">
            <a:extLst>
              <a:ext uri="{FF2B5EF4-FFF2-40B4-BE49-F238E27FC236}">
                <a16:creationId xmlns:a16="http://schemas.microsoft.com/office/drawing/2014/main" id="{2637EF21-7491-66CA-AF7C-74FBA9E1E7F3}"/>
              </a:ext>
            </a:extLst>
          </p:cNvPr>
          <p:cNvSpPr txBox="1"/>
          <p:nvPr/>
        </p:nvSpPr>
        <p:spPr>
          <a:xfrm>
            <a:off x="1646878" y="4866976"/>
            <a:ext cx="1136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Adaptive:</a:t>
            </a:r>
            <a:endParaRPr lang="zh-TW" altLang="en-US" sz="1600" dirty="0"/>
          </a:p>
        </p:txBody>
      </p:sp>
      <p:pic>
        <p:nvPicPr>
          <p:cNvPr id="92" name="圖片 91" descr="\documentclass{article}&#10;\usepackage{amsmath}&#10;\pagestyle{empty}&#10;\begin{document}&#10;\[f_1=f(x_1), f_2=f(x_2)\]&#10;&#10;&#10;&#10;&#10;\end{document}" title="IguanaTex Picture Display">
            <a:extLst>
              <a:ext uri="{FF2B5EF4-FFF2-40B4-BE49-F238E27FC236}">
                <a16:creationId xmlns:a16="http://schemas.microsoft.com/office/drawing/2014/main" id="{38D08A08-DE27-22D6-FCCF-ACE5F11375E2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0659" y="5708987"/>
            <a:ext cx="1949257" cy="203581"/>
          </a:xfrm>
          <a:prstGeom prst="rect">
            <a:avLst/>
          </a:prstGeom>
        </p:spPr>
      </p:pic>
      <p:sp>
        <p:nvSpPr>
          <p:cNvPr id="93" name="文字方塊 92">
            <a:extLst>
              <a:ext uri="{FF2B5EF4-FFF2-40B4-BE49-F238E27FC236}">
                <a16:creationId xmlns:a16="http://schemas.microsoft.com/office/drawing/2014/main" id="{76E0C906-BD4A-2121-3611-E87F929563F8}"/>
              </a:ext>
            </a:extLst>
          </p:cNvPr>
          <p:cNvSpPr txBox="1"/>
          <p:nvPr/>
        </p:nvSpPr>
        <p:spPr>
          <a:xfrm>
            <a:off x="2833756" y="5907735"/>
            <a:ext cx="15030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f: </a:t>
            </a:r>
            <a:r>
              <a:rPr lang="en-US" altLang="zh-TW" sz="16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or CV</a:t>
            </a:r>
            <a:endParaRPr lang="zh-TW" altLang="en-US" sz="1600" dirty="0"/>
          </a:p>
        </p:txBody>
      </p:sp>
      <p:pic>
        <p:nvPicPr>
          <p:cNvPr id="97" name="圖片 96" descr="\documentclass{article}&#10;\usepackage{amsmath}&#10;\pagestyle{empty}&#10;\begin{document}&#10;&#10;\[f_1&lt;f_2\]&#10;&#10;&#10;\end{document}" title="IguanaTex Picture Display">
            <a:extLst>
              <a:ext uri="{FF2B5EF4-FFF2-40B4-BE49-F238E27FC236}">
                <a16:creationId xmlns:a16="http://schemas.microsoft.com/office/drawing/2014/main" id="{B261F793-55C3-94C7-4400-C02588408932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5124" y="1721226"/>
            <a:ext cx="620495" cy="184076"/>
          </a:xfrm>
          <a:prstGeom prst="rect">
            <a:avLst/>
          </a:prstGeom>
        </p:spPr>
      </p:pic>
      <p:pic>
        <p:nvPicPr>
          <p:cNvPr id="101" name="圖片 100" descr="\documentclass{article}&#10;\usepackage{amsmath}&#10;\pagestyle{empty}&#10;\begin{document}&#10;&#10;\[f_1\geq f_2\]&#10;&#10;&#10;\end{document}" title="IguanaTex Picture Display">
            <a:extLst>
              <a:ext uri="{FF2B5EF4-FFF2-40B4-BE49-F238E27FC236}">
                <a16:creationId xmlns:a16="http://schemas.microsoft.com/office/drawing/2014/main" id="{A3080631-8E4C-1919-F75B-D81F46618363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5124" y="1943143"/>
            <a:ext cx="620495" cy="184076"/>
          </a:xfrm>
          <a:prstGeom prst="rect">
            <a:avLst/>
          </a:prstGeom>
        </p:spPr>
      </p:pic>
      <p:pic>
        <p:nvPicPr>
          <p:cNvPr id="106" name="圖片 105" descr="\documentclass{article}&#10;\usepackage{amsmath}&#10;\pagestyle{empty}&#10;\begin{document}&#10;&#10;\[d = R \times d\]&#10;&#10;&#10;\end{document}" title="IguanaTex Picture Display">
            <a:extLst>
              <a:ext uri="{FF2B5EF4-FFF2-40B4-BE49-F238E27FC236}">
                <a16:creationId xmlns:a16="http://schemas.microsoft.com/office/drawing/2014/main" id="{217C33DA-FBCA-2B3E-93B6-0EE2599A8743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0972" y="2847339"/>
            <a:ext cx="875276" cy="145067"/>
          </a:xfrm>
          <a:prstGeom prst="rect">
            <a:avLst/>
          </a:prstGeom>
        </p:spPr>
      </p:pic>
      <p:pic>
        <p:nvPicPr>
          <p:cNvPr id="115" name="圖片 114" descr="\documentclass{article}&#10;\usepackage{amsmath}&#10;\pagestyle{empty}&#10;\begin{document}&#10;&#10;\[|d|\leq\epsilon \;or\; |f_2-f_1|\leq\epsilon,\quad where\;\epsilon = 10^{-4}\]&#10;&#10;&#10;\end{document}" title="IguanaTex Picture Display">
            <a:extLst>
              <a:ext uri="{FF2B5EF4-FFF2-40B4-BE49-F238E27FC236}">
                <a16:creationId xmlns:a16="http://schemas.microsoft.com/office/drawing/2014/main" id="{39F5DBF1-96D1-1598-B333-9595FA8D4C85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857" y="4793471"/>
            <a:ext cx="3603505" cy="230400"/>
          </a:xfrm>
          <a:prstGeom prst="rect">
            <a:avLst/>
          </a:prstGeom>
        </p:spPr>
      </p:pic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B37EA365-8D96-229E-EF87-0B91A38DE9AE}"/>
              </a:ext>
            </a:extLst>
          </p:cNvPr>
          <p:cNvSpPr/>
          <p:nvPr/>
        </p:nvSpPr>
        <p:spPr>
          <a:xfrm>
            <a:off x="6265268" y="5639084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</a:p>
        </p:txBody>
      </p:sp>
      <p:pic>
        <p:nvPicPr>
          <p:cNvPr id="122" name="圖片 121" descr="\documentclass{article}&#10;\usepackage{amsmath}&#10;\pagestyle{empty}&#10;\begin{document}&#10;&#10;\[&#10;bw=&#10;\begin{cases}&#10;x_1, &amp; f_1&lt;f_2 \\&#10;x_2, &amp; f_2\leq f_1&#10;\end{cases}&#10;\]&#10;&#10;&#10;\end{document}" title="IguanaTex Picture Display">
            <a:extLst>
              <a:ext uri="{FF2B5EF4-FFF2-40B4-BE49-F238E27FC236}">
                <a16:creationId xmlns:a16="http://schemas.microsoft.com/office/drawing/2014/main" id="{41D117D4-9641-D34C-D95E-E5031BE34A06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7085" y="5643000"/>
            <a:ext cx="1537067" cy="53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6667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3C835-33EC-EB6D-B832-0E2EDF39A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023C3F7-DE80-16C9-4046-D66FD2D25767}"/>
              </a:ext>
            </a:extLst>
          </p:cNvPr>
          <p:cNvSpPr/>
          <p:nvPr/>
        </p:nvSpPr>
        <p:spPr>
          <a:xfrm>
            <a:off x="0" y="6707954"/>
            <a:ext cx="12192000" cy="1500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46DA2AE-0FF9-B707-897B-B6EF7F1E1727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最佳帶寬選擇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黃金切割搜尋演算法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(Golden Section Search)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1CF5581-1609-E126-CFBC-0C62E000CD52}"/>
              </a:ext>
            </a:extLst>
          </p:cNvPr>
          <p:cNvSpPr txBox="1"/>
          <p:nvPr/>
        </p:nvSpPr>
        <p:spPr>
          <a:xfrm>
            <a:off x="2790426" y="974488"/>
            <a:ext cx="66111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32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3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gold() </a:t>
            </a:r>
            <a:r>
              <a:rPr lang="zh-TW" altLang="en-US" sz="3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缺點</a:t>
            </a:r>
            <a:endParaRPr lang="zh-TW" altLang="en-US" sz="3200" b="1" dirty="0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787094F-244C-1E1F-9DD3-87CDE6D75D3A}"/>
              </a:ext>
            </a:extLst>
          </p:cNvPr>
          <p:cNvSpPr/>
          <p:nvPr/>
        </p:nvSpPr>
        <p:spPr>
          <a:xfrm>
            <a:off x="502669" y="2263182"/>
            <a:ext cx="5700907" cy="666750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</a:p>
        </p:txBody>
      </p:sp>
      <p:pic>
        <p:nvPicPr>
          <p:cNvPr id="62" name="圖片 61" descr="\documentclass{article}&#10;\usepackage{amsmath}&#10;\pagestyle{empty}&#10;\begin{document}&#10;&#10;\[|d|\leq\epsilon \;or\; |f_2-f_1|\leq\epsilon,\quad where\;\epsilon = 10^{-4}\]&#10;&#10;&#10;\end{document}" title="IguanaTex Picture Display">
            <a:extLst>
              <a:ext uri="{FF2B5EF4-FFF2-40B4-BE49-F238E27FC236}">
                <a16:creationId xmlns:a16="http://schemas.microsoft.com/office/drawing/2014/main" id="{74307C9B-7F3D-B4D1-F448-DEC934E5C3E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689" y="2401682"/>
            <a:ext cx="5405257" cy="345600"/>
          </a:xfrm>
          <a:prstGeom prst="rect">
            <a:avLst/>
          </a:prstGeom>
        </p:spPr>
      </p:pic>
      <p:sp>
        <p:nvSpPr>
          <p:cNvPr id="21" name="手繪多邊形: 圖案 20">
            <a:extLst>
              <a:ext uri="{FF2B5EF4-FFF2-40B4-BE49-F238E27FC236}">
                <a16:creationId xmlns:a16="http://schemas.microsoft.com/office/drawing/2014/main" id="{5A0D7654-3D25-180B-6F0D-1B90DFCABF84}"/>
              </a:ext>
            </a:extLst>
          </p:cNvPr>
          <p:cNvSpPr/>
          <p:nvPr/>
        </p:nvSpPr>
        <p:spPr>
          <a:xfrm>
            <a:off x="7676558" y="2106706"/>
            <a:ext cx="3872753" cy="2644588"/>
          </a:xfrm>
          <a:custGeom>
            <a:avLst/>
            <a:gdLst>
              <a:gd name="connsiteX0" fmla="*/ 0 w 3872753"/>
              <a:gd name="connsiteY0" fmla="*/ 0 h 2644588"/>
              <a:gd name="connsiteX1" fmla="*/ 1757083 w 3872753"/>
              <a:gd name="connsiteY1" fmla="*/ 2644588 h 2644588"/>
              <a:gd name="connsiteX2" fmla="*/ 3872753 w 3872753"/>
              <a:gd name="connsiteY2" fmla="*/ 8965 h 2644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2753" h="2644588">
                <a:moveTo>
                  <a:pt x="0" y="0"/>
                </a:moveTo>
                <a:cubicBezTo>
                  <a:pt x="555812" y="1321547"/>
                  <a:pt x="1111624" y="2643094"/>
                  <a:pt x="1757083" y="2644588"/>
                </a:cubicBezTo>
                <a:cubicBezTo>
                  <a:pt x="2402542" y="2646082"/>
                  <a:pt x="3538071" y="508000"/>
                  <a:pt x="3872753" y="8965"/>
                </a:cubicBezTo>
              </a:path>
            </a:pathLst>
          </a:cu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10D7F1C0-0344-127A-7E7D-39A3533284BD}"/>
              </a:ext>
            </a:extLst>
          </p:cNvPr>
          <p:cNvSpPr/>
          <p:nvPr/>
        </p:nvSpPr>
        <p:spPr>
          <a:xfrm>
            <a:off x="8671640" y="4192785"/>
            <a:ext cx="125506" cy="116541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211A57FF-6A70-6513-8B55-428A61443335}"/>
              </a:ext>
            </a:extLst>
          </p:cNvPr>
          <p:cNvSpPr/>
          <p:nvPr/>
        </p:nvSpPr>
        <p:spPr>
          <a:xfrm>
            <a:off x="10092547" y="4165889"/>
            <a:ext cx="125506" cy="116541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07B6E979-56F5-8298-B58F-A1E3C5A52B15}"/>
              </a:ext>
            </a:extLst>
          </p:cNvPr>
          <p:cNvSpPr txBox="1"/>
          <p:nvPr/>
        </p:nvSpPr>
        <p:spPr>
          <a:xfrm>
            <a:off x="8216681" y="4224159"/>
            <a:ext cx="5804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x2</a:t>
            </a:r>
            <a:endParaRPr lang="zh-TW" altLang="en-US" dirty="0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5B137E7A-2255-0BBF-C91C-24A191E1DCF2}"/>
              </a:ext>
            </a:extLst>
          </p:cNvPr>
          <p:cNvSpPr txBox="1"/>
          <p:nvPr/>
        </p:nvSpPr>
        <p:spPr>
          <a:xfrm>
            <a:off x="10047722" y="4203504"/>
            <a:ext cx="5804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x1</a:t>
            </a:r>
            <a:endParaRPr lang="zh-TW" altLang="en-US" dirty="0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4B2B0343-7709-ED29-B434-ADA4796C7F67}"/>
              </a:ext>
            </a:extLst>
          </p:cNvPr>
          <p:cNvSpPr txBox="1"/>
          <p:nvPr/>
        </p:nvSpPr>
        <p:spPr>
          <a:xfrm>
            <a:off x="395092" y="1801517"/>
            <a:ext cx="34827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停止條件</a:t>
            </a:r>
            <a:endParaRPr lang="zh-TW" altLang="en-US" sz="2400" b="1" dirty="0"/>
          </a:p>
        </p:txBody>
      </p: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A470C546-E6A1-2473-0182-7ADD27CA10AD}"/>
              </a:ext>
            </a:extLst>
          </p:cNvPr>
          <p:cNvCxnSpPr>
            <a:cxnSpLocks/>
          </p:cNvCxnSpPr>
          <p:nvPr/>
        </p:nvCxnSpPr>
        <p:spPr>
          <a:xfrm flipV="1">
            <a:off x="7756648" y="4494883"/>
            <a:ext cx="540123" cy="2160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9CB7C615-E28E-A554-1CA5-23522E372B44}"/>
              </a:ext>
            </a:extLst>
          </p:cNvPr>
          <p:cNvSpPr txBox="1"/>
          <p:nvPr/>
        </p:nvSpPr>
        <p:spPr>
          <a:xfrm>
            <a:off x="7409858" y="1928663"/>
            <a:ext cx="266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</a:t>
            </a:r>
            <a:endParaRPr lang="zh-TW" altLang="en-US" dirty="0"/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E89BA066-D9B9-1EB6-F20C-236872D087ED}"/>
              </a:ext>
            </a:extLst>
          </p:cNvPr>
          <p:cNvSpPr txBox="1"/>
          <p:nvPr/>
        </p:nvSpPr>
        <p:spPr>
          <a:xfrm>
            <a:off x="5858963" y="4742190"/>
            <a:ext cx="28126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可能選不到真正的最小值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70DDD2D-3E3C-8D81-08E8-D2AE1D7F04EA}"/>
              </a:ext>
            </a:extLst>
          </p:cNvPr>
          <p:cNvSpPr txBox="1"/>
          <p:nvPr/>
        </p:nvSpPr>
        <p:spPr>
          <a:xfrm>
            <a:off x="779263" y="3190506"/>
            <a:ext cx="6106160" cy="1531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Adaptive (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離散型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        無法達成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誤差可能比連續型更大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10" name="圖片 9" descr="\documentclass{article}&#10;\usepackage{amsmath}&#10;\pagestyle{empty}&#10;\begin{document}&#10;\[|d|\leq\epsilon\]&#10;&#10;&#10;&#10;\end{document}" title="IguanaTex Picture Display">
            <a:extLst>
              <a:ext uri="{FF2B5EF4-FFF2-40B4-BE49-F238E27FC236}">
                <a16:creationId xmlns:a16="http://schemas.microsoft.com/office/drawing/2014/main" id="{DE2C10DE-32B1-52F0-9FBC-EA0EBA92F0B9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6416" y="3932231"/>
            <a:ext cx="676571" cy="254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3724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50331-3D20-B767-532D-48AE6F3A0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1D9D051-5DCB-5B07-48AC-BE6F35E01739}"/>
              </a:ext>
            </a:extLst>
          </p:cNvPr>
          <p:cNvSpPr/>
          <p:nvPr/>
        </p:nvSpPr>
        <p:spPr>
          <a:xfrm>
            <a:off x="0" y="6707954"/>
            <a:ext cx="12192000" cy="1500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684BD86-E078-DF97-C4F2-E881F2B3C591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最佳帶寬選擇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黃金切割搜尋演算法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(Golden Section Search)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69" name="圖片 68">
            <a:extLst>
              <a:ext uri="{FF2B5EF4-FFF2-40B4-BE49-F238E27FC236}">
                <a16:creationId xmlns:a16="http://schemas.microsoft.com/office/drawing/2014/main" id="{F10FEC57-660A-A81F-06C6-BA4832996C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81" r="17374"/>
          <a:stretch>
            <a:fillRect/>
          </a:stretch>
        </p:blipFill>
        <p:spPr>
          <a:xfrm>
            <a:off x="5857551" y="666750"/>
            <a:ext cx="5697954" cy="6041204"/>
          </a:xfrm>
          <a:prstGeom prst="rect">
            <a:avLst/>
          </a:prstGeom>
        </p:spPr>
      </p:pic>
      <p:sp>
        <p:nvSpPr>
          <p:cNvPr id="71" name="文字方塊 70">
            <a:extLst>
              <a:ext uri="{FF2B5EF4-FFF2-40B4-BE49-F238E27FC236}">
                <a16:creationId xmlns:a16="http://schemas.microsoft.com/office/drawing/2014/main" id="{0C67EF2F-F455-8F59-2CB7-5B429F7954A1}"/>
              </a:ext>
            </a:extLst>
          </p:cNvPr>
          <p:cNvSpPr txBox="1"/>
          <p:nvPr/>
        </p:nvSpPr>
        <p:spPr>
          <a:xfrm>
            <a:off x="116541" y="979557"/>
            <a:ext cx="64904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手刻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golden_search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(f, a, c, adaptive, error, </a:t>
            </a:r>
            <a:r>
              <a:rPr lang="en-US" altLang="zh-TW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max_iter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D29DC44C-9656-A915-6A1A-07A47AF92B98}"/>
              </a:ext>
            </a:extLst>
          </p:cNvPr>
          <p:cNvSpPr txBox="1"/>
          <p:nvPr/>
        </p:nvSpPr>
        <p:spPr>
          <a:xfrm>
            <a:off x="551330" y="2582614"/>
            <a:ext cx="4871433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與套件 </a:t>
            </a:r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gold() 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主要差異</a:t>
            </a:r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x1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調整至左側，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x2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調整至右側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若為可變帶寬，則先使用黃金分割搜尋演算法得到最後區間，再將最後區間內的整數使用暴力法找出最小值。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16990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.9857"/>
  <p:tag name="ORIGINALWIDTH" val=" 4077.99"/>
  <p:tag name="OUTPUTTYPE" val="PNG"/>
  <p:tag name="IGUANATEXVERSION" val="162"/>
  <p:tag name="LATEXADDIN" val="\documentclass{article}&#10;\usepackage{amsmath}&#10;\pagestyle{empty}&#10;\begin{document}&#10;\[&#10;\text{housing prices = $\beta_0$ + $\beta_1$ building age + $\beta_2$ area + $\beta_3$ unemployment + ...}&#10;\]&#10;&#10;&#10;&#10;\end{document}"/>
  <p:tag name="IGUANATEXSIZE" val="20"/>
  <p:tag name="IGUANATEXCURSOR" val="18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996.25"/>
  <p:tag name="ORIGINALWIDTH" val=" 3482.565"/>
  <p:tag name="OUTPUTTYPE" val="PNG"/>
  <p:tag name="IGUANATEXVERSION" val="162"/>
  <p:tag name="LATEXADDIN" val="\documentclass{article}&#10;\usepackage{amsmath}&#10;\pagestyle{empty}&#10;&#10;\begin{document}&#10;&#10;\[&#10;\mathbf{y}&#10;=&#10;\left(&#10;\boldsymbol{\beta}&#10;\odot&#10;\mathbf{X}&#10;\right)&#10;\mathbf{1}&#10;+&#10;\boldsymbol{\varepsilon}&#10;\]&#10;&#10;where&#10;&#10;\[&#10;\boldsymbol{\beta}&#10;=&#10;\begin{bmatrix}&#10;\beta_0(u_1,v_1) &amp; \beta_1(u_1,v_1) &amp; \cdots &amp; \beta_k(u_1,v_1) \\&#10;\beta_0(u_2,v_2) &amp; \beta_1(u_2,v_2) &amp; \cdots &amp; \beta_k(u_2,v_2) \\&#10;\vdots &amp; \vdots &amp; \ddots &amp; \vdots \\&#10;\beta_0(u_n,v_n) &amp; \beta_1(u_n,v_n) &amp; \cdots &amp; \beta_k(u_n,v_n)&#10;\end{bmatrix}_{n\times(k+1)},&#10;\]&#10;&#10;\[&#10;\mathbf{X}&#10;=&#10;\begin{bmatrix}&#10;1 &amp; x_{11} &amp; \cdots &amp; x_{1k} \\&#10;1 &amp; x_{21} &amp; \cdots &amp; x_{2k} \\&#10;\vdots &amp; \vdots &amp; \ddots &amp; \vdots \\&#10;1 &amp; x_{n1} &amp; \cdots &amp; x_{nk}&#10;\end{bmatrix}_{n\times(k+1)},&#10;\qquad&#10;\mathbf{1}&#10;=&#10;\begin{bmatrix}&#10;1\\&#10;1\\&#10;\vdots\\&#10;1&#10;\end{bmatrix}_{(k+1)\times 1}.&#10;\]&#10;&#10;\end{document}"/>
  <p:tag name="IGUANATEXSIZE" val="20"/>
  <p:tag name="IGUANATEXCURSOR" val="21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362.955"/>
  <p:tag name="ORIGINALWIDTH" val=" 5749.531"/>
  <p:tag name="OUTPUTTYPE" val="PNG"/>
  <p:tag name="IGUANATEXVERSION" val="162"/>
  <p:tag name="LATEXADDIN" val="\documentclass{article}&#10;\usepackage{amsmath}&#10;\pagestyle{empty}&#10;&#10;\begin{document}&#10;&#10;\[&#10;\hat{\boldsymbol{\beta}}(u_i,v_i)&#10;=&#10;\left(&#10;\mathbf{X}^{T}\mathbf{W}(u_i,v_i)\mathbf{X}&#10;\right)^{-1}&#10;\mathbf{X}^{T}\mathbf{W}(u_i,v_i)\mathbf{y},&#10;\]&#10;&#10;where&#10;&#10;\[&#10;\hat{\boldsymbol{\beta}}(u_i,v_i)&#10;=&#10;\begin{bmatrix}&#10;\hat{\beta}_0(u_i,v_i) \\&#10;\hat{\beta}_1(u_i,v_i) \\&#10;\vdots \\&#10;\hat{\beta}_k(u_i,v_i)&#10;\end{bmatrix}_{(k+1)\times 1},&#10;\quad&#10;\text{the vector of estimated local regression coefficients at location }(u_i,v_i),&#10;\]&#10;&#10;\[&#10;\mathbf{W}(u_i,v_i)&#10;=&#10;\begin{bmatrix}&#10;w_{i1} &amp; 0 &amp; \cdots &amp; 0 \\&#10;0 &amp; w_{i2} &amp; \cdots &amp; 0 \\&#10;\vdots &amp; \vdots &amp; \ddots &amp; \vdots \\&#10;0 &amp; 0 &amp; \cdots &amp; w_{in}&#10;\end{bmatrix}_{n\times n},\quad&#10;w_{ij}:&#10;\text{ the weight assigned to the }j\text{-th observation at location }i.&#10;\]&#10;&#10;\end{document}"/>
  <p:tag name="IGUANATEXSIZE" val="18"/>
  <p:tag name="IGUANATEXCURSOR" val="52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1.4773"/>
  <p:tag name="ORIGINALWIDTH" val=" 1073.116"/>
  <p:tag name="OUTPUTTYPE" val="PNG"/>
  <p:tag name="IGUANATEXVERSION" val="162"/>
  <p:tag name="LATEXADDIN" val="\documentclass{article}&#10;\usepackage{amsmath}&#10;\pagestyle{empty}&#10;&#10;\begin{document}&#10;&#10;\[&#10;\hat{\boldsymbol{\beta}}&#10;=&#10;\left(&#10;\mathbf{X}^{T}\mathbf{X}&#10;\right)^{-1}&#10;\mathbf{X}^{T}\mathbf{y}&#10;\]&#10;&#10;\end{document}"/>
  <p:tag name="IGUANATEXSIZE" val="18"/>
  <p:tag name="IGUANATEXCURSOR" val="20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2.9846"/>
  <p:tag name="ORIGINALWIDTH" val=" 687.664"/>
  <p:tag name="OUTPUTTYPE" val="PNG"/>
  <p:tag name="IGUANATEXVERSION" val="162"/>
  <p:tag name="LATEXADDIN" val="\documentclass{article}&#10;\usepackage{amsmath}&#10;\pagestyle{empty}&#10;\begin{document}&#10;\[&#10;w_{ij}=1 \;\forall\;i,j&#10;\]&#10;&#10;&#10;\end{document}"/>
  <p:tag name="IGUANATEXSIZE" val="18"/>
  <p:tag name="IGUANATEXCURSOR" val="10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3.4533"/>
  <p:tag name="ORIGINALWIDTH" val=" 975.6281"/>
  <p:tag name="OUTPUTTYPE" val="PNG"/>
  <p:tag name="IGUANATEXVERSION" val="162"/>
  <p:tag name="LATEXADDIN" val="\documentclass{article}&#10;\usepackage{amsmath}&#10;\pagestyle{empty}&#10;\begin{document}&#10;&#10;\[&#10;w_{ij}=\left\{  &#10;\begin{aligned}  &#10;&amp;1,\;d_{ij}&lt;d \\  &#10;&amp;0,\; o.w.&#10;\end{aligned}  &#10;\right. &#10;\]&#10;&#10;&#10;\end{document}"/>
  <p:tag name="IGUANATEXSIZE" val="20"/>
  <p:tag name="IGUANATEXCURSOR" val="17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87.964"/>
  <p:tag name="ORIGINALWIDTH" val=" 884.8893"/>
  <p:tag name="OUTPUTTYPE" val="PNG"/>
  <p:tag name="IGUANATEXVERSION" val="162"/>
  <p:tag name="LATEXADDIN" val="\documentclass{article}&#10;\usepackage{amsmath}&#10;\pagestyle{empty}&#10;\begin{document}&#10;\[&#10;w_{ij}=exp[{-\frac{d_{ij}^2}{2b^2}}]&#10;\]&#10;&#10;\end{document}"/>
  <p:tag name="IGUANATEXSIZE" val="18"/>
  <p:tag name="IGUANATEXCURSOR" val="12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50.6936"/>
  <p:tag name="ORIGINALWIDTH" val=" 1584.552"/>
  <p:tag name="OUTPUTTYPE" val="PNG"/>
  <p:tag name="IGUANATEXVERSION" val="162"/>
  <p:tag name="LATEXADDIN" val="\documentclass{article}&#10;\usepackage{amsmath}&#10;\pagestyle{empty}&#10;\begin{document}&#10;\[&#10;w_{ij}=\left\{  &#10;\begin{aligned}  &#10;&amp;[1-(\frac{d_{ij}}{b})^2]^2,\;d_{ij}&lt;b \\  &#10;&amp;0,\; o.w.&#10;\end{aligned}  &#10;\right. &#10;\]&#10;&#10;&#10;&#10;\end{document}"/>
  <p:tag name="IGUANATEXSIZE" val="20"/>
  <p:tag name="IGUANATEXCURSOR" val="19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55.718"/>
  <p:tag name="ORIGINALWIDTH" val=" 4129.733"/>
  <p:tag name="OUTPUTTYPE" val="PNG"/>
  <p:tag name="IGUANATEXVERSION" val="162"/>
  <p:tag name="LATEXADDIN" val="\documentclass{article}&#10;\usepackage{amsmath}&#10;\pagestyle{empty}&#10;\begin{document}&#10;\[&#10;w_{ij}=exp(\frac{-R_{ij}}{b})&#10;\text{, where $R_{ij}$ : the rank of data point j at regression point i.}&#10;\]&#10;&#10;\end{document}"/>
  <p:tag name="IGUANATEXSIZE" val="18"/>
  <p:tag name="IGUANATEXCURSOR" val="12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83.4646"/>
  <p:tag name="ORIGINALWIDTH" val=" 809.8987"/>
  <p:tag name="OUTPUTTYPE" val="PNG"/>
  <p:tag name="IGUANATEXVERSION" val="162"/>
  <p:tag name="LATEXADDIN" val="\documentclass{article}&#10;\usepackage{amsmath}&#10;\pagestyle{empty}&#10;\begin{document}&#10;\[&#10;\sum_jw_{ij}=C \; \forall \;i&#10;\]&#10;&#10;\end{document}"/>
  <p:tag name="IGUANATEXSIZE" val="18"/>
  <p:tag name="IGUANATEXCURSOR" val="11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3.4533"/>
  <p:tag name="ORIGINALWIDTH" val=" 3612.299"/>
  <p:tag name="OUTPUTTYPE" val="PNG"/>
  <p:tag name="IGUANATEXVERSION" val="162"/>
  <p:tag name="LATEXADDIN" val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&#10;\end{document}"/>
  <p:tag name="IGUANATEXSIZE" val="18"/>
  <p:tag name="IGUANATEXCURSOR" val="23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09.599"/>
  <p:tag name="ORIGINALWIDTH" val=" 4249.719"/>
  <p:tag name="OUTPUTTYPE" val="PNG"/>
  <p:tag name="IGUANATEXVERSION" val="162"/>
  <p:tag name="LATEXADDIN" val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\text{combine with bi-square:}&#10;\[&#10;w_{ij}=\left\{  &#10;\begin{aligned}  &#10;&amp;[1-(\frac{d_{ij}}{b})^2]^2,\;\text{j is one of the N points closest to the regression point i.} \\  &#10;&amp;0,\; o.w.&#10;\end{aligned}  &#10;\right.&#10;\]&#10;\end{document}"/>
  <p:tag name="IGUANATEXSIZE" val="18"/>
  <p:tag name="IGUANATEXCURSOR" val="44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1.2073"/>
  <p:tag name="ORIGINALWIDTH" val=" 1235.845"/>
  <p:tag name="OUTPUTTYPE" val="PNG"/>
  <p:tag name="IGUANATEXVERSION" val="162"/>
  <p:tag name="LATEXADDIN" val="\documentclass{article}&#10;\usepackage{amsmath}&#10;\pagestyle{empty}&#10;\begin{document}&#10;&#10;\[&#10;CV=\sum_{i=1}^n[y_i-\hat{y}_{\neq i}(b)]^2&#10;\]&#10;&#10;&#10;\end{document}"/>
  <p:tag name="IGUANATEXSIZE" val="20"/>
  <p:tag name="IGUANATEXCURSOR" val="12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1.2073"/>
  <p:tag name="ORIGINALWIDTH" val=" 3426.322"/>
  <p:tag name="OUTPUTTYPE" val="PNG"/>
  <p:tag name="IGUANATEXVERSION" val="162"/>
  <p:tag name="LATEXADDIN" val="\documentclass{article}&#10;\usepackage{amsmath}&#10;\pagestyle{empty}&#10;\begin{document}&#10;&#10;\[&#10;GCV=n\sum_{i=1}^n[y_i-\hat{y}_i(b)]^2/(n-v_1)^2,\text{where $v_1$=tr(hat matrix S)}&#10;\]&#10;&#10;&#10;\end{document}"/>
  <p:tag name="IGUANATEXSIZE" val="20"/>
  <p:tag name="IGUANATEXCURSOR" val="16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94.7131"/>
  <p:tag name="ORIGINALWIDTH" val=" 2664.417"/>
  <p:tag name="OUTPUTTYPE" val="PNG"/>
  <p:tag name="IGUANATEXVERSION" val="162"/>
  <p:tag name="LATEXADDIN" val="\documentclass{article}&#10;\usepackage{amsmath}&#10;\pagestyle{empty}&#10;\begin{document}&#10;&#10;\[&#10;AIC_c=2n\;log(\hat{\sigma})+n\;log(2\pi)+n[\frac{n+tr(S)}{n-2-tr(S)}]&#10;\]&#10;&#10;&#10;\end{document}"/>
  <p:tag name="IGUANATEXSIZE" val="20"/>
  <p:tag name="IGUANATEXCURSOR" val="15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3036.37"/>
  <p:tag name="OUTPUTTYPE" val="PNG"/>
  <p:tag name="IGUANATEXVERSION" val="162"/>
  <p:tag name="LATEXADDIN" val="\documentclass{article}&#10;\usepackage{amsmath}&#10;\pagestyle{empty}&#10;\begin{document}&#10;&#10;\[&#10;BIC=-2\;log(L)+k\;log(n),\text{where $L$: model likelihood}&#10;\]&#10;&#10;&#10;\end{document}"/>
  <p:tag name="IGUANATEXSIZE" val="20"/>
  <p:tag name="IGUANATEXCURSOR" val="14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7157.855"/>
  <p:tag name="ORIGINALWIDTH" val=" 4848.894"/>
  <p:tag name="OUTPUTTYPE" val="PNG"/>
  <p:tag name="IGUANATEXVERSION" val="162"/>
  <p:tag name="LATEXADDIN" val="\documentclass[12pt]{article}&#10;&#10;\usepackage{amsmath}&#10;\usepackage{amssymb}&#10;\usepackage{bm}&#10;&#10;\begin{document}&#10;&#10;The Akaike Information Criterion is defined as&#10;\[&#10;\mathrm{AIC}&#10;=&#10;-2\left(\max_{\bm{\mu},\sigma^2}\log L\right)+2k,&#10;\]&#10;where \(L\) is the likelihood function and \(k\) is the number of&#10;estimated parameters.&#10;&#10;\subsection*{1. Maximum likelihood estimation}&#10;&#10;Let&#10;\[&#10;\bm{y}\sim N_n\left(\bm{\mu},\sigma^2 I_n\right).&#10;\]&#10;&#10;The likelihood function is&#10;\[&#10;L(\bm{\mu},\sigma^2)&#10;=&#10;(2\pi\sigma^2)^{-n/2}&#10;\exp\left(&#10;-\frac{\lVert \bm{y}-\bm{\mu}\rVert^2}{2\sigma^2}&#10;\right).&#10;\]&#10;&#10;Therefore, the log-likelihood function is&#10;\[&#10;\log L(\bm{\mu},\sigma^2)&#10;=&#10;-\frac{n}{2}\log(2\pi)&#10;-\frac{n}{2}\log(\sigma^2)&#10;-\frac{1}{2\sigma^2}&#10;\lVert \bm{y}-\bm{\mu}\rVert^2.&#10;\]&#10;&#10;Differentiating with respect to \(\sigma^2\), we obtain&#10;\[&#10;\frac{\partial \log L}{\partial \sigma^2}&#10;=&#10;-\frac{n}{2\sigma^2}&#10;+&#10;\frac{1}{2(\sigma^2)^2}&#10;\lVert \bm{y}-\bm{\mu}\rVert^2&#10;=&#10;0.&#10;\]&#10;&#10;Hence,&#10;\[&#10;\widehat{\sigma}^2&#10;=&#10;\frac{\lVert \bm{y}-\widehat{\bm{\mu}}\rVert^2}{n}&#10;=&#10;\frac{\mathrm{RSS}}{n}.&#10;\]&#10;&#10;Substituting the maximum likelihood estimator into the log-likelihood&#10;function gives&#10;\begin{align*}&#10;\max_{\bm{\mu},\sigma^2}\log L&#10;&amp;=&#10;-\frac{n}{2}\log(2\pi)&#10;-\frac{n}{2}\log\left(\widehat{\sigma}^2\right)&#10;-\frac{1}{2}\frac{n}{\mathrm{RSS}}\mathrm{RSS} \\&#10;&amp;=&#10;-\frac{n}{2}\log(2\pi)&#10;-n\log\widehat{\sigma}&#10;-\frac{n}{2}.&#10;\end{align*}&#10;&#10;&#10;\end{document}"/>
  <p:tag name="IGUANATEXSIZE" val="20"/>
  <p:tag name="IGUANATEXCURSOR" val="138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7176.603"/>
  <p:tag name="ORIGINALWIDTH" val=" 4849.644"/>
  <p:tag name="OUTPUTTYPE" val="PNG"/>
  <p:tag name="IGUANATEXVERSION" val="162"/>
  <p:tag name="LATEXADDIN" val="\documentclass[12pt]{article}&#10;&#10;\usepackage{amsmath}&#10;\usepackage{amssymb}&#10;\usepackage{bm}&#10;&#10;\begin{document}&#10;\subsection*{2. Number of parameters}&#10;&#10;The number of estimated parameters is&#10;\[&#10;k=d+1,&#10;\]&#10;where \(d\) is the number of effective parameters and the additional&#10;parameter corresponds to \(\sigma^2\).&#10;&#10;For a linear smoother with smoothing matrix \(S\),&#10;\[&#10;d=\operatorname{tr}(S).&#10;\]&#10;&#10;Combining the results above, we obtain&#10;\[&#10;\mathrm{AIC}&#10;=&#10;2n\log\widehat{\sigma}&#10;+n\log(2\pi)&#10;+n&#10;+2\left(\operatorname{tr}(S)+1\right).&#10;\]&#10;&#10;The corrected Akaike Information Criterion is&#10;\[&#10;\mathrm{AICc}&#10;=&#10;\mathrm{AIC}&#10;+&#10;\frac{2k(k+1)}{n-k-1}.&#10;\]&#10;&#10;Thus,&#10;\begin{align*}&#10;\mathrm{AICc}&#10;&amp;=&#10;2n\log\widehat{\sigma}&#10;+n\log(2\pi)&#10;+n&#10;+2\left(\operatorname{tr}(S)+1\right) \\&#10;&amp;\quad&#10;+&#10;\frac{&#10;2\left(\operatorname{tr}(S)+1\right)&#10;\left(\operatorname{tr}(S)+2\right)&#10;}{&#10;n-\operatorname{tr}(S)-2&#10;}.&#10;\end{align*}&#10;&#10;After simplification,&#10;\[&#10;\boxed{&#10;\mathrm{AICc}&#10;=&#10;2n\log\widehat{\sigma}&#10;+n\log(2\pi)&#10;+&#10;n\frac{n+\operatorname{tr}(S)}&#10;{n-2-\operatorname{tr}(S)}&#10;}.&#10;\]&#10;&#10;&#10;&#10;\end{document}"/>
  <p:tag name="IGUANATEXSIZE" val="20"/>
  <p:tag name="IGUANATEXCURSOR" val="10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99.2126"/>
  <p:tag name="ORIGINALWIDTH" val=" 1580.802"/>
  <p:tag name="OUTPUTTYPE" val="PNG"/>
  <p:tag name="IGUANATEXVERSION" val="162"/>
  <p:tag name="LATEXADDIN" val="\documentclass{article}&#10;\usepackage{amsmath}&#10;\usepackage{amsmath}&#10;\usepackage{amssymb}&#10;\usepackage{bm}&#10;\pagestyle{empty}&#10;\begin{document}&#10;&#10;\[&#10;\mathrm{AIC}&#10;=&#10;-2\left(\max_{\bm{\mu},\sigma^2}\log L\right)+2k,&#10;\]&#10;&#10;&#10;\end{document}"/>
  <p:tag name="IGUANATEXSIZE" val="20"/>
  <p:tag name="IGUANATEXCURSOR" val="209"/>
  <p:tag name="TRANSPARENCY" val="True"/>
  <p:tag name="CHOOSECOLOR" val="False"/>
  <p:tag name="COLORHEX" val="000000"/>
  <p:tag name="LATEXENGINEID" val="0"/>
  <p:tag name="TEMPFOLDER" val="c:\temp\"/>
  <p:tag name="LATEXFORMHEIGHT" val=" 308.4"/>
  <p:tag name="LATEXFORMWIDTH" val=" 385"/>
  <p:tag name="LATEXFORMWRAP" val="True"/>
  <p:tag name="BITMAPVECTOR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706.787"/>
  <p:tag name="ORIGINALWIDTH" val=" 5204.349"/>
  <p:tag name="OUTPUTTYPE" val="PNG"/>
  <p:tag name="IGUANATEXVERSION" val="162"/>
  <p:tag name="LATEXADDIN" val="\documentclass{article}&#10;\usepackage{amsmath}&#10;\pagestyle{empty}&#10;\begin{document}&#10;\begin{itemize}&#10;    \item \mbox{Test method: Monte Carlo permutation test}&#10;&#10;    \item \mbox{$H_0$: Spatial stationarity&#10;    $\left(\beta_{ij}=\beta_j,\ \forall i\right)$&#10;    vs. $H_1$: Spatial nonstationarity&#10;    $\left(\beta_{ij}\text{ are not all equal}\right)$}&#10;&#10;    \item \mbox{Test statistic: the standard deviation $s_k$ of all local coefficients for a variable,}\\ where the $k$th coefficient measures spatial variation.&#10;&#10;    \begin{itemize}&#10;        \item \mbox{Small $s_k$: little variation across locations.}&#10;        \item \mbox{Large $s_k$: substantial variation across locations.}&#10;    \end{itemize}&#10;&#10;    \item \mbox{Limitation: GWR must be rerun for every permutation, which is computationally expensive.}&#10;    &#10;    \mbox{Possible solutions are reducing the number of simulations or using representative subsamples.}&#10;\end{itemize}&#10;&#10;&#10;&#10;&#10;&#10;\end{document}"/>
  <p:tag name="IGUANATEXSIZE" val="12"/>
  <p:tag name="IGUANATEXCURSOR" val="451"/>
  <p:tag name="TRANSPARENCY" val="True"/>
  <p:tag name="CHOOSECOLOR" val="False"/>
  <p:tag name="COLORHEX" val="000000"/>
  <p:tag name="LATEXENGINEID" val="0"/>
  <p:tag name="TEMPFOLDER" val="c:\temp\"/>
  <p:tag name="LATEXFORMHEIGHT" val=" 388.2"/>
  <p:tag name="LATEXFORMWIDTH" val=" 385"/>
  <p:tag name="LATEXFORMWRAP" val="True"/>
  <p:tag name="BITMAPVECTOR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50.7312"/>
  <p:tag name="ORIGINALWIDTH" val=" 753.6558"/>
  <p:tag name="OUTPUTTYPE" val="PNG"/>
  <p:tag name="IGUANATEXVERSION" val="162"/>
  <p:tag name="LATEXADDIN" val="\documentclass{article}&#10;\usepackage{amsmath}&#10;\pagestyle{empty}&#10;\begin{document}&#10;&#10;&#10;\[\hat{\beta}_{income}(u_i,v_i)\]&#10;&#10;\end{document}"/>
  <p:tag name="IGUANATEXSIZE" val="18"/>
  <p:tag name="IGUANATEXCURSOR" val="11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3.982"/>
  <p:tag name="ORIGINALWIDTH" val=" 765.6542"/>
  <p:tag name="OUTPUTTYPE" val="PNG"/>
  <p:tag name="IGUANATEXVERSION" val="162"/>
  <p:tag name="LATEXADDIN" val="\documentclass{article}&#10;\usepackage{amsmath}&#10;\pagestyle{empty}&#10;\begin{document}&#10;&#10;&#10;\[s_{income}^{obs}=0.25\]&#10;&#10;\end{document}"/>
  <p:tag name="IGUANATEXSIZE" val="18"/>
  <p:tag name="IGUANATEXCURSOR" val="10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3.982"/>
  <p:tag name="ORIGINALWIDTH" val=" 374.9532"/>
  <p:tag name="OUTPUTTYPE" val="PNG"/>
  <p:tag name="IGUANATEXVERSION" val="162"/>
  <p:tag name="LATEXADDIN" val="\documentclass{article}&#10;\usepackage{amsmath}&#10;\pagestyle{empty}&#10;\begin{document}&#10;&#10;&#10;\[s_{income}^{rand}\]&#10;&#10;\end{document}"/>
  <p:tag name="IGUANATEXSIZE" val="18"/>
  <p:tag name="IGUANATEXCURSOR" val="10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431.196"/>
  <p:tag name="ORIGINALWIDTH" val=" 3094.113"/>
  <p:tag name="OUTPUTTYPE" val="PNG"/>
  <p:tag name="IGUANATEXVERSION" val="162"/>
  <p:tag name="LATEXADDIN" val="\documentclass{article}&#10;\usepackage{amsmath}&#10;\pagestyle{empty}&#10;\begin{document}&#10;&#10;\[&#10;\widehat{\mathbf{y}}=\mathbf{L}\mathbf{y},&#10;\qquad&#10;\widehat{\boldsymbol{\varepsilon}}&#10;=&#10;\mathbf{y}-\widehat{\mathbf{y}}&#10;=&#10;(\mathbf{I}-\mathbf{L})\mathbf{y},&#10;\]&#10;&#10;where&#10;&#10;\[&#10;\mathbf{L}&#10;=&#10;\begin{bmatrix}&#10;\mathbf{x}_1^{\mathsf T}&#10;\left(\mathbf{X}^{\mathsf T}\mathbf{W}(1)\mathbf{X}\right)^{-1}&#10;\mathbf{X}^{\mathsf T}\mathbf{W}(1)&#10;\\[2mm]&#10;\mathbf{x}_2^{\mathsf T}&#10;\left(\mathbf{X}^{\mathsf T}\mathbf{W}(2)\mathbf{X}\right)^{-1}&#10;\mathbf{X}^{\mathsf T}\mathbf{W}(2)&#10;\\&#10;\vdots&#10;\\&#10;\mathbf{x}_n^{\mathsf T}&#10;\left(\mathbf{X}^{\mathsf T}\mathbf{W}(n)\mathbf{X}\right)^{-1}&#10;\mathbf{X}^{\mathsf T}\mathbf{W}(n)&#10;\end{bmatrix}.&#10;\]&#10;&#10;\[&#10;RSS_g&#10;=&#10;\widehat{\boldsymbol{\varepsilon}}^{\mathsf T}&#10;\widehat{\boldsymbol{\varepsilon}}&#10;=&#10;\mathbf{y}^{\mathsf T}&#10;(\mathbf{I}-\mathbf{L})^{\mathsf T}&#10;(\mathbf{I}-\mathbf{L})&#10;\mathbf{y}.&#10;\]&#10;&#10;\[&#10;\delta_i&#10;=&#10;\operatorname{tr}&#10;\left\{&#10;\left[&#10;(\mathbf{I}-\mathbf{L})^{\mathsf T}&#10;(\mathbf{I}-\mathbf{L})&#10;\right]^i&#10;\right\},&#10;\qquad i=1,2,&#10;\]&#10;&#10;\[&#10;\widehat{\sigma}^{2}&#10;=&#10;\frac{RSS_g}{\delta_1}.&#10;\]&#10;&#10;&#10;\end{document}"/>
  <p:tag name="IGUANATEXSIZE" val="15"/>
  <p:tag name="IGUANATEXCURSOR" val="90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17.773"/>
  <p:tag name="ORIGINALWIDTH" val=" 3468.317"/>
  <p:tag name="OUTPUTTYPE" val="PNG"/>
  <p:tag name="IGUANATEXVERSION" val="162"/>
  <p:tag name="LATEXADDIN" val="\documentclass{article}&#10;\usepackage{amsmath}&#10;\pagestyle{empty}&#10;\begin{document}&#10;&#10;\[&#10;V_k^2&#10;=&#10;\frac{1}{n}&#10;\sum_{i=1}^{n}&#10;\left(&#10;\widehat{\beta}_{ik}&#10;-&#10;\frac{1}{n}\sum_{j=1}^{n}\widehat{\beta}_{jk}&#10;\right)^2.&#10;\]&#10;&#10;Equivalently,&#10;&#10;\[&#10;V_k^2&#10;=&#10;\frac{1}{n}&#10;\widehat{\boldsymbol{\beta}}_k^{\mathsf T}&#10;\left(&#10;\mathbf{I}-\frac{1}{n}\mathbf{J}&#10;\right)&#10;\widehat{\boldsymbol{\beta}}_k,&#10;\]&#10;&#10;where \(\mathbf{J}\) is an \(n\times n\) matrix whose elements are all equal to one.&#10;&#10;\[&#10;\gamma_i&#10;=&#10;\operatorname{tr}&#10;\left\{&#10;\left[&#10;\frac{1}{n}&#10;\mathbf{B}_k^{\mathsf T}&#10;\left(&#10;\mathbf{I}-\frac{1}{n}\mathbf{J}&#10;\right)&#10;\mathbf{B}_k&#10;\right]^i&#10;\right\},&#10;\qquad i=1,2.&#10;\]&#10;&#10;&#10;\end{document}"/>
  <p:tag name="IGUANATEXSIZE" val="15"/>
  <p:tag name="IGUANATEXCURSOR" val="64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18.823"/>
  <p:tag name="ORIGINALWIDTH" val=" 2989.126"/>
  <p:tag name="OUTPUTTYPE" val="PNG"/>
  <p:tag name="IGUANATEXVERSION" val="162"/>
  <p:tag name="LATEXADDIN" val="\documentclass{article}&#10;\usepackage{amsmath}&#10;\pagestyle{empty}&#10;\begin{document}&#10;&#10;\[&#10;\widehat{\boldsymbol{\beta}}_k&#10;=&#10;\begin{bmatrix}&#10;\widehat{\beta}_{1k} &amp;&#10;\widehat{\beta}_{2k} &amp;&#10;\cdots &amp;&#10;\widehat{\beta}_{nk}&#10;\end{bmatrix}^{\mathsf T}&#10;=&#10;\mathbf{B}_k\mathbf{y},&#10;\]&#10;&#10;where&#10;&#10;\[&#10;\mathbf{B}_k&#10;=&#10;\begin{bmatrix}&#10;\mathbf{e}_k^{\mathsf T}&#10;\left(\mathbf{X}^{\mathsf T}\mathbf{W}(1)\mathbf{X}\right)^{-1}&#10;\mathbf{X}^{\mathsf T}\mathbf{W}(1)&#10;\\[2mm]&#10;\mathbf{e}_k^{\mathsf T}&#10;\left(\mathbf{X}^{\mathsf T}\mathbf{W}(2)\mathbf{X}\right)^{-1}&#10;\mathbf{X}^{\mathsf T}\mathbf{W}(2)&#10;\\&#10;\vdots&#10;\\&#10;\mathbf{e}_k^{\mathsf T}&#10;\left(\mathbf{X}^{\mathsf T}\mathbf{W}(n)\mathbf{X}\right)^{-1}&#10;\mathbf{X}^{\mathsf T}\mathbf{W}(n)&#10;\end{bmatrix}.&#10;\]&#10;&#10;&#10;\end{document}"/>
  <p:tag name="IGUANATEXSIZE" val="15"/>
  <p:tag name="IGUANATEXCURSOR" val="71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69.104"/>
  <p:tag name="ORIGINALWIDTH" val=" 2363.705"/>
  <p:tag name="OUTPUTTYPE" val="PNG"/>
  <p:tag name="IGUANATEXVERSION" val="162"/>
  <p:tag name="LATEXADDIN" val="\documentclass{article}&#10;\usepackage{amsmath}&#10;\pagestyle{empty}&#10;\begin{document}&#10;\begin{flushleft}&#10;\[&#10;\begin{aligned}&#10;&amp;H_0:\quad&#10;\beta_{1k}=\beta_{2k}=\cdots=\beta_{nk},&#10;\\[1mm]&#10;&amp;H_1:\quad&#10;\text{not all }&#10;\beta_{ik},\quad i=1,\ldots,n,&#10;\text{ are equal},&#10;\\[3mm]&#10;&amp;F_3(k)&#10;=&#10;\frac{V_k^2/\gamma_1}&#10;{\widehat{\sigma}^{2}}\overset{H_0}{\sim}&#10;F\left(&#10;\frac{\gamma_1^2}{\gamma_2},&#10;\frac{d_1^2}{d_2}&#10;\right)&#10;\\&#10;&amp;\text{Reject }H_0&#10;\; \text{if}\;&#10;F_3(k)&#10;\geq&#10;F_{\alpha}&#10;\left(&#10;\frac{\gamma_1^2}{\gamma_2},&#10;\frac{d_1^2}{d_2}&#10;\right).&#10;\end{aligned}&#10;\]&#10;\end{flushleft}&#10;&#10;\end{document}"/>
  <p:tag name="IGUANATEXSIZE" val="20"/>
  <p:tag name="IGUANATEXCURSOR" val="40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809.899"/>
  <p:tag name="ORIGINALWIDTH" val=" 3660.292"/>
  <p:tag name="OUTPUTTYPE" val="PNG"/>
  <p:tag name="IGUANATEXVERSION" val="162"/>
  <p:tag name="LATEXADDIN" val="\documentclass{article}&#10;\usepackage{amsmath}&#10;\pagestyle{empty}&#10;\begin{document}&#10;&#10;&#10;&#10;&#10;\[&#10;\hat{\boldsymbol{\beta}}(u_i,v_i)&#10;=&#10;\left(\mathbf{X}^{T}\mathbf{W}(u_i,v_i)\mathbf{X}\right)^{-1}&#10;\mathbf{X}^{T}\mathbf{W}(u_i,v_i)\mathbf{y}&#10;=&#10;\mathbf{C}(u_i,v_i)\mathbf{y}&#10;\]&#10;&#10;where&#10;&#10;\[&#10;\begin{aligned}&#10;\mathbf{X} &amp;:\ \text{matrix of independent-variable data},\\&#10;\mathbf{y} &amp;:\ \text{vector of dependent-variable data},\\&#10;\mathbf{W}(u_i,v_i) &amp;:\ \text{weight matrix},\\&#10;\hat{\boldsymbol{\beta}}(u_i,v_i) &amp;:\ \text{vector of locally estimated coefficients}.&#10;\end{aligned}&#10;\]&#10;&#10;Under the model assumptions,&#10;&#10;\[&#10;\operatorname{Var}(\mathbf{y})=\sigma^{2}\mathbf{I}&#10;\qquad \text{and} \qquad&#10;\hat{\boldsymbol{\beta}}(u_i,v_i)=\mathbf{C}_i\mathbf{y}.&#10;\]&#10;&#10;Therefore,&#10;&#10;\[&#10;\operatorname{Var}(\hat{\boldsymbol{\beta}}(u_i,v_i))&#10;=&#10;\mathbf{C}_i\mathbf{C}_i^{T}\sigma^{2}.&#10;\]&#10;&#10;For the coefficient \(\beta_j(u_i,v_i)\), the confidence interval is derived from&#10;&#10;\[&#10;\operatorname{Var}(\hat{\boldsymbol{\beta}}(u_i,v_i))&#10;=&#10;\mathbf{C}_i \mathbf{C}_i^{T}(u_i,v_i)\sigma^{2},&#10;\]&#10;&#10;&#10;&#10;\end{document}&#10;&#10;"/>
  <p:tag name="IGUANATEXSIZE" val="16"/>
  <p:tag name="IGUANATEXCURSOR" val="99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505.062"/>
  <p:tag name="ORIGINALWIDTH" val=" 2880.39"/>
  <p:tag name="OUTPUTTYPE" val="PNG"/>
  <p:tag name="IGUANATEXVERSION" val="162"/>
  <p:tag name="LATEXADDIN" val="\documentclass{article}&#10;\usepackage{amsmath}&#10;\pagestyle{empty}&#10;\begin{document}&#10;&#10;which gives&#10;&#10;\[&#10;\operatorname{SE}\!\left(&#10;\hat{\beta}_{j}(u_i,v_i)&#10;\right)&#10;=&#10;\sqrt{&#10;\left(&#10;\mathbf{C}_i\mathbf{C}_i^{T}&#10;\right)_{jj}\sigma^{2}&#10;}.&#10;\]&#10;&#10;Hence, the confidence interval for \(\beta_j\) is&#10;&#10;\[&#10;\hat{\beta}_{j}&#10;\pm&#10;z_{\alpha/2}\,&#10;\operatorname{SE}(\hat{\beta}_{j}),&#10;\]&#10;&#10;or, when \(\sigma^{2}\) is estimated and a \(t\)-distribution is used,&#10;&#10;\[&#10;\hat{\beta}_{j}&#10;\pm&#10;t_{\alpha/2,\mathrm{df}}\,&#10;\operatorname{SE}(\hat{\beta}_{j}).&#10;\]&#10;&#10;&#10;&#10;\end{document}"/>
  <p:tag name="IGUANATEXSIZE" val="16"/>
  <p:tag name="IGUANATEXCURSOR" val="52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56.318"/>
  <p:tag name="ORIGINALWIDTH" val=" 1676.041"/>
  <p:tag name="OUTPUTTYPE" val="PNG"/>
  <p:tag name="IGUANATEXVERSION" val="162"/>
  <p:tag name="LATEXADDIN" val="\documentclass{article}&#10;\usepackage{amsmath}&#10;\pagestyle{empty}&#10;\begin{document}&#10;\[&#10;\begin{aligned}&#10;PctBach_i&#10;&amp;= \beta_0(i) \\&#10;&amp;+ \beta_1(i)PctRural_i \\&#10;&amp;+ \beta_2(i)PctEld_i \\&#10;&amp;+ \beta_3(i)PctFB_i \\&#10;&amp;+ \beta_4(i)PctPov_i \\&#10;&amp;+ \beta_5(i)PctBlack_i \\&#10;&amp;+ \epsilon_i&#10;\end{aligned}&#10;\]&#10;\[&#10;\text{where i: ith point in the space.}&#10;\]&#10;\end{document}"/>
  <p:tag name="IGUANATEXSIZE" val="20"/>
  <p:tag name="IGUANATEXCURSOR" val="28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74.4657"/>
  <p:tag name="OUTPUTTYPE" val="PNG"/>
  <p:tag name="IGUANATEXVERSION" val="162"/>
  <p:tag name="LATEXADDIN" val="\documentclass{article}&#10;\usepackage{amsmath}&#10;\pagestyle{empty}&#10;\begin{document}&#10;\[\beta_1^{*}(s)&#10;\]&#10;&#10;&#10;\end{document}"/>
  <p:tag name="IGUANATEXSIZE" val="20"/>
  <p:tag name="IGUANATEXCURSOR" val="9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74.4657"/>
  <p:tag name="OUTPUTTYPE" val="PNG"/>
  <p:tag name="IGUANATEXVERSION" val="162"/>
  <p:tag name="LATEXADDIN" val="\documentclass{article}&#10;\usepackage{amsmath}&#10;\pagestyle{empty}&#10;\begin{document}&#10;\[\beta_2^{*}(s)&#10;\]&#10;&#10;&#10;\end{document}"/>
  <p:tag name="IGUANATEXSIZE" val="20"/>
  <p:tag name="IGUANATEXCURSOR" val="8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862.3922"/>
  <p:tag name="OUTPUTTYPE" val="PNG"/>
  <p:tag name="IGUANATEXVERSION" val="162"/>
  <p:tag name="LATEXADDIN" val="\documentclass{article}&#10;\usepackage{amsmath}&#10;\pagestyle{empty}&#10;\begin{document}&#10;&#10;\[Z_i\sim N_{10}(\textbf{0}, \textbf{I}_{10})\]&#10;&#10;&#10;\end{document}"/>
  <p:tag name="IGUANATEXSIZE" val="20"/>
  <p:tag name="IGUANATEXCURSOR" val="12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78.74016"/>
  <p:tag name="ORIGINALWIDTH" val=" 295.4631"/>
  <p:tag name="OUTPUTTYPE" val="PNG"/>
  <p:tag name="IGUANATEXVERSION" val="162"/>
  <p:tag name="LATEXADDIN" val="\documentclass{article}&#10;\usepackage{amsmath}&#10;\pagestyle{empty}&#10;\begin{document}&#10;&#10;\[x_1, x_2\]&#10;&#10;&#10;\end{document}"/>
  <p:tag name="IGUANATEXSIZE" val="20"/>
  <p:tag name="IGUANATEXCURSOR" val="9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85.48929"/>
  <p:tag name="ORIGINALWIDTH" val=" 1041.62"/>
  <p:tag name="OUTPUTTYPE" val="PNG"/>
  <p:tag name="IGUANATEXVERSION" val="162"/>
  <p:tag name="LATEXADDIN" val="\documentclass{article}&#10;\usepackage{amsmath}&#10;\pagestyle{empty}&#10;\begin{document}&#10;&#10;\[100\times 10\rightarrow100 \times 2\]&#10;&#10;&#10;\end{document}"/>
  <p:tag name="IGUANATEXSIZE" val="20"/>
  <p:tag name="IGUANATEXCURSOR" val="12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2.7297"/>
  <p:tag name="ORIGINALWIDTH" val=" 980.1275"/>
  <p:tag name="OUTPUTTYPE" val="PNG"/>
  <p:tag name="IGUANATEXVERSION" val="162"/>
  <p:tag name="LATEXADDIN" val="\documentclass{article}&#10;\usepackage{amsmath}&#10;\pagestyle{empty}&#10;\begin{document}&#10;&#10;\[\epsilon(s_i)\overset{ind.}{\sim}N(0,\tau^{2*})\]&#10;&#10;&#10;\end{document}"/>
  <p:tag name="IGUANATEXSIZE" val="20"/>
  <p:tag name="IGUANATEXCURSOR" val="13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611.9235"/>
  <p:tag name="OUTPUTTYPE" val="PNG"/>
  <p:tag name="IGUANATEXVERSION" val="162"/>
  <p:tag name="LATEXADDIN" val="\documentclass{article}&#10;\usepackage{amsmath}&#10;\pagestyle{empty}&#10;\begin{document}&#10;&#10;&#10;\[\tau^{2*}=0.001\]&#10;&#10;\end{document}"/>
  <p:tag name="IGUANATEXSIZE" val="20"/>
  <p:tag name="IGUANATEXCURSOR" val="9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0.9861"/>
  <p:tag name="ORIGINALWIDTH" val=" 390.7012"/>
  <p:tag name="OUTPUTTYPE" val="PNG"/>
  <p:tag name="IGUANATEXVERSION" val="162"/>
  <p:tag name="LATEXADDIN" val="\documentclass{article}&#10;\usepackage{amsmath}&#10;\pagestyle{empty}&#10;\begin{document}&#10;&#10;&#10;\[\tau^{2*}=1\]&#10;&#10;\end{document}"/>
  <p:tag name="IGUANATEXSIZE" val="20"/>
  <p:tag name="IGUANATEXCURSOR" val="9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244.469"/>
  <p:tag name="OUTPUTTYPE" val="PNG"/>
  <p:tag name="IGUANATEXVERSION" val="162"/>
  <p:tag name="LATEXADDIN" val="\documentclass{article}&#10;\usepackage{amsmath}&#10;\pagestyle{empty}&#10;\begin{document}&#10;&#10;\[y(s_i)=\beta_1^*(s_i)x_1(s_i)+\beta_2^*(s_i)x_2(x)+\epsilon(s_i)\]&#10;&#10;&#10;\end{document}"/>
  <p:tag name="IGUANATEXSIZE" val="20"/>
  <p:tag name="IGUANATEXCURSOR" val="14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57.2179"/>
  <p:tag name="ORIGINALWIDTH" val=" 1026.622"/>
  <p:tag name="OUTPUTTYPE" val="PNG"/>
  <p:tag name="IGUANATEXVERSION" val="162"/>
  <p:tag name="LATEXADDIN" val="\documentclass{article}&#10;\usepackage{amsmath}&#10;\pagestyle{empty}&#10;\begin{document}&#10;&#10;&#10;\[w_j(s)=exp(-\frac{d_{sj}}{b})\]&#10;&#10;\end{document}"/>
  <p:tag name="IGUANATEXSIZE" val="20"/>
  <p:tag name="IGUANATEXCURSOR" val="11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2.9846"/>
  <p:tag name="ORIGINALWIDTH" val=" 145.4818"/>
  <p:tag name="OUTPUTTYPE" val="PNG"/>
  <p:tag name="IGUANATEXVERSION" val="162"/>
  <p:tag name="LATEXADDIN" val="\documentclass{article}&#10;\usepackage{amsmath}&#10;\pagestyle{empty}&#10;\begin{document}&#10;\[d_{sj}\]&#10;&#10;&#10;&#10;\end{document}"/>
  <p:tag name="IGUANATEXSIZE" val="20"/>
  <p:tag name="IGUANATEXCURSOR" val="8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611.9235"/>
  <p:tag name="OUTPUTTYPE" val="PNG"/>
  <p:tag name="IGUANATEXVERSION" val="162"/>
  <p:tag name="LATEXADDIN" val="\documentclass{article}&#10;\usepackage{amsmath}&#10;\pagestyle{empty}&#10;\begin{document}&#10;&#10;&#10;\[\tau^{2*}=0.001\]&#10;&#10;\end{document}"/>
  <p:tag name="IGUANATEXSIZE" val="20"/>
  <p:tag name="IGUANATEXCURSOR" val="9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0.9861"/>
  <p:tag name="ORIGINALWIDTH" val=" 390.7012"/>
  <p:tag name="OUTPUTTYPE" val="PNG"/>
  <p:tag name="IGUANATEXVERSION" val="162"/>
  <p:tag name="LATEXADDIN" val="\documentclass{article}&#10;\usepackage{amsmath}&#10;\pagestyle{empty}&#10;\begin{document}&#10;&#10;&#10;\[\tau^{2*}=1\]&#10;&#10;\end{document}"/>
  <p:tag name="IGUANATEXSIZE" val="20"/>
  <p:tag name="IGUANATEXCURSOR" val="9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74.24071"/>
  <p:tag name="ORIGINALWIDTH" val=" 83.23961"/>
  <p:tag name="OUTPUTTYPE" val="PNG"/>
  <p:tag name="IGUANATEXVERSION" val="162"/>
  <p:tag name="LATEXADDIN" val="\documentclass{article}&#10;\usepackage{amsmath}&#10;\pagestyle{empty}&#10;\begin{document}&#10;\[s_i\]&#10;&#10;&#10;&#10;\end{document}"/>
  <p:tag name="IGUANATEXSIZE" val="20"/>
  <p:tag name="IGUANATEXCURSOR" val="8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315.7105"/>
  <p:tag name="OUTPUTTYPE" val="PNG"/>
  <p:tag name="IGUANATEXVERSION" val="162"/>
  <p:tag name="LATEXADDIN" val="\documentclass{article}&#10;\usepackage{amsmath}&#10;\pagestyle{empty}&#10;\begin{document}&#10;&#10;\[\beta_k^*(s_i)\]&#10;&#10;&#10;\end{document}"/>
  <p:tag name="IGUANATEXSIZE" val="20"/>
  <p:tag name="IGUANATEXCURSOR" val="9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3.4533"/>
  <p:tag name="ORIGINALWIDTH" val=" 1400.075"/>
  <p:tag name="OUTPUTTYPE" val="PNG"/>
  <p:tag name="IGUANATEXVERSION" val="162"/>
  <p:tag name="LATEXADDIN" val="\documentclass{article}&#10;\usepackage{amsmath}&#10;\pagestyle{empty}&#10;\begin{document}&#10;&#10;\[I_{ikr}= \begin{cases}&#10;1,\beta_k^*(s_i)\in CI_{ikr}^{95\%}\\&#10;0, ow&#10;\end{cases}\]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59.2051"/>
  <p:tag name="ORIGINALWIDTH" val=" 1061.867"/>
  <p:tag name="OUTPUTTYPE" val="PNG"/>
  <p:tag name="IGUANATEXVERSION" val="162"/>
  <p:tag name="LATEXADDIN" val="\documentclass{article}&#10;\usepackage{amsmath}&#10;\pagestyle{empty}&#10;\begin{document}&#10;&#10;\[CP_{ik}=\frac{1}{200}\sum_{r=1}^{200}I_{ikr}\]&#10;&#10;&#10;\end{document}"/>
  <p:tag name="IGUANATEXSIZE" val="20"/>
  <p:tag name="IGUANATEXCURSOR" val="12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739.4075"/>
  <p:tag name="OUTPUTTYPE" val="PNG"/>
  <p:tag name="IGUANATEXVERSION" val="162"/>
  <p:tag name="LATEXADDIN" val="\documentclass{article}&#10;\usepackage{amsmath}&#10;\pagestyle{empty}&#10;\begin{document}&#10;\[MeanCP(\beta_k)\]&#10;&#10;\end{document}"/>
  <p:tag name="IGUANATEXSIZE" val="20"/>
  <p:tag name="IGUANATEXCURSOR" val="9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48.4439"/>
  <p:tag name="ORIGINALWIDTH" val=" 2387.701"/>
  <p:tag name="OUTPUTTYPE" val="PNG"/>
  <p:tag name="IGUANATEXVERSION" val="162"/>
  <p:tag name="LATEXADDIN" val="\documentclass{article}&#10;\usepackage{amsmath}&#10;\pagestyle{empty}&#10;\begin{document}&#10;&#10;\[RMSE_r=\sqrt{\frac{1}{200}\sum_{i=1}^{100}\sum_{k=1}^2[\hat{\beta}_{k,r}(s_i)-\beta_k^*(s_i)]^2}\]&#10;&#10;&#10;\end{document}"/>
  <p:tag name="IGUANATEXSIZE" val="20"/>
  <p:tag name="IGUANATEXCURSOR" val="17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55.718"/>
  <p:tag name="ORIGINALWIDTH" val=" 1245.594"/>
  <p:tag name="OUTPUTTYPE" val="PNG"/>
  <p:tag name="IGUANATEXVERSION" val="162"/>
  <p:tag name="LATEXADDIN" val="\documentclass{article}&#10;\usepackage{amsmath}&#10;\pagestyle{empty}&#10;\begin{document}&#10;&#10;\[\overline{RMSE}=\frac{1}{200}RMSE_r\]&#10;&#10;&#10;\end{document}"/>
  <p:tag name="IGUANATEXSIZE" val="20"/>
  <p:tag name="IGUANATEXCURSOR" val="9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862.3922"/>
  <p:tag name="OUTPUTTYPE" val="PNG"/>
  <p:tag name="IGUANATEXVERSION" val="162"/>
  <p:tag name="LATEXADDIN" val="\documentclass{article}&#10;\usepackage{amsmath}&#10;\pagestyle{empty}&#10;\begin{document}&#10;&#10;\[Z_i\sim N_{10}(\textbf{0}, \textbf{I}_{10})\]&#10;&#10;&#10;\end{document}"/>
  <p:tag name="IGUANATEXSIZE" val="14"/>
  <p:tag name="IGUANATEXCURSOR" val="12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78.74016"/>
  <p:tag name="ORIGINALWIDTH" val=" 295.4631"/>
  <p:tag name="OUTPUTTYPE" val="PNG"/>
  <p:tag name="IGUANATEXVERSION" val="162"/>
  <p:tag name="LATEXADDIN" val="\documentclass{article}&#10;\usepackage{amsmath}&#10;\pagestyle{empty}&#10;\begin{document}&#10;&#10;\[x_1, x_2\]&#10;&#10;&#10;\end{document}"/>
  <p:tag name="IGUANATEXSIZE" val="14"/>
  <p:tag name="IGUANATEXCURSOR" val="9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2.7297"/>
  <p:tag name="ORIGINALWIDTH" val=" 980.1275"/>
  <p:tag name="OUTPUTTYPE" val="PNG"/>
  <p:tag name="IGUANATEXVERSION" val="162"/>
  <p:tag name="LATEXADDIN" val="\documentclass{article}&#10;\usepackage{amsmath}&#10;\pagestyle{empty}&#10;\begin{document}&#10;&#10;\[\epsilon(s_i)\overset{ind.}{\sim}N(0,\tau^{2*})\]&#10;&#10;&#10;\end{document}"/>
  <p:tag name="IGUANATEXSIZE" val="14"/>
  <p:tag name="IGUANATEXCURSOR" val="13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244.469"/>
  <p:tag name="OUTPUTTYPE" val="PNG"/>
  <p:tag name="IGUANATEXVERSION" val="162"/>
  <p:tag name="LATEXADDIN" val="\documentclass{article}&#10;\usepackage{amsmath}&#10;\pagestyle{empty}&#10;\begin{document}&#10;&#10;&#10;\[y(s_i)=\beta_1^*(s_i)x_1(s_i)+\beta_2^*(s_i)x_2(x)+\epsilon(s_i)\]&#10;&#10;\end{document}"/>
  <p:tag name="IGUANATEXSIZE" val="14"/>
  <p:tag name="IGUANATEXCURSOR" val="15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108.7364"/>
  <p:tag name="OUTPUTTYPE" val="PNG"/>
  <p:tag name="IGUANATEXVERSION" val="162"/>
  <p:tag name="LATEXADDIN" val="\documentclass{article}&#10;\usepackage{amsmath}&#10;\pagestyle{empty}&#10;\begin{document}&#10;&#10;\[\beta_1\]&#10;&#10;&#10;\end{document}"/>
  <p:tag name="IGUANATEXSIZE" val="14"/>
  <p:tag name="IGUANATEXCURSOR" val="9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111.7361"/>
  <p:tag name="OUTPUTTYPE" val="PNG"/>
  <p:tag name="IGUANATEXVERSION" val="162"/>
  <p:tag name="LATEXADDIN" val="\documentclass{article}&#10;\usepackage{amsmath}&#10;\pagestyle{empty}&#10;\begin{document}&#10;&#10;\[\beta_2\]&#10;&#10;&#10;\end{document}"/>
  <p:tag name="IGUANATEXSIZE" val="14"/>
  <p:tag name="IGUANATEXCURSOR" val="9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44.619"/>
  <p:tag name="ORIGINALWIDTH" val=" 3200.6"/>
  <p:tag name="OUTPUTTYPE" val="PNG"/>
  <p:tag name="IGUANATEXVERSION" val="162"/>
  <p:tag name="LATEXADDIN" val="\documentclass{article}&#10;\usepackage{amsmath}&#10;\pagestyle{empty}&#10;\begin{document}&#10;&#10;\begin{minipage}{0.94\linewidth}&#10;\setlength{\parindent}{0pt}&#10;&#10;\textbf{Basic Idea}&#10;&#10;Assume&#10;\[&#10;a&lt;b&lt;c,&#10;\qquad&#10;f(b)&lt;f(a),&#10;\qquad&#10;f(b)&lt;f(c).&#10;\]&#10;&#10;Choose another test point $x$ such that&#10;\[&#10;a&lt;b&lt;x&lt;c.&#10;\]&#10;&#10;The search interval is reduced according to&#10;\[&#10;\begin{cases}&#10;f(b)&lt;f(x)&#10;&amp;\Rightarrow [a,c]\rightarrow[a,x],\\[4pt]&#10;f(b)&gt;f(x)&#10;&amp;\Rightarrow [a,c]\rightarrow[b,c].&#10;\end{cases}&#10;\]&#10;&#10;\medskip&#10;&#10;\textbf{Golden Ratio Selection}&#10;&#10;Let&#10;\[&#10;w=\frac{b-a}{c-a}.&#10;\]&#10;&#10;Choose $x$ so that the same ratio is preserved:&#10;\[&#10;\frac{x-b}{c-b}=w.&#10;\]&#10;&#10;\end{minipage}&#10;&#10;&#10;\end{document}"/>
  <p:tag name="IGUANATEXSIZE" val="16"/>
  <p:tag name="IGUANATEXCURSOR" val="59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100.113"/>
  <p:tag name="ORIGINALWIDTH" val=" 3223.847"/>
  <p:tag name="OUTPUTTYPE" val="PNG"/>
  <p:tag name="IGUANATEXVERSION" val="162"/>
  <p:tag name="LATEXADDIN" val="\documentclass{article}&#10;\usepackage{amsmath}&#10;\pagestyle{empty}&#10;\begin{document}&#10;\begin{minipage}{0.94\linewidth}&#10;Since&#10;\[&#10;b-a=w(c-a),&#10;\qquad&#10;c-b=(1-w)(c-a),&#10;\]&#10;and&#10;\[&#10;x-b=(1-2w)(c-a),&#10;\]&#10;it follows that&#10;\[&#10;\frac{1-2w}{1-w}=w.&#10;\]&#10;&#10;Hence,&#10;\[&#10;w^2-3w+1=0.&#10;\]&#10;&#10;For $0&lt;w&lt;1$,&#10;\[&#10;\boxed{&#10;w=\frac{3-\sqrt{5}}{2}&#10;\approx 0.381966&#10;}&#10;\]&#10;&#10;and&#10;\[&#10;\boxed{&#10;1-w=\frac{\sqrt{5}-1}{2}&#10;\approx 0.618034&#10;}.&#10;\]&#10;&#10;Therefore, the golden-section ratio is approximately&#10;\[&#10;\boxed{0.382:0.618}.&#10;\]&#10;&#10;\end{minipage}&#10;&#10;&#10;\end{document}"/>
  <p:tag name="IGUANATEXSIZE" val="16"/>
  <p:tag name="IGUANATEXCURSOR" val="11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1.9835"/>
  <p:tag name="ORIGINALWIDTH" val=" 477.6903"/>
  <p:tag name="OUTPUTTYPE" val="PNG"/>
  <p:tag name="IGUANATEXVERSION" val="162"/>
  <p:tag name="LATEXADDIN" val="\documentclass{article}&#10;\usepackage{amsmath}&#10;\pagestyle{empty}&#10;\begin{document}&#10;&#10;\[f^\prime(b)=0\]&#10;&#10;\end{document}"/>
  <p:tag name="IGUANATEXSIZE" val="20"/>
  <p:tag name="IGUANATEXCURSOR" val="9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40.9449"/>
  <p:tag name="ORIGINALWIDTH" val=" 2954.631"/>
  <p:tag name="OUTPUTTYPE" val="PNG"/>
  <p:tag name="IGUANATEXVERSION" val="162"/>
  <p:tag name="LATEXADDIN" val="\documentclass{article}&#10;\usepackage{amsmath}&#10;\pagestyle{empty}&#10;\begin{document}&#10;&#10;\begin{align}&#10;f(x)&amp;\approx f(b)+\frac{1}{2}f^{\prime\prime}(b)(x-b)^2\\&#10;&amp;\Rightarrow f(x) - f(b) \propto (x-b)^2&#10;\end{align}&#10;&#10;&#10;\end{document}"/>
  <p:tag name="IGUANATEXSIZE" val="20"/>
  <p:tag name="IGUANATEXCURSOR" val="20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.9857"/>
  <p:tag name="ORIGINALWIDTH" val=" 461.9423"/>
  <p:tag name="OUTPUTTYPE" val="PNG"/>
  <p:tag name="IGUANATEXVERSION" val="162"/>
  <p:tag name="LATEXADDIN" val="\documentclass{article}&#10;\usepackage{amsmath}&#10;\pagestyle{empty}&#10;\begin{document}&#10;&#10;\[\epsilon\sim10^{-7}\]&#10;&#10;&#10;\end{document}"/>
  <p:tag name="IGUANATEXSIZE" val="16"/>
  <p:tag name="IGUANATEXCURSOR" val="10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508.4365"/>
  <p:tag name="OUTPUTTYPE" val="PNG"/>
  <p:tag name="IGUANATEXVERSION" val="162"/>
  <p:tag name="LATEXADDIN" val="\documentclass{article}&#10;\usepackage{amsmath}&#10;\pagestyle{empty}&#10;\begin{document}&#10;&#10;\[\epsilon\sim10^{-16}\]&#10;&#10;&#10;\end{document}"/>
  <p:tag name="IGUANATEXSIZE" val="16"/>
  <p:tag name="IGUANATEXCURSOR" val="10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.2358"/>
  <p:tag name="ORIGINALWIDTH" val=" 238.4702"/>
  <p:tag name="OUTPUTTYPE" val="PNG"/>
  <p:tag name="IGUANATEXVERSION" val="162"/>
  <p:tag name="LATEXADDIN" val="\documentclass{article}&#10;\usepackage{amsmath}&#10;\pagestyle{empty}&#10;\begin{document}&#10;\[10^{-4}\]&#10;&#10;&#10;&#10;\end{document}"/>
  <p:tag name="IGUANATEXSIZE" val="18"/>
  <p:tag name="IGUANATEXCURSOR" val="8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236.9704"/>
  <p:tag name="OUTPUTTYPE" val="PNG"/>
  <p:tag name="IGUANATEXVERSION" val="162"/>
  <p:tag name="LATEXADDIN" val="\documentclass{article}&#10;\usepackage{amsmath}&#10;\pagestyle{empty}&#10;\begin{document}&#10;\[10^{-8}\]&#10;&#10;&#10;&#10;\end{document}"/>
  <p:tag name="IGUANATEXSIZE" val="18"/>
  <p:tag name="IGUANATEXCURSOR" val="8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11.961"/>
  <p:tag name="ORIGINALWIDTH" val=" 3412.823"/>
  <p:tag name="OUTPUTTYPE" val="PNG"/>
  <p:tag name="IGUANATEXVERSION" val="162"/>
  <p:tag name="LATEXADDIN" val="\documentclass{article}&#10;\usepackage{amsmath}&#10;\pagestyle{empty}&#10;\begin{document}&#10;&#10;\begin{align}&#10;x_1=c-0.618034(c-a)=a+0.381966(c-a)\\&#10;x_2=a+0.618034(c-a)=c-0.381966(c-a)&#10;\end{align}&#10;&#10;&#10;\end{document}"/>
  <p:tag name="IGUANATEXSIZE" val="18"/>
  <p:tag name="IGUANATEXCURSOR" val="18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743.907"/>
  <p:tag name="OUTPUTTYPE" val="PNG"/>
  <p:tag name="IGUANATEXVERSION" val="162"/>
  <p:tag name="LATEXADDIN" val="\documentclass{article}&#10;\usepackage{amsmath}&#10;\pagestyle{empty}&#10;\begin{document}&#10;&#10;\[f(x_1)&lt;f(x_2)\]&#10;&#10;&#10;\end{document}"/>
  <p:tag name="IGUANATEXSIZE" val="18"/>
  <p:tag name="IGUANATEXCURSOR" val="9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76.7154"/>
  <p:tag name="OUTPUTTYPE" val="PNG"/>
  <p:tag name="IGUANATEXVERSION" val="162"/>
  <p:tag name="LATEXADDIN" val="\documentclass{article}&#10;\usepackage{amsmath}&#10;\pagestyle{empty}&#10;\begin{document}&#10;\[[x_2,c]\]&#10;&#10;&#10;&#10;\end{document}"/>
  <p:tag name="IGUANATEXSIZE" val="18"/>
  <p:tag name="IGUANATEXCURSOR" val="8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88.7139"/>
  <p:tag name="OUTPUTTYPE" val="PNG"/>
  <p:tag name="IGUANATEXVERSION" val="162"/>
  <p:tag name="LATEXADDIN" val="\documentclass{article}&#10;\usepackage{amsmath}&#10;\pagestyle{empty}&#10;\begin{document}&#10;&#10;\[[a,x_2]\]&#10;&#10;&#10;\end{document}"/>
  <p:tag name="IGUANATEXSIZE" val="18"/>
  <p:tag name="IGUANATEXCURSOR" val="9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743.907"/>
  <p:tag name="OUTPUTTYPE" val="PNG"/>
  <p:tag name="IGUANATEXVERSION" val="162"/>
  <p:tag name="LATEXADDIN" val="\documentclass{article}&#10;\usepackage{amsmath}&#10;\pagestyle{empty}&#10;\begin{document}&#10;&#10;\[f(x_1)&gt;f(x_2)\]&#10;&#10;&#10;\end{document}"/>
  <p:tag name="IGUANATEXSIZE" val="18"/>
  <p:tag name="IGUANATEXCURSOR" val="9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88.7139"/>
  <p:tag name="OUTPUTTYPE" val="PNG"/>
  <p:tag name="IGUANATEXVERSION" val="162"/>
  <p:tag name="LATEXADDIN" val="\documentclass{article}&#10;\usepackage{amsmath}&#10;\pagestyle{empty}&#10;\begin{document}&#10;\[[a,x_1]\]&#10;&#10;&#10;&#10;\end{document}"/>
  <p:tag name="IGUANATEXSIZE" val="18"/>
  <p:tag name="IGUANATEXCURSOR" val="8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76.7154"/>
  <p:tag name="OUTPUTTYPE" val="PNG"/>
  <p:tag name="IGUANATEXVERSION" val="162"/>
  <p:tag name="LATEXADDIN" val="\documentclass{article}&#10;\usepackage{amsmath}&#10;\pagestyle{empty}&#10;\begin{document}&#10;&#10;\[[x_1,c]\]&#10;&#10;&#10;\end{document}"/>
  <p:tag name="IGUANATEXSIZE" val="18"/>
  <p:tag name="IGUANATEXCURSOR" val="9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395.9505"/>
  <p:tag name="OUTPUTTYPE" val="PNG"/>
  <p:tag name="IGUANATEXVERSION" val="162"/>
  <p:tag name="LATEXADDIN" val="\documentclass{article}&#10;\usepackage{amsmath}&#10;\pagestyle{empty}&#10;\begin{document}&#10;&#10;\[\left[x_L,x_U\right]\]&#10;&#10;&#10;\end{document}"/>
  <p:tag name="IGUANATEXSIZE" val="20"/>
  <p:tag name="IGUANATEXCURSOR" val="10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77.4653"/>
  <p:tag name="ORIGINALWIDTH" val=" 1111.361"/>
  <p:tag name="OUTPUTTYPE" val="PNG"/>
  <p:tag name="IGUANATEXVERSION" val="162"/>
  <p:tag name="LATEXADDIN" val="\documentclass{article}&#10;\usepackage{amsmath}&#10;\pagestyle{empty}&#10;\begin{document}&#10;&#10;\[R = \frac{\sqrt{5}-1}{2}\approx0.618\]&#10;&#10;&#10;\end{document}"/>
  <p:tag name="IGUANATEXSIZE" val="16"/>
  <p:tag name="IGUANATEXCURSOR" val="11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1074.616"/>
  <p:tag name="OUTPUTTYPE" val="PNG"/>
  <p:tag name="IGUANATEXVERSION" val="162"/>
  <p:tag name="LATEXADDIN" val="\documentclass{article}&#10;\usepackage{amsmath}&#10;\pagestyle{empty}&#10;\begin{document}&#10;&#10;\[d = R \times (X_U-X_L)\]&#10;&#10;&#10;\end{document}"/>
  <p:tag name="IGUANATEXSIZE" val="16"/>
  <p:tag name="IGUANATEXCURSOR" val="9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0.2362"/>
  <p:tag name="ORIGINALWIDTH" val=" 1496.063"/>
  <p:tag name="OUTPUTTYPE" val="PNG"/>
  <p:tag name="IGUANATEXVERSION" val="162"/>
  <p:tag name="LATEXADDIN" val="\documentclass{article}&#10;\usepackage{amsmath}&#10;\pagestyle{empty}&#10;\begin{document}&#10;&#10;\[x_1=x_L+d,\quad x_2=x_U-d\]&#10;&#10;&#10;\end{document}"/>
  <p:tag name="IGUANATEXSIZE" val="16"/>
  <p:tag name="IGUANATEXCURSOR" val="10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1859.018"/>
  <p:tag name="OUTPUTTYPE" val="PNG"/>
  <p:tag name="IGUANATEXVERSION" val="162"/>
  <p:tag name="LATEXADDIN" val="\documentclass{article}&#10;\usepackage{amsmath}&#10;\pagestyle{empty}&#10;\begin{document}&#10;&#10;\[x_1=round(x_1),\quad x_2=round(x_2)\]&#10;&#10;&#10;\end{document}"/>
  <p:tag name="IGUANATEXSIZE" val="16"/>
  <p:tag name="IGUANATEXCURSOR" val="11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1199.1"/>
  <p:tag name="OUTPUTTYPE" val="PNG"/>
  <p:tag name="IGUANATEXVERSION" val="162"/>
  <p:tag name="LATEXADDIN" val="\documentclass{article}&#10;\usepackage{amsmath}&#10;\pagestyle{empty}&#10;\begin{document}&#10;\[f_1=f(x_1), f_2=f(x_2)\]&#10;&#10;&#10;&#10;&#10;\end{document}"/>
  <p:tag name="IGUANATEXSIZE" val="16"/>
  <p:tag name="IGUANATEXCURSOR" val="10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.2358"/>
  <p:tag name="ORIGINALWIDTH" val=" 381.7023"/>
  <p:tag name="OUTPUTTYPE" val="PNG"/>
  <p:tag name="IGUANATEXVERSION" val="162"/>
  <p:tag name="LATEXADDIN" val="\documentclass{article}&#10;\usepackage{amsmath}&#10;\pagestyle{empty}&#10;\begin{document}&#10;&#10;\[f_1&lt;f_2\]&#10;&#10;&#10;\end{document}"/>
  <p:tag name="IGUANATEXSIZE" val="16"/>
  <p:tag name="IGUANATEXCURSOR" val="9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.2358"/>
  <p:tag name="ORIGINALWIDTH" val=" 381.7023"/>
  <p:tag name="OUTPUTTYPE" val="PNG"/>
  <p:tag name="IGUANATEXVERSION" val="162"/>
  <p:tag name="LATEXADDIN" val="\documentclass{article}&#10;\usepackage{amsmath}&#10;\pagestyle{empty}&#10;\begin{document}&#10;&#10;\[f_1\geq f_2\]&#10;&#10;&#10;\end{document}"/>
  <p:tag name="IGUANATEXSIZE" val="16"/>
  <p:tag name="IGUANATEXCURSOR" val="9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89.23882"/>
  <p:tag name="ORIGINALWIDTH" val=" 538.4327"/>
  <p:tag name="OUTPUTTYPE" val="PNG"/>
  <p:tag name="IGUANATEXVERSION" val="162"/>
  <p:tag name="LATEXADDIN" val="\documentclass{article}&#10;\usepackage{amsmath}&#10;\pagestyle{empty}&#10;\begin{document}&#10;&#10;\[d = R \times d\]&#10;&#10;&#10;\end{document}"/>
  <p:tag name="IGUANATEXSIZE" val="16"/>
  <p:tag name="IGUANATEXCURSOR" val="9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1.7323"/>
  <p:tag name="ORIGINALWIDTH" val=" 2216.723"/>
  <p:tag name="OUTPUTTYPE" val="PNG"/>
  <p:tag name="IGUANATEXVERSION" val="162"/>
  <p:tag name="LATEXADDIN" val="\documentclass{article}&#10;\usepackage{amsmath}&#10;\pagestyle{empty}&#10;\begin{document}&#10;&#10;\[|d|\leq\epsilon \;or\; |f_2-f_1|\leq\epsilon,\quad where\;\epsilon = 10^{-4}\]&#10;&#10;&#10;\end{document}"/>
  <p:tag name="IGUANATEXSIZE" val="16"/>
  <p:tag name="IGUANATEXCURSOR" val="14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3.4533"/>
  <p:tag name="ORIGINALWIDTH" val=" 1080.615"/>
  <p:tag name="OUTPUTTYPE" val="PNG"/>
  <p:tag name="IGUANATEXVERSION" val="162"/>
  <p:tag name="LATEXADDIN" val="\documentclass{article}&#10;\usepackage{amsmath}&#10;\pagestyle{empty}&#10;\begin{document}&#10;&#10;\[&#10;bw=&#10;\begin{cases}&#10;x_1, &amp; f_1&lt;f_2 \\&#10;x_2, &amp; f_2\leq f_1&#10;\end{cases}&#10;\]&#10;&#10;&#10;\end{document}"/>
  <p:tag name="IGUANATEXSIZE" val="14"/>
  <p:tag name="IGUANATEXCURSOR" val="8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1.7323"/>
  <p:tag name="ORIGINALWIDTH" val=" 2216.723"/>
  <p:tag name="OUTPUTTYPE" val="PNG"/>
  <p:tag name="IGUANATEXVERSION" val="162"/>
  <p:tag name="LATEXADDIN" val="\documentclass{article}&#10;\usepackage{amsmath}&#10;\pagestyle{empty}&#10;\begin{document}&#10;&#10;\[|d|\leq\epsilon \;or\; |f_2-f_1|\leq\epsilon,\quad where\;\epsilon = 10^{-4}\]&#10;&#10;&#10;\end{document}"/>
  <p:tag name="IGUANATEXSIZE" val="24"/>
  <p:tag name="IGUANATEXCURSOR" val="14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332.9583"/>
  <p:tag name="OUTPUTTYPE" val="PNG"/>
  <p:tag name="IGUANATEXVERSION" val="162"/>
  <p:tag name="LATEXADDIN" val="\documentclass{article}&#10;\usepackage{amsmath}&#10;\pagestyle{empty}&#10;\begin{document}&#10;\[|d|\leq\epsilon\]&#10;&#10;&#10;&#10;\end{document}"/>
  <p:tag name="IGUANATEXSIZE" val="20"/>
  <p:tag name="IGUANATEXCURSOR" val="8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5289</TotalTime>
  <Words>4412</Words>
  <Application>Microsoft Office PowerPoint</Application>
  <PresentationFormat>寬螢幕</PresentationFormat>
  <Paragraphs>809</Paragraphs>
  <Slides>58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58</vt:i4>
      </vt:variant>
    </vt:vector>
  </HeadingPairs>
  <TitlesOfParts>
    <vt:vector size="68" baseType="lpstr">
      <vt:lpstr>微軟正黑體</vt:lpstr>
      <vt:lpstr>標楷體</vt:lpstr>
      <vt:lpstr>Arial</vt:lpstr>
      <vt:lpstr>Calibri</vt:lpstr>
      <vt:lpstr>Calibri Light</vt:lpstr>
      <vt:lpstr>Cambria Math</vt:lpstr>
      <vt:lpstr>CMU Serif</vt:lpstr>
      <vt:lpstr>Times New Roman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ricki len</dc:creator>
  <cp:lastModifiedBy>ricki len</cp:lastModifiedBy>
  <cp:revision>56</cp:revision>
  <dcterms:created xsi:type="dcterms:W3CDTF">2026-02-06T08:38:10Z</dcterms:created>
  <dcterms:modified xsi:type="dcterms:W3CDTF">2026-07-31T06:27:34Z</dcterms:modified>
</cp:coreProperties>
</file>