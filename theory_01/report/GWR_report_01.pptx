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2" r:id="rId3"/>
    <p:sldId id="277" r:id="rId4"/>
    <p:sldId id="259" r:id="rId5"/>
    <p:sldId id="258" r:id="rId6"/>
    <p:sldId id="278" r:id="rId7"/>
    <p:sldId id="280" r:id="rId8"/>
    <p:sldId id="279" r:id="rId9"/>
    <p:sldId id="260" r:id="rId10"/>
    <p:sldId id="281" r:id="rId11"/>
    <p:sldId id="282" r:id="rId12"/>
    <p:sldId id="283" r:id="rId13"/>
    <p:sldId id="284" r:id="rId14"/>
    <p:sldId id="285" r:id="rId15"/>
    <p:sldId id="286" r:id="rId16"/>
    <p:sldId id="298" r:id="rId17"/>
    <p:sldId id="300" r:id="rId18"/>
    <p:sldId id="299" r:id="rId19"/>
    <p:sldId id="301" r:id="rId20"/>
    <p:sldId id="302" r:id="rId21"/>
    <p:sldId id="287" r:id="rId22"/>
    <p:sldId id="289" r:id="rId23"/>
    <p:sldId id="294" r:id="rId24"/>
    <p:sldId id="291" r:id="rId25"/>
    <p:sldId id="292" r:id="rId26"/>
    <p:sldId id="293" r:id="rId27"/>
    <p:sldId id="295" r:id="rId28"/>
    <p:sldId id="296" r:id="rId29"/>
    <p:sldId id="297" r:id="rId30"/>
    <p:sldId id="303" r:id="rId31"/>
    <p:sldId id="304" r:id="rId32"/>
    <p:sldId id="306" r:id="rId33"/>
    <p:sldId id="307" r:id="rId34"/>
    <p:sldId id="308" r:id="rId35"/>
    <p:sldId id="309" r:id="rId36"/>
    <p:sldId id="310" r:id="rId37"/>
    <p:sldId id="311" r:id="rId38"/>
    <p:sldId id="314" r:id="rId39"/>
    <p:sldId id="316" r:id="rId40"/>
    <p:sldId id="317" r:id="rId41"/>
    <p:sldId id="318" r:id="rId42"/>
    <p:sldId id="319" r:id="rId43"/>
    <p:sldId id="320" r:id="rId44"/>
    <p:sldId id="321" r:id="rId45"/>
    <p:sldId id="313" r:id="rId46"/>
    <p:sldId id="322" r:id="rId4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EEC"/>
    <a:srgbClr val="3333B3"/>
    <a:srgbClr val="F3F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184" autoAdjust="0"/>
  </p:normalViewPr>
  <p:slideViewPr>
    <p:cSldViewPr snapToGrid="0">
      <p:cViewPr varScale="1">
        <p:scale>
          <a:sx n="85" d="100"/>
          <a:sy n="85" d="100"/>
        </p:scale>
        <p:origin x="494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26E95-540F-6A67-2877-0B9F1739A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E222F1A-E08D-4C1C-F8CA-591F190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A33349-2780-F1DE-877F-03BB6D25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33BD3D-261A-8ADE-B11E-72D37ECA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2AB320-4EDA-25CB-56AE-BB31BF25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6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11F6C-5C17-1FAE-B4E3-E078E78A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5557E4-CB46-CF64-B8BD-153F5444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F61226-E078-333C-E7D4-F1E6B76A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F9B423-FCD7-629C-5B4E-D590DE94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077F8A-1E3F-21A0-942F-1A52A58C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84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33BD06-0FDE-D5B8-42EC-740BDEC1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F3DC64-B25B-03CD-28CA-4DFA19955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495616-066C-8740-8A65-9B3C26AA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AC7D99-8BD0-C3B3-DE8E-A415DFDA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DDF187-28A3-3851-C904-6813A969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407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CD396B-EDFC-705C-2F3B-0407E0D0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09E43B-0A44-2F0A-BB3C-2F9362E86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D443EE-530F-90D8-E2FC-6047B3E4D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822C6C-A13F-E709-543E-0F6F0A4B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73E542-CEFA-B78D-A2E6-E791F487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9C2518-6C34-7810-FC0D-94B49932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037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31AA3-5327-62F8-A4FA-4D2E1DBA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D321CC-70C6-7764-FC92-A16B905F7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52C95A-F0C6-240C-44F8-18A813DC8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361842E-E182-8B6A-A89F-AA7A1407A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23E197F-E0DE-4E3E-E23F-066BC4C75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D0CD9D-2133-3947-AF69-2A49C988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22621C-59F0-CFC9-82CA-A6D337D3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897ABC-D3BD-AFEE-5799-C1510A3E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25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FC434-0D3F-DF78-0169-73656466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0166A15-E36D-5637-8DF7-ED416E5D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2FF5426-2361-3F3C-B14D-24D9409B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7CD0D9-DAD0-0200-9B7E-E84CDD2A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81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CAFBC21-3231-1C39-FC11-926EC4FF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B812E6B-3661-7435-7A81-77B00A8F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A3FD86-F33B-517B-74EC-4E9E5305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5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3171F-75F0-A63D-7DD5-152E5D9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656AC8-8BD4-A46D-12D6-BFC5D0C1F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8B0F5A-DBC7-3B30-F76C-9AF6959B4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8E2D67-0C57-0687-61AC-ABABE020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64CB42-89CF-7935-3998-59BA6375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E4B7B5-0C46-FB95-287C-3A6E5D79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03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43C97-1E6B-A362-92C1-4C0B4C2AF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C7D2458-AC1B-0BC9-3ADE-FF671642A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9E334D-C736-FDB6-CF05-DB7CCFDCB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5891D9-135E-7EC7-19AA-CEA9F262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F7F3F-8EC0-C5C8-B762-A75C9D76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F98B1D-F893-263B-ACAB-84A2DA72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375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476F06-C35A-2407-A105-46583C14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0C96A1-2F64-5CAD-3C0E-C4B722B89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D5715E-594B-DE9D-2B2F-707EBE3D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83F906-E7C7-F692-C39A-49A3309E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1B1C4B-E16F-A8C4-9455-72D4E9F0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64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81CB110-D20D-EE44-8F17-2AD6EF1DD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98B36C-525B-40FB-0616-E10ED90A2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2FE02B-6573-2A34-C181-0CA2B46A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56AFA2-0EE0-A258-77F9-61D82A9F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D799FB-2AA0-1A14-8FDC-4E41F161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74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AA68FDE-F45F-5C35-0D4F-54B089D9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FFE46C-AEA8-5791-8702-D8303FC8F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21DB7A-A06C-9A02-569E-D551F1C5E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45493-35B4-4159-803A-59E339B62678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77FC9B-F999-EC99-2D8A-E7BF42323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C2D60D-376B-EBF4-5696-54F1EAD84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95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2.wdp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4.wdp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6.wdp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8.wd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3.png"/><Relationship Id="rId5" Type="http://schemas.microsoft.com/office/2007/relationships/hdphoto" Target="../media/hdphoto7.wdp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07/relationships/hdphoto" Target="../media/hdphoto12.wdp"/><Relationship Id="rId3" Type="http://schemas.openxmlformats.org/officeDocument/2006/relationships/tags" Target="../tags/tag15.xml"/><Relationship Id="rId7" Type="http://schemas.microsoft.com/office/2007/relationships/hdphoto" Target="../media/hdphoto9.wdp"/><Relationship Id="rId12" Type="http://schemas.openxmlformats.org/officeDocument/2006/relationships/image" Target="../media/image17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4.png"/><Relationship Id="rId11" Type="http://schemas.microsoft.com/office/2007/relationships/hdphoto" Target="../media/hdphoto11.wdp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4" Type="http://schemas.openxmlformats.org/officeDocument/2006/relationships/tags" Target="../tags/tag16.xml"/><Relationship Id="rId9" Type="http://schemas.microsoft.com/office/2007/relationships/hdphoto" Target="../media/hdphoto10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26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documentation.org/packages/graphics/versions/3.6.2/topics/image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35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28.xml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5" Type="http://schemas.openxmlformats.org/officeDocument/2006/relationships/tags" Target="../tags/tag30.xml"/><Relationship Id="rId10" Type="http://schemas.openxmlformats.org/officeDocument/2006/relationships/image" Target="../media/image43.png"/><Relationship Id="rId4" Type="http://schemas.openxmlformats.org/officeDocument/2006/relationships/tags" Target="../tags/tag29.xml"/><Relationship Id="rId9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tags" Target="../tags/tag33.xml"/><Relationship Id="rId7" Type="http://schemas.openxmlformats.org/officeDocument/2006/relationships/image" Target="../media/image47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4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4.xml"/><Relationship Id="rId9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tags" Target="../tags/tag37.xml"/><Relationship Id="rId7" Type="http://schemas.openxmlformats.org/officeDocument/2006/relationships/image" Target="../media/image49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48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8.xml"/><Relationship Id="rId9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41.xml"/><Relationship Id="rId7" Type="http://schemas.openxmlformats.org/officeDocument/2006/relationships/image" Target="../media/image52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6.png"/><Relationship Id="rId5" Type="http://schemas.openxmlformats.org/officeDocument/2006/relationships/tags" Target="../tags/tag43.xml"/><Relationship Id="rId10" Type="http://schemas.openxmlformats.org/officeDocument/2006/relationships/image" Target="../media/image55.png"/><Relationship Id="rId4" Type="http://schemas.openxmlformats.org/officeDocument/2006/relationships/tags" Target="../tags/tag42.xml"/><Relationship Id="rId9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0.png"/><Relationship Id="rId3" Type="http://schemas.openxmlformats.org/officeDocument/2006/relationships/tags" Target="../tags/tag4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6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47.png"/><Relationship Id="rId5" Type="http://schemas.openxmlformats.org/officeDocument/2006/relationships/tags" Target="../tags/tag50.xml"/><Relationship Id="rId10" Type="http://schemas.openxmlformats.org/officeDocument/2006/relationships/image" Target="../media/image44.png"/><Relationship Id="rId4" Type="http://schemas.openxmlformats.org/officeDocument/2006/relationships/tags" Target="../tags/tag49.xml"/><Relationship Id="rId9" Type="http://schemas.openxmlformats.org/officeDocument/2006/relationships/image" Target="../media/image43.png"/><Relationship Id="rId14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A215BB4B-36FE-3544-1992-EDFEB580BDFC}"/>
              </a:ext>
            </a:extLst>
          </p:cNvPr>
          <p:cNvSpPr txBox="1"/>
          <p:nvPr/>
        </p:nvSpPr>
        <p:spPr>
          <a:xfrm>
            <a:off x="990600" y="982176"/>
            <a:ext cx="10210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Week 2 </a:t>
            </a:r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進度 </a:t>
            </a:r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底部為橘色表示有更新的頁面</a:t>
            </a:r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PPT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數學式修正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迴歸點修正為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159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個觀測點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完成套件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+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手刻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CV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程式碼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CV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與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GCV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比較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為何發展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GCV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方法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AIC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、</a:t>
            </a:r>
            <a:r>
              <a:rPr lang="en-US" altLang="zh-TW" sz="24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AICc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公式推導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尋找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AI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視覺化時使用的套件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(R basic image())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實作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Monte Carlo Permutation 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Leung F3 test: Leung 2000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原論文、</a:t>
            </a:r>
            <a:r>
              <a:rPr lang="en-US" altLang="zh-TW" sz="2400" dirty="0" err="1">
                <a:latin typeface="CMU Serif" panose="02000603000000000000" pitchFamily="2" charset="0"/>
                <a:ea typeface="標楷體" panose="03000509000000000000" pitchFamily="65" charset="-120"/>
              </a:rPr>
              <a:t>GWmodel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套件、原文書參數比較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</a:rPr>
              <a:t>Week 3 </a:t>
            </a:r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</a:rPr>
              <a:t>自主進度</a:t>
            </a:r>
            <a:endParaRPr lang="en-US" altLang="zh-TW" sz="24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參考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Wheeler &amp; Calder (2007). J </a:t>
            </a:r>
            <a:r>
              <a:rPr lang="en-US" altLang="zh-TW" sz="2400" dirty="0" err="1">
                <a:latin typeface="CMU Serif" panose="02000603000000000000" pitchFamily="2" charset="0"/>
                <a:ea typeface="標楷體" panose="03000509000000000000" pitchFamily="65" charset="-120"/>
              </a:rPr>
              <a:t>Geogr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 Syst, 9(2), 145-166.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中模擬實驗內容，透過建構網格，實作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模擬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E03FDF-0205-5835-F8DE-290AAD717C52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3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A29C-65D0-7A79-63F9-975BE01F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70856F7C-90E8-729C-A5F7-602427336852}"/>
              </a:ext>
            </a:extLst>
          </p:cNvPr>
          <p:cNvSpPr/>
          <p:nvPr/>
        </p:nvSpPr>
        <p:spPr>
          <a:xfrm>
            <a:off x="1223963" y="2332831"/>
            <a:ext cx="9744075" cy="1468438"/>
          </a:xfrm>
          <a:prstGeom prst="roundRect">
            <a:avLst/>
          </a:prstGeom>
          <a:solidFill>
            <a:srgbClr val="3333B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地理加權迴歸GWR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: </a:t>
            </a:r>
          </a:p>
          <a:p>
            <a:pPr algn="ctr"/>
            <a:r>
              <a:rPr lang="en-US" altLang="zh-TW" sz="36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基本理論、Package操作、手刻實作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609B215-3F00-2999-5030-2699DBC0CEDF}"/>
              </a:ext>
            </a:extLst>
          </p:cNvPr>
          <p:cNvSpPr txBox="1"/>
          <p:nvPr/>
        </p:nvSpPr>
        <p:spPr>
          <a:xfrm>
            <a:off x="3048000" y="39535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YUNG-CHUN LAN</a:t>
            </a:r>
            <a:endParaRPr lang="zh-TW" alt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D7BF49-76CA-8863-DEB5-E5E4BBF5B5D3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72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3EA48-86C3-E9EA-11D6-D6D43372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F7EBFF-5F23-BC0B-4DB4-14C4B03D194D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C97516-C8FF-864E-544E-265BAAA1F9A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Outline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445E56-2DFC-8B66-384F-943E2BBDA3DD}"/>
              </a:ext>
            </a:extLst>
          </p:cNvPr>
          <p:cNvSpPr txBox="1"/>
          <p:nvPr/>
        </p:nvSpPr>
        <p:spPr>
          <a:xfrm>
            <a:off x="1278101" y="1860411"/>
            <a:ext cx="651608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GWR </a:t>
            </a:r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理論背景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 估計流程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Georgia </a:t>
            </a:r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縣級資料實作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R Package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復刻分析流程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手刻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核心內容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套件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vs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手刻結果比較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結果視覺化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315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F3F5-159C-5B4C-1F7B-93BE2377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FC46CB3-7A9E-F1C3-BD6C-AB876346C120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269C20-42DF-83D4-2264-6AA8FD50C95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研究背景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B307AD-AF99-46E8-3BC7-D0AFA3149CC3}"/>
              </a:ext>
            </a:extLst>
          </p:cNvPr>
          <p:cNvSpPr txBox="1"/>
          <p:nvPr/>
        </p:nvSpPr>
        <p:spPr>
          <a:xfrm>
            <a:off x="817048" y="1301817"/>
            <a:ext cx="9366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b="1" dirty="0">
                <a:latin typeface="CMU Serif" panose="02000603000000000000" pitchFamily="2" charset="0"/>
                <a:ea typeface="標楷體" panose="03000509000000000000" pitchFamily="65" charset="-120"/>
              </a:rPr>
              <a:t>空間資料具地區差異性，不同變數間的關係可能隨地區改變</a:t>
            </a:r>
            <a:endParaRPr lang="en-US" altLang="zh-TW" sz="24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B606E5-6EAD-74E4-7444-396A43AE5610}"/>
              </a:ext>
            </a:extLst>
          </p:cNvPr>
          <p:cNvSpPr txBox="1"/>
          <p:nvPr/>
        </p:nvSpPr>
        <p:spPr>
          <a:xfrm>
            <a:off x="817048" y="3051439"/>
            <a:ext cx="851906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傳統全域迴歸模型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共享同一組參數，較難呈現空間局部差異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31F15D1-B059-F673-351D-8D72F206C226}"/>
              </a:ext>
            </a:extLst>
          </p:cNvPr>
          <p:cNvSpPr txBox="1"/>
          <p:nvPr/>
        </p:nvSpPr>
        <p:spPr>
          <a:xfrm>
            <a:off x="817047" y="4261111"/>
            <a:ext cx="700914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</a:p>
          <a:p>
            <a:r>
              <a:rPr lang="zh-TW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引入距離加權觀念，在不同位置估計局部迴歸係數，使模型能夠描述變數關係的空間差異。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C3AE7D-7B83-8231-1E21-6A045A0B8E84}"/>
              </a:ext>
            </a:extLst>
          </p:cNvPr>
          <p:cNvSpPr txBox="1"/>
          <p:nvPr/>
        </p:nvSpPr>
        <p:spPr>
          <a:xfrm>
            <a:off x="817048" y="1718657"/>
            <a:ext cx="61228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範例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屋齡與房價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“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鄉村地區老房子有特色，可能越老越貴；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都市地區老房子品質差，可能越老越便宜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”</a:t>
            </a:r>
            <a:endParaRPr lang="zh-TW" altLang="en-US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3253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0ABA75F-FD9E-3ACE-C3BC-8B9954CFCE29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39D13C-5521-5E63-2B78-C688667C80A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理論背景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空間非平穩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B0DB634-2D3A-C500-1ADD-8B57EB6DF27C}"/>
              </a:ext>
            </a:extLst>
          </p:cNvPr>
          <p:cNvSpPr txBox="1"/>
          <p:nvPr/>
        </p:nvSpPr>
        <p:spPr>
          <a:xfrm>
            <a:off x="1516298" y="1857018"/>
            <a:ext cx="65160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</a:rPr>
              <a:t>空間資料特性</a:t>
            </a:r>
            <a:endParaRPr lang="en-US" altLang="zh-TW" sz="24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不同地區可能具不同社會、經濟、地理條件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相同解釋變數在不同位置可能呈現不同關係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05A50E7-080D-2020-298F-F33B21A91DC1}"/>
              </a:ext>
            </a:extLst>
          </p:cNvPr>
          <p:cNvSpPr txBox="1"/>
          <p:nvPr/>
        </p:nvSpPr>
        <p:spPr>
          <a:xfrm>
            <a:off x="1516298" y="4356794"/>
            <a:ext cx="6516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造成空間非平穩可能原因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</a:p>
          <a:p>
            <a:pPr marL="342900" indent="-342900"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抽樣誤差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變數關係確實存在地區差異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8E1D9325-C3DD-E18B-FAB1-5E2F2175EE66}"/>
              </a:ext>
            </a:extLst>
          </p:cNvPr>
          <p:cNvGrpSpPr/>
          <p:nvPr/>
        </p:nvGrpSpPr>
        <p:grpSpPr>
          <a:xfrm>
            <a:off x="1516298" y="3097681"/>
            <a:ext cx="8270384" cy="1099335"/>
            <a:chOff x="481011" y="1537038"/>
            <a:chExt cx="5623200" cy="847467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DE164692-A9F3-E5B7-8412-1E9FC2B92DEF}"/>
                </a:ext>
              </a:extLst>
            </p:cNvPr>
            <p:cNvSpPr/>
            <p:nvPr/>
          </p:nvSpPr>
          <p:spPr>
            <a:xfrm>
              <a:off x="481012" y="1559496"/>
              <a:ext cx="5614988" cy="8250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" name="矩形: 圓角化同側角落 8">
              <a:extLst>
                <a:ext uri="{FF2B5EF4-FFF2-40B4-BE49-F238E27FC236}">
                  <a16:creationId xmlns:a16="http://schemas.microsoft.com/office/drawing/2014/main" id="{506523F1-5BC4-3826-2F88-9A73D3D8BFF8}"/>
                </a:ext>
              </a:extLst>
            </p:cNvPr>
            <p:cNvSpPr/>
            <p:nvPr/>
          </p:nvSpPr>
          <p:spPr>
            <a:xfrm>
              <a:off x="481011" y="1537038"/>
              <a:ext cx="5623200" cy="35624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定義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空間非平穩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Spatial Non-Stationary</a:t>
              </a:r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D13A2CC-9964-5895-3BB0-A8EC7B442B52}"/>
              </a:ext>
            </a:extLst>
          </p:cNvPr>
          <p:cNvSpPr txBox="1"/>
          <p:nvPr/>
        </p:nvSpPr>
        <p:spPr>
          <a:xfrm>
            <a:off x="1604684" y="3679845"/>
            <a:ext cx="5333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變數之間的關係會隨空間位置改變</a:t>
            </a:r>
            <a:endParaRPr lang="en-US" altLang="zh-TW" sz="2000" dirty="0">
              <a:solidFill>
                <a:schemeClr val="bg1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72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CC71-8378-C9EC-3704-581F0879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84BCB4F-7AD0-C2A3-7A65-E5CD26064A9C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87EB07-9521-6DE7-1CB0-CB2FF708B8B5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理論背景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傳統全域迴歸模型的限制</a:t>
            </a:r>
          </a:p>
        </p:txBody>
      </p:sp>
      <p:pic>
        <p:nvPicPr>
          <p:cNvPr id="33" name="圖片 32" descr="\documentclass{article}&#10;\usepackage{amsmath}&#10;\pagestyle{empty}&#10;\begin{document}&#10;\[&#10;\text{housing prices = $\beta_0$ + $\beta_1$ building age + $\beta_2$ area + $\beta_3$ unemployment + ...}&#10;\]&#10;&#10;&#10;&#10;\end{document}" title="IguanaTex Picture Display">
            <a:extLst>
              <a:ext uri="{FF2B5EF4-FFF2-40B4-BE49-F238E27FC236}">
                <a16:creationId xmlns:a16="http://schemas.microsoft.com/office/drawing/2014/main" id="{9416A8E9-12F9-0AC3-97F2-1C006A5B549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87" y="1616435"/>
            <a:ext cx="8951666" cy="250212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78A5803D-AE5D-71F7-B766-8C3157B9D961}"/>
              </a:ext>
            </a:extLst>
          </p:cNvPr>
          <p:cNvSpPr txBox="1"/>
          <p:nvPr/>
        </p:nvSpPr>
        <p:spPr>
          <a:xfrm>
            <a:off x="201706" y="1151076"/>
            <a:ext cx="6122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全域迴歸模型</a:t>
            </a:r>
            <a:endParaRPr lang="zh-TW" altLang="en-US" sz="2400" b="1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94294E8-EDA8-66AB-90B2-0E7FAD34CBD2}"/>
              </a:ext>
            </a:extLst>
          </p:cNvPr>
          <p:cNvSpPr txBox="1"/>
          <p:nvPr/>
        </p:nvSpPr>
        <p:spPr>
          <a:xfrm>
            <a:off x="201706" y="2254822"/>
            <a:ext cx="53295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問題</a:t>
            </a:r>
            <a:endParaRPr lang="en-US" altLang="zh-TW" sz="2400" b="1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使用同一組係數估計整個國家，得到的模型只是整個國家的平均關係，不一定適用所有地區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87C3FA1C-89B1-28A0-A08F-377C34A41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63" b="3821"/>
          <a:stretch>
            <a:fillRect/>
          </a:stretch>
        </p:blipFill>
        <p:spPr>
          <a:xfrm>
            <a:off x="6660777" y="2236892"/>
            <a:ext cx="4244788" cy="3412078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1F6897F-F709-6250-1ADE-D97F96E76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565" b="81174"/>
          <a:stretch>
            <a:fillRect/>
          </a:stretch>
        </p:blipFill>
        <p:spPr>
          <a:xfrm>
            <a:off x="10243870" y="4594482"/>
            <a:ext cx="911013" cy="796879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80C5B630-3F71-03E0-1A89-AAEBE99DB1FF}"/>
              </a:ext>
            </a:extLst>
          </p:cNvPr>
          <p:cNvSpPr txBox="1"/>
          <p:nvPr/>
        </p:nvSpPr>
        <p:spPr>
          <a:xfrm>
            <a:off x="6660777" y="5674413"/>
            <a:ext cx="4814047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全域模型殘差圖 </a:t>
            </a:r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 </a:t>
            </a:r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估計倫敦房價</a:t>
            </a:r>
            <a:endParaRPr lang="en-US" altLang="zh-TW" sz="16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en-US" altLang="zh-TW" sz="105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Fotheringham et al. (2012). Geographically Weighted Regression. p.37</a:t>
            </a:r>
            <a:endParaRPr lang="zh-TW" altLang="en-US" sz="105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04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3424-41C2-F80B-9F62-FEDF3EB8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94CB8F-687A-8D2C-ECE1-C68DB312275D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FF8BB2-7728-F772-7EEE-D11CF85F829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基本觀念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868CF74-532C-6285-09C7-2AADC5D681B5}"/>
              </a:ext>
            </a:extLst>
          </p:cNvPr>
          <p:cNvSpPr txBox="1"/>
          <p:nvPr/>
        </p:nvSpPr>
        <p:spPr>
          <a:xfrm>
            <a:off x="983876" y="2483658"/>
            <a:ext cx="10224248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共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n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個觀測點，每個點都建構一組迴歸模型，共建構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n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組迴歸模型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除了迴歸點本身，也使用其他觀測點的資料訓練模型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距迴歸點越近的觀測點，權重越大；距迴歸點越遠的觀測點，權重越小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迴歸點不一定要在觀測點上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024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31206-A09C-333B-36DA-72D53208F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D3FCB1-FC14-2A64-4C9C-99624AB9D656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7569EE-85EC-A8A1-B0C5-2AF4164FBF48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模型形式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BDEE776-FC3A-A9D6-4C70-787E0F2FE652}"/>
              </a:ext>
            </a:extLst>
          </p:cNvPr>
          <p:cNvSpPr txBox="1"/>
          <p:nvPr/>
        </p:nvSpPr>
        <p:spPr>
          <a:xfrm>
            <a:off x="1701053" y="887632"/>
            <a:ext cx="8789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</a:t>
            </a:r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每個點都是一組迴歸模型，共</a:t>
            </a:r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n </a:t>
            </a:r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組迴歸模型</a:t>
            </a:r>
            <a:endParaRPr lang="zh-TW" altLang="en-US" sz="2400" b="1" dirty="0"/>
          </a:p>
        </p:txBody>
      </p:sp>
      <p:pic>
        <p:nvPicPr>
          <p:cNvPr id="14" name="圖片 13" descr="\documentclass{article}&#10;\usepackage{amsmath}&#10;\pagestyle{empty}&#10;&#10;\begin{document}&#10;&#10;\[&#10;\mathbf{y}&#10;=&#10;\left(&#10;\boldsymbol{\beta}&#10;\odot&#10;\mathbf{X}&#10;\right)&#10;\mathbf{1}&#10;+&#10;\boldsymbol{\varepsilon}&#10;\]&#10;&#10;where&#10;&#10;\[&#10;\boldsymbol{\beta}&#10;=&#10;\begin{bmatrix}&#10;\beta_0(u_1,v_1) &amp; \beta_1(u_1,v_1) &amp; \cdots &amp; \beta_k(u_1,v_1) \\&#10;\beta_0(u_2,v_2) &amp; \beta_1(u_2,v_2) &amp; \cdots &amp; \beta_k(u_2,v_2) \\&#10;\vdots &amp; \vdots &amp; \ddots &amp; \vdots \\&#10;\beta_0(u_n,v_n) &amp; \beta_1(u_n,v_n) &amp; \cdots &amp; \beta_k(u_n,v_n)&#10;\end{bmatrix}_{n\times(k+1)},&#10;\]&#10;&#10;\[&#10;\mathbf{X}&#10;=&#10;\begin{bmatrix}&#10;1 &amp; x_{11} &amp; \cdots &amp; x_{1k} \\&#10;1 &amp; x_{21} &amp; \cdots &amp; x_{2k} \\&#10;\vdots &amp; \vdots &amp; \ddots &amp; \vdots \\&#10;1 &amp; x_{n1} &amp; \cdots &amp; x_{nk}&#10;\end{bmatrix}_{n\times(k+1)},&#10;\qquad&#10;\mathbf{1}&#10;=&#10;\begin{bmatrix}&#10;1\\&#10;1\\&#10;\vdots\\&#10;1&#10;\end{bmatrix}_{(k+1)\times 1}.&#10;\]&#10;&#10;\end{document}" title="IguanaTex Picture Display">
            <a:extLst>
              <a:ext uri="{FF2B5EF4-FFF2-40B4-BE49-F238E27FC236}">
                <a16:creationId xmlns:a16="http://schemas.microsoft.com/office/drawing/2014/main" id="{1BBB9CA3-D0A3-1CC6-BF69-27F4B4EDB48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22" y="1561216"/>
            <a:ext cx="8274684" cy="474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9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2D33-155F-7EED-0FD4-46DF9DF0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D79C492-30D9-FE12-D774-B089F643084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2C6802-9BBB-2BEA-27C8-CC727993356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係數解</a:t>
            </a:r>
          </a:p>
        </p:txBody>
      </p:sp>
      <p:pic>
        <p:nvPicPr>
          <p:cNvPr id="29" name="圖片 28" descr="\documentclass{article}&#10;\usepackage{amsmath}&#10;\pagestyle{empty}&#10;&#10;\begin{document}&#10;&#10;\[&#10;\hat{\boldsymbol{\beta}}(u_i,v_i)&#10;=&#10;\left(&#10;\mathbf{X}^{T}\mathbf{W}(u_i,v_i)\mathbf{X}&#10;\right)^{-1}&#10;\mathbf{X}^{T}\mathbf{W}(u_i,v_i)\mathbf{y},&#10;\]&#10;&#10;where&#10;&#10;\[&#10;\hat{\boldsymbol{\beta}}(u_i,v_i)&#10;=&#10;\begin{bmatrix}&#10;\hat{\beta}_0(u_i,v_i) \\&#10;\hat{\beta}_1(u_i,v_i) \\&#10;\vdots \\&#10;\hat{\beta}_k(u_i,v_i)&#10;\end{bmatrix}_{(k+1)\times 1},&#10;\quad&#10;\text{the vector of estimated local regression coefficients at location }(u_i,v_i),&#10;\]&#10;&#10;\[&#10;\mathbf{W}(u_i,v_i)&#10;=&#10;\begin{bmatrix}&#10;w_{i1} &amp; 0 &amp; \cdots &amp; 0 \\&#10;0 &amp; w_{i2} &amp; \cdots &amp; 0 \\&#10;\vdots &amp; \vdots &amp; \ddots &amp; \vdots \\&#10;0 &amp; 0 &amp; \cdots &amp; w_{in}&#10;\end{bmatrix}_{n\times n},\quad&#10;w_{ij}:&#10;\text{ the weight assigned to the }j\text{-th observation at location }i.&#10;\]&#10;&#10;\end{document}" title="IguanaTex Picture Display">
            <a:extLst>
              <a:ext uri="{FF2B5EF4-FFF2-40B4-BE49-F238E27FC236}">
                <a16:creationId xmlns:a16="http://schemas.microsoft.com/office/drawing/2014/main" id="{C71CE86A-DD15-09D1-DCAB-AAE36951A5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92" y="2196932"/>
            <a:ext cx="10207015" cy="419490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ED778A2-96FD-0089-B7F6-31B1AB9B6AC7}"/>
              </a:ext>
            </a:extLst>
          </p:cNvPr>
          <p:cNvSpPr txBox="1"/>
          <p:nvPr/>
        </p:nvSpPr>
        <p:spPr>
          <a:xfrm>
            <a:off x="823267" y="1744581"/>
            <a:ext cx="612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模型係數解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局部加權最小平方法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):</a:t>
            </a:r>
            <a:endParaRPr lang="zh-TW" altLang="en-US" sz="20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B2907A-CEBA-BC9F-A691-6C39A7C6CBF6}"/>
              </a:ext>
            </a:extLst>
          </p:cNvPr>
          <p:cNvSpPr txBox="1"/>
          <p:nvPr/>
        </p:nvSpPr>
        <p:spPr>
          <a:xfrm>
            <a:off x="823267" y="893704"/>
            <a:ext cx="612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一般迴歸模型係數解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最小平方法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):</a:t>
            </a:r>
          </a:p>
        </p:txBody>
      </p:sp>
      <p:pic>
        <p:nvPicPr>
          <p:cNvPr id="7" name="圖片 6" descr="\documentclass{article}&#10;\usepackage{amsmath}&#10;\pagestyle{empty}&#10;&#10;\begin{document}&#10;&#10;\[&#10;\hat{\boldsymbol{\beta}}&#10;=&#10;\left(&#10;\mathbf{X}^{T}\mathbf{X}&#10;\right)^{-1}&#10;\mathbf{X}^{T}\mathbf{y}&#10;\]&#10;&#10;\end{document}" title="IguanaTex Picture Display">
            <a:extLst>
              <a:ext uri="{FF2B5EF4-FFF2-40B4-BE49-F238E27FC236}">
                <a16:creationId xmlns:a16="http://schemas.microsoft.com/office/drawing/2014/main" id="{9D8A414E-4B2C-2232-F7FD-6B38D070CD4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836" y="1354825"/>
            <a:ext cx="1962515" cy="33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82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0FC9F-638B-AE00-F178-EE2A0BFE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919E31E-4763-F3F4-E5A6-FB9061CBD1F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BD31D2-3175-4EAC-0B3F-49518606B8B0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權重函數選擇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34744C9-265F-D12A-1FD9-70F84DB7914A}"/>
              </a:ext>
            </a:extLst>
          </p:cNvPr>
          <p:cNvGrpSpPr/>
          <p:nvPr/>
        </p:nvGrpSpPr>
        <p:grpSpPr>
          <a:xfrm>
            <a:off x="2539029" y="1976248"/>
            <a:ext cx="6701563" cy="1102470"/>
            <a:chOff x="481011" y="1537038"/>
            <a:chExt cx="5623200" cy="1050325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74595C55-38FF-9A9E-EB7E-2B2C201D0C27}"/>
                </a:ext>
              </a:extLst>
            </p:cNvPr>
            <p:cNvSpPr/>
            <p:nvPr/>
          </p:nvSpPr>
          <p:spPr>
            <a:xfrm>
              <a:off x="481012" y="1559495"/>
              <a:ext cx="5614988" cy="1027868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8" name="矩形: 圓角化同側角落 7">
              <a:extLst>
                <a:ext uri="{FF2B5EF4-FFF2-40B4-BE49-F238E27FC236}">
                  <a16:creationId xmlns:a16="http://schemas.microsoft.com/office/drawing/2014/main" id="{73658726-AF70-14B6-1B6A-D6C40F76D0C6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全域迴歸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不管資料點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j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離迴歸點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多遠，權重都是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1</a:t>
              </a:r>
            </a:p>
          </p:txBody>
        </p:sp>
      </p:grpSp>
      <p:pic>
        <p:nvPicPr>
          <p:cNvPr id="10" name="圖片 9" descr="\documentclass{article}&#10;\usepackage{amsmath}&#10;\pagestyle{empty}&#10;\begin{document}&#10;\[&#10;w_{ij}=1 \;\forall\;i,j&#10;\]&#10;&#10;&#10;\end{document}" title="IguanaTex Picture Display">
            <a:extLst>
              <a:ext uri="{FF2B5EF4-FFF2-40B4-BE49-F238E27FC236}">
                <a16:creationId xmlns:a16="http://schemas.microsoft.com/office/drawing/2014/main" id="{9E3EBA22-E94C-892B-2A01-30856527BBB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601" y="2622051"/>
            <a:ext cx="1490419" cy="266552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FE636403-FEAE-89AB-65D7-B713FD89A995}"/>
              </a:ext>
            </a:extLst>
          </p:cNvPr>
          <p:cNvGrpSpPr/>
          <p:nvPr/>
        </p:nvGrpSpPr>
        <p:grpSpPr>
          <a:xfrm>
            <a:off x="2539029" y="3482173"/>
            <a:ext cx="6701562" cy="1378993"/>
            <a:chOff x="481011" y="1537038"/>
            <a:chExt cx="5623200" cy="1362511"/>
          </a:xfrm>
        </p:grpSpPr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3D1775D8-9D7D-AD46-0A79-EBA0A55C27B5}"/>
                </a:ext>
              </a:extLst>
            </p:cNvPr>
            <p:cNvSpPr/>
            <p:nvPr/>
          </p:nvSpPr>
          <p:spPr>
            <a:xfrm>
              <a:off x="481012" y="1559495"/>
              <a:ext cx="5614988" cy="1340054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3" name="矩形: 圓角化同側角落 12">
              <a:extLst>
                <a:ext uri="{FF2B5EF4-FFF2-40B4-BE49-F238E27FC236}">
                  <a16:creationId xmlns:a16="http://schemas.microsoft.com/office/drawing/2014/main" id="{37DE142B-1FD7-C5B0-6733-050848FD7765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最簡單局部方法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距離內算，距離外不算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16" name="圖片 15" descr="\documentclass{article}&#10;\usepackage{amsmath}&#10;\pagestyle{empty}&#10;\begin{document}&#10;&#10;\[&#10;w_{ij}=\left\{  &#10;\begin{aligned}  &#10;&amp;1,\;d_{ij}&lt;d \\  &#10;&amp;0,\; o.w.&#10;\end{aligned}  &#10;\right. &#10;\]&#10;&#10;&#10;\end{document}" title="IguanaTex Picture Display">
            <a:extLst>
              <a:ext uri="{FF2B5EF4-FFF2-40B4-BE49-F238E27FC236}">
                <a16:creationId xmlns:a16="http://schemas.microsoft.com/office/drawing/2014/main" id="{CE2751C7-7CA7-5204-B1E9-9661A2AE14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973" y="4066314"/>
            <a:ext cx="1699675" cy="650606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E30F3D1C-78E8-9C17-0760-4A537D5D515F}"/>
              </a:ext>
            </a:extLst>
          </p:cNvPr>
          <p:cNvSpPr txBox="1"/>
          <p:nvPr/>
        </p:nvSpPr>
        <p:spPr>
          <a:xfrm>
            <a:off x="2391111" y="4883895"/>
            <a:ext cx="6997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問題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不連續且視窗內權重都是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，本質上只是範圍較小的全域迴歸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162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7E3EA-3EAE-DC5D-AF7D-284BDC1E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6A9220E-1667-573C-2544-2C859F38F49C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3BE9FC-0127-A5CD-76EE-671CBCAE3597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權重函數選擇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D4C10024-DD01-CEE6-355B-73728D496C84}"/>
              </a:ext>
            </a:extLst>
          </p:cNvPr>
          <p:cNvGrpSpPr/>
          <p:nvPr/>
        </p:nvGrpSpPr>
        <p:grpSpPr>
          <a:xfrm>
            <a:off x="3010864" y="1607857"/>
            <a:ext cx="6534070" cy="1117212"/>
            <a:chOff x="481011" y="1537038"/>
            <a:chExt cx="5623200" cy="1263112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3BD27317-A982-80F4-1266-AB9205CCE310}"/>
                </a:ext>
              </a:extLst>
            </p:cNvPr>
            <p:cNvSpPr/>
            <p:nvPr/>
          </p:nvSpPr>
          <p:spPr>
            <a:xfrm>
              <a:off x="481012" y="1559495"/>
              <a:ext cx="5614988" cy="1240655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8" name="矩形: 圓角化同側角落 7">
              <a:extLst>
                <a:ext uri="{FF2B5EF4-FFF2-40B4-BE49-F238E27FC236}">
                  <a16:creationId xmlns:a16="http://schemas.microsoft.com/office/drawing/2014/main" id="{CA7FBB4B-5CEA-5404-2BAD-0B04B0BFA16D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較好的方法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讓權重隨距離平滑下降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(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高斯權重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)</a:t>
              </a: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780F3E5-FAB2-521A-977D-7ED0FACB919A}"/>
              </a:ext>
            </a:extLst>
          </p:cNvPr>
          <p:cNvGrpSpPr/>
          <p:nvPr/>
        </p:nvGrpSpPr>
        <p:grpSpPr>
          <a:xfrm>
            <a:off x="3010864" y="3565627"/>
            <a:ext cx="6534071" cy="1433551"/>
            <a:chOff x="481011" y="1537038"/>
            <a:chExt cx="5623200" cy="1362511"/>
          </a:xfrm>
        </p:grpSpPr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4FCB02F2-3D31-6839-EE8D-46845A2698EC}"/>
                </a:ext>
              </a:extLst>
            </p:cNvPr>
            <p:cNvSpPr/>
            <p:nvPr/>
          </p:nvSpPr>
          <p:spPr>
            <a:xfrm>
              <a:off x="481012" y="1559495"/>
              <a:ext cx="5614988" cy="1340054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3" name="矩形: 圓角化同側角落 12">
              <a:extLst>
                <a:ext uri="{FF2B5EF4-FFF2-40B4-BE49-F238E27FC236}">
                  <a16:creationId xmlns:a16="http://schemas.microsoft.com/office/drawing/2014/main" id="{CAFFDB0F-EAB5-4F1F-8F1B-6629A51094DC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bi-square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權重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平滑下降，但超過範圍直接歸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0</a:t>
              </a:r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D1E6F38-C64C-2529-5509-C9C1A3C0F7C8}"/>
              </a:ext>
            </a:extLst>
          </p:cNvPr>
          <p:cNvSpPr txBox="1"/>
          <p:nvPr/>
        </p:nvSpPr>
        <p:spPr>
          <a:xfrm>
            <a:off x="3214211" y="5116165"/>
            <a:ext cx="6127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不像應切的移動視窗，內部權重都是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</a:t>
            </a:r>
          </a:p>
          <a:p>
            <a:pPr marL="342900" indent="-342900">
              <a:buAutoNum type="arabicPeriod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明確排除太遠的資料點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buAutoNum type="arabicPeriod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常用權重函數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pic>
        <p:nvPicPr>
          <p:cNvPr id="6" name="圖片 5" descr="\documentclass{article}&#10;\usepackage{amsmath}&#10;\pagestyle{empty}&#10;\begin{document}&#10;\[&#10;w_{ij}=exp[{-\frac{d_{ij}^2}{2b^2}}]&#10;\]&#10;&#10;\end{document}" title="IguanaTex Picture Display">
            <a:extLst>
              <a:ext uri="{FF2B5EF4-FFF2-40B4-BE49-F238E27FC236}">
                <a16:creationId xmlns:a16="http://schemas.microsoft.com/office/drawing/2014/main" id="{E8181D2D-5203-76D2-0D02-1004127A0A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756" y="2084421"/>
            <a:ext cx="1618286" cy="52662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FC356E4-C87F-7F8A-F35F-3B646D28A3C0}"/>
              </a:ext>
            </a:extLst>
          </p:cNvPr>
          <p:cNvSpPr txBox="1"/>
          <p:nvPr/>
        </p:nvSpPr>
        <p:spPr>
          <a:xfrm>
            <a:off x="3214211" y="2822344"/>
            <a:ext cx="612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問題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即使很遠的資料點，也會被乘上權重</a:t>
            </a:r>
            <a:endParaRPr lang="zh-TW" altLang="en-US" dirty="0"/>
          </a:p>
        </p:txBody>
      </p:sp>
      <p:pic>
        <p:nvPicPr>
          <p:cNvPr id="15" name="圖片 14" descr="\documentclass{article}&#10;\usepackage{amsmath}&#10;\pagestyle{empty}&#10;\begin{document}&#10;\[&#10;w_{ij}=\left\{  &#10;\begin{aligned}  &#10;&amp;[1-(\frac{d_{ij}}{b})^2]^2,\;d_{ij}&lt;b \\  &#10;&amp;0,\; o.w.&#10;\end{aligned}  &#10;\right. &#10;\]&#10;&#10;&#10;&#10;\end{document}" title="IguanaTex Picture Display">
            <a:extLst>
              <a:ext uri="{FF2B5EF4-FFF2-40B4-BE49-F238E27FC236}">
                <a16:creationId xmlns:a16="http://schemas.microsoft.com/office/drawing/2014/main" id="{4E1577EB-9EB0-8F77-2895-356E07273B8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097" y="4100325"/>
            <a:ext cx="2831604" cy="80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47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F378-C3CD-549E-820B-4CA61805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E9EB818-B91B-EF96-BE4D-7AC800F842EE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A0D539-D867-5827-0BD9-1EE4BAE19F1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觀念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帶寬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Bandwidth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5437016-0756-9803-A4D7-BCBBBAA22F8A}"/>
              </a:ext>
            </a:extLst>
          </p:cNvPr>
          <p:cNvGrpSpPr/>
          <p:nvPr/>
        </p:nvGrpSpPr>
        <p:grpSpPr>
          <a:xfrm>
            <a:off x="1960808" y="1727173"/>
            <a:ext cx="8270384" cy="1582708"/>
            <a:chOff x="481011" y="1537038"/>
            <a:chExt cx="5623200" cy="1220095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E85FA806-F051-CBA8-20F9-95608D4FA3EA}"/>
                </a:ext>
              </a:extLst>
            </p:cNvPr>
            <p:cNvSpPr/>
            <p:nvPr/>
          </p:nvSpPr>
          <p:spPr>
            <a:xfrm>
              <a:off x="481012" y="1559495"/>
              <a:ext cx="5614988" cy="1197638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8" name="矩形: 圓角化同側角落 7">
              <a:extLst>
                <a:ext uri="{FF2B5EF4-FFF2-40B4-BE49-F238E27FC236}">
                  <a16:creationId xmlns:a16="http://schemas.microsoft.com/office/drawing/2014/main" id="{27F1304A-AD8D-AC1D-E885-CFD26F198517}"/>
                </a:ext>
              </a:extLst>
            </p:cNvPr>
            <p:cNvSpPr/>
            <p:nvPr/>
          </p:nvSpPr>
          <p:spPr>
            <a:xfrm>
              <a:off x="481011" y="1537038"/>
              <a:ext cx="5623200" cy="35624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定義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帶寬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bandwidth</a:t>
              </a:r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762DB0B-F922-3BA7-8605-FEE6665A4A2F}"/>
              </a:ext>
            </a:extLst>
          </p:cNvPr>
          <p:cNvSpPr txBox="1"/>
          <p:nvPr/>
        </p:nvSpPr>
        <p:spPr>
          <a:xfrm>
            <a:off x="1960808" y="3506553"/>
            <a:ext cx="82703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固定帶寬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(fixed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bandwidth):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endParaRPr lang="en-US" altLang="zh-TW" sz="2000" b="1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每個迴歸點採用相同範圍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空間資料密度不均時易導致估計偏誤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  <a:p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可變帶寬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(adaptive bandwidth)</a:t>
            </a: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資料點多的地方採用小範圍，資料點少的地方採用大範圍，保證每個迴歸點模型都使用合理資料量訓練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3402E2-9E32-32FB-9CA3-B71E94D93D7C}"/>
              </a:ext>
            </a:extLst>
          </p:cNvPr>
          <p:cNvSpPr txBox="1"/>
          <p:nvPr/>
        </p:nvSpPr>
        <p:spPr>
          <a:xfrm>
            <a:off x="2032636" y="2278954"/>
            <a:ext cx="81267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GWR </a:t>
            </a:r>
            <a:r>
              <a:rPr lang="zh-TW" altLang="en-US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權重函數中的尺度參數，控制距離對空間權重的影響範圍。</a:t>
            </a:r>
            <a:endParaRPr lang="en-US" altLang="zh-TW" dirty="0">
              <a:solidFill>
                <a:schemeClr val="bg1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帶寬越小，局部迴歸主要受鄰近觀測點影響，模型較能反映局部差異；</a:t>
            </a:r>
            <a:endParaRPr lang="en-US" altLang="zh-TW" dirty="0">
              <a:solidFill>
                <a:schemeClr val="bg1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帶寬越大，較多觀測點參與估計，係數曲面較平滑，模型結果越接近全域迴歸。</a:t>
            </a:r>
            <a:endParaRPr lang="en-US" altLang="zh-TW" dirty="0">
              <a:solidFill>
                <a:schemeClr val="bg1"/>
              </a:solidFill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020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F96B-EE17-6557-76EB-6D78DBE3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679796D-D8F1-1E67-C875-CEF448CECB2F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39FB2-3A73-6273-956D-E4A726D67325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可變帶寬形式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A91C97FE-B3F5-D97D-60A7-2A91B0F8F5C5}"/>
              </a:ext>
            </a:extLst>
          </p:cNvPr>
          <p:cNvGrpSpPr/>
          <p:nvPr/>
        </p:nvGrpSpPr>
        <p:grpSpPr>
          <a:xfrm>
            <a:off x="1995246" y="2289864"/>
            <a:ext cx="8201507" cy="1139136"/>
            <a:chOff x="481011" y="1537038"/>
            <a:chExt cx="5623200" cy="1287899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AF8BFE7E-6C13-7A87-6BC8-1EA63BACDCC3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8" name="矩形: 圓角化同側角落 7">
              <a:extLst>
                <a:ext uri="{FF2B5EF4-FFF2-40B4-BE49-F238E27FC236}">
                  <a16:creationId xmlns:a16="http://schemas.microsoft.com/office/drawing/2014/main" id="{F52608F5-A18F-98E9-BB5B-E2406B1153A2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可變帶寬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1 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用距離排序決定權重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21" name="圖片 20" descr="\documentclass{article}&#10;\usepackage{amsmath}&#10;\pagestyle{empty}&#10;\begin{document}&#10;\[&#10;w_{ij}=exp(\frac{-R_{ij}}{b})&#10;\text{, where $R_{ij}$ : the rank of data point j at regression point i.}&#10;\]&#10;&#10;\end{document}" title="IguanaTex Picture Display">
            <a:extLst>
              <a:ext uri="{FF2B5EF4-FFF2-40B4-BE49-F238E27FC236}">
                <a16:creationId xmlns:a16="http://schemas.microsoft.com/office/drawing/2014/main" id="{C25639AD-6BB8-E3AE-E936-A16ED4E54A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039" y="2799514"/>
            <a:ext cx="7761604" cy="480608"/>
          </a:xfrm>
          <a:prstGeom prst="rect">
            <a:avLst/>
          </a:prstGeom>
        </p:spPr>
      </p:pic>
      <p:grpSp>
        <p:nvGrpSpPr>
          <p:cNvPr id="22" name="群組 21">
            <a:extLst>
              <a:ext uri="{FF2B5EF4-FFF2-40B4-BE49-F238E27FC236}">
                <a16:creationId xmlns:a16="http://schemas.microsoft.com/office/drawing/2014/main" id="{E04AB25D-2515-2968-E661-EB3C6F2608E6}"/>
              </a:ext>
            </a:extLst>
          </p:cNvPr>
          <p:cNvGrpSpPr/>
          <p:nvPr/>
        </p:nvGrpSpPr>
        <p:grpSpPr>
          <a:xfrm>
            <a:off x="1995246" y="3749803"/>
            <a:ext cx="8201507" cy="1175119"/>
            <a:chOff x="481011" y="1537038"/>
            <a:chExt cx="5623200" cy="1328581"/>
          </a:xfrm>
        </p:grpSpPr>
        <p:sp>
          <p:nvSpPr>
            <p:cNvPr id="23" name="矩形: 圓角 22">
              <a:extLst>
                <a:ext uri="{FF2B5EF4-FFF2-40B4-BE49-F238E27FC236}">
                  <a16:creationId xmlns:a16="http://schemas.microsoft.com/office/drawing/2014/main" id="{C8E64A01-70A9-E89C-B293-197E71CFB236}"/>
                </a:ext>
              </a:extLst>
            </p:cNvPr>
            <p:cNvSpPr/>
            <p:nvPr/>
          </p:nvSpPr>
          <p:spPr>
            <a:xfrm>
              <a:off x="481012" y="1559495"/>
              <a:ext cx="5614988" cy="1306124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4" name="矩形: 圓角化同側角落 23">
              <a:extLst>
                <a:ext uri="{FF2B5EF4-FFF2-40B4-BE49-F238E27FC236}">
                  <a16:creationId xmlns:a16="http://schemas.microsoft.com/office/drawing/2014/main" id="{49C4E6A7-EDD9-0113-D74A-7EB80AF348EA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可變帶寬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2 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讓每個點權重總和相同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27" name="圖片 26" descr="\documentclass{article}&#10;\usepackage{amsmath}&#10;\pagestyle{empty}&#10;\begin{document}&#10;\[&#10;\sum_jw_{ij}=C \; \forall \;i&#10;\]&#10;&#10;\end{document}" title="IguanaTex Picture Display">
            <a:extLst>
              <a:ext uri="{FF2B5EF4-FFF2-40B4-BE49-F238E27FC236}">
                <a16:creationId xmlns:a16="http://schemas.microsoft.com/office/drawing/2014/main" id="{1C506964-C5DD-34B2-EDDA-7ABB5F791DE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647" y="4365054"/>
            <a:ext cx="1404729" cy="49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0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0214-09D3-296F-A1E5-514A2037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C20235-CC9D-5C10-EDB0-70DE039ECDE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E9925-5C18-9DAD-D6FE-09D306E6140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可變帶寬形式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7DCA6906-8BF2-2A74-1200-08B1387D4D62}"/>
              </a:ext>
            </a:extLst>
          </p:cNvPr>
          <p:cNvGrpSpPr/>
          <p:nvPr/>
        </p:nvGrpSpPr>
        <p:grpSpPr>
          <a:xfrm>
            <a:off x="1466924" y="1498987"/>
            <a:ext cx="9258152" cy="3860026"/>
            <a:chOff x="1309295" y="1498987"/>
            <a:chExt cx="9258152" cy="3860026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8ECD984D-B268-0ACD-2C5A-042644DB8450}"/>
                </a:ext>
              </a:extLst>
            </p:cNvPr>
            <p:cNvGrpSpPr/>
            <p:nvPr/>
          </p:nvGrpSpPr>
          <p:grpSpPr>
            <a:xfrm>
              <a:off x="1309295" y="1498987"/>
              <a:ext cx="9258152" cy="3860026"/>
              <a:chOff x="481011" y="1537038"/>
              <a:chExt cx="5623200" cy="4364119"/>
            </a:xfrm>
          </p:grpSpPr>
          <p:sp>
            <p:nvSpPr>
              <p:cNvPr id="29" name="矩形: 圓角 28">
                <a:extLst>
                  <a:ext uri="{FF2B5EF4-FFF2-40B4-BE49-F238E27FC236}">
                    <a16:creationId xmlns:a16="http://schemas.microsoft.com/office/drawing/2014/main" id="{638206D0-4DD6-72D5-B565-2C34530C2787}"/>
                  </a:ext>
                </a:extLst>
              </p:cNvPr>
              <p:cNvSpPr/>
              <p:nvPr/>
            </p:nvSpPr>
            <p:spPr>
              <a:xfrm>
                <a:off x="481012" y="1559494"/>
                <a:ext cx="5614988" cy="4341663"/>
              </a:xfrm>
              <a:prstGeom prst="roundRect">
                <a:avLst>
                  <a:gd name="adj" fmla="val 5607"/>
                </a:avLst>
              </a:prstGeom>
              <a:solidFill>
                <a:srgbClr val="3333B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  <p:sp>
            <p:nvSpPr>
              <p:cNvPr id="30" name="矩形: 圓角化同側角落 29">
                <a:extLst>
                  <a:ext uri="{FF2B5EF4-FFF2-40B4-BE49-F238E27FC236}">
                    <a16:creationId xmlns:a16="http://schemas.microsoft.com/office/drawing/2014/main" id="{48F6A1DB-DC5A-D061-ABFA-1C26DAB8D3A6}"/>
                  </a:ext>
                </a:extLst>
              </p:cNvPr>
              <p:cNvSpPr/>
              <p:nvPr/>
            </p:nvSpPr>
            <p:spPr>
              <a:xfrm>
                <a:off x="481011" y="1537038"/>
                <a:ext cx="5623200" cy="43463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EBE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TW" altLang="en-US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可變帶寬</a:t>
                </a:r>
                <a:r>
                  <a:rPr lang="en-US" altLang="zh-TW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 3 :</a:t>
                </a:r>
                <a:r>
                  <a:rPr lang="zh-TW" altLang="en-US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固定使用最近的 </a:t>
                </a:r>
                <a:r>
                  <a:rPr lang="en-US" altLang="zh-TW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N </a:t>
                </a:r>
                <a:r>
                  <a:rPr lang="zh-TW" altLang="en-US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個鄰居 </a:t>
                </a:r>
                <a:r>
                  <a:rPr lang="en-US" altLang="zh-TW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(</a:t>
                </a:r>
                <a:r>
                  <a:rPr lang="zh-TW" altLang="en-US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最常見</a:t>
                </a:r>
                <a:r>
                  <a:rPr lang="en-US" altLang="zh-TW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)</a:t>
                </a:r>
              </a:p>
            </p:txBody>
          </p:sp>
        </p:grpSp>
        <p:pic>
          <p:nvPicPr>
            <p:cNvPr id="11" name="圖片 10" descr="\documentclass{article}&#10;\usepackage{amsmath}&#10;\pagestyle{empty}&#10;\begin{document}&#10;\[&#10;w_{ij}=\left\{  &#10;\begin{aligned}  &#10;&amp;1,\;\text{j is one of the N points closest to the regression point i.} \\  &#10;&amp;0,\; o.w.&#10;\end{aligned}  &#10;\right. &#10;\]&#10;&#10;\end{document}" title="IguanaTex Picture Display">
              <a:extLst>
                <a:ext uri="{FF2B5EF4-FFF2-40B4-BE49-F238E27FC236}">
                  <a16:creationId xmlns:a16="http://schemas.microsoft.com/office/drawing/2014/main" id="{5E314E7A-5DB2-C8DA-45C1-374AEEDBE64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6002" y="2307895"/>
              <a:ext cx="7531285" cy="778614"/>
            </a:xfrm>
            <a:prstGeom prst="rect">
              <a:avLst/>
            </a:prstGeom>
          </p:spPr>
        </p:pic>
        <p:pic>
          <p:nvPicPr>
            <p:cNvPr id="9" name="圖片 8" descr="\documentclass{article}&#10;\usepackage{amsmath}&#10;\pagestyle{empty}&#10;\begin{document}&#10;\[&#10;w_{ij}=\left\{  &#10;\begin{aligned}  &#10;&amp;1,\;\text{j is one of the N points closest to the regression point i.} \\  &#10;&amp;0,\; o.w.&#10;\end{aligned}  &#10;\right. &#10;\]&#10;\text{combine with bi-square:}&#10;\[&#10;w_{ij}=\left\{  &#10;\begin{aligned}  &#10;&amp;[1-(\frac{d_{ij}}{b})^2]^2,\;\text{j is one of the N points closest to the regression point i.} \\  &#10;&amp;0,\; o.w.&#10;\end{aligned}  &#10;\right.&#10;\]&#10;\end{document}" title="IguanaTex Picture Display">
              <a:extLst>
                <a:ext uri="{FF2B5EF4-FFF2-40B4-BE49-F238E27FC236}">
                  <a16:creationId xmlns:a16="http://schemas.microsoft.com/office/drawing/2014/main" id="{7D55B007-379C-E0B6-A601-ADC7D34BF68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278"/>
            <a:stretch>
              <a:fillRect/>
            </a:stretch>
          </p:blipFill>
          <p:spPr>
            <a:xfrm>
              <a:off x="1530392" y="3302298"/>
              <a:ext cx="8860243" cy="163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4328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02CD-CA50-BA65-416A-BA304B69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F32DA39-B29F-ECED-F4B0-D60C2C89CD63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233A0D-FD5D-6D09-8A81-8133D0B157CA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帶寬選擇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EF264AE8-65E4-5F57-6762-4252D93564C7}"/>
              </a:ext>
            </a:extLst>
          </p:cNvPr>
          <p:cNvGrpSpPr/>
          <p:nvPr/>
        </p:nvGrpSpPr>
        <p:grpSpPr>
          <a:xfrm>
            <a:off x="1501313" y="987410"/>
            <a:ext cx="9845192" cy="1139136"/>
            <a:chOff x="481011" y="1537038"/>
            <a:chExt cx="5623200" cy="1287899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AFAC10EC-4FF0-CBA5-E685-3CAEEC132762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6" name="矩形: 圓角化同側角落 5">
              <a:extLst>
                <a:ext uri="{FF2B5EF4-FFF2-40B4-BE49-F238E27FC236}">
                  <a16:creationId xmlns:a16="http://schemas.microsoft.com/office/drawing/2014/main" id="{F7CC56B0-FDFD-6918-20AD-D7DDCB685CFB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交叉驗證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CV: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預測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點時，不拿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點訓練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10" name="圖片 9" descr="\documentclass{article}&#10;\usepackage{amsmath}&#10;\pagestyle{empty}&#10;\begin{document}&#10;&#10;\[&#10;CV=\sum_{i=1}^n[y_i-\hat{y}_{\neq i}(b)]^2&#10;\]&#10;&#10;&#10;\end{document}" title="IguanaTex Picture Display">
            <a:extLst>
              <a:ext uri="{FF2B5EF4-FFF2-40B4-BE49-F238E27FC236}">
                <a16:creationId xmlns:a16="http://schemas.microsoft.com/office/drawing/2014/main" id="{DC318C7A-B795-7F8A-9614-178D679885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89" y="1485971"/>
            <a:ext cx="2194041" cy="605757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D7029058-758D-33E4-C75A-DB9EC2F42110}"/>
              </a:ext>
            </a:extLst>
          </p:cNvPr>
          <p:cNvGrpSpPr/>
          <p:nvPr/>
        </p:nvGrpSpPr>
        <p:grpSpPr>
          <a:xfrm>
            <a:off x="1494115" y="2359250"/>
            <a:ext cx="9859589" cy="1139136"/>
            <a:chOff x="481011" y="1537038"/>
            <a:chExt cx="5623200" cy="1287899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9126E18B-1A4B-739B-12CE-B61A4D613872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5" name="矩形: 圓角化同側角落 14">
              <a:extLst>
                <a:ext uri="{FF2B5EF4-FFF2-40B4-BE49-F238E27FC236}">
                  <a16:creationId xmlns:a16="http://schemas.microsoft.com/office/drawing/2014/main" id="{C1A67530-81E3-84BB-23D1-6548AC340539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廣義交叉驗證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GCV: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預測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點時，不拿掉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點，而是用複雜度懲罰模型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18" name="圖片 17" descr="\documentclass{article}&#10;\usepackage{amsmath}&#10;\pagestyle{empty}&#10;\begin{document}&#10;&#10;\[&#10;GCV=n\sum_{i=1}^n[y_i-\hat{y}_i(b)]^2/(n-v_1)^2,\text{where $v_1$=tr(hat matrix S)}&#10;\]&#10;&#10;&#10;\end{document}" title="IguanaTex Picture Display">
            <a:extLst>
              <a:ext uri="{FF2B5EF4-FFF2-40B4-BE49-F238E27FC236}">
                <a16:creationId xmlns:a16="http://schemas.microsoft.com/office/drawing/2014/main" id="{97D07147-6269-DC24-83B8-FB31BA9E56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831" y="2784540"/>
            <a:ext cx="6780157" cy="675196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7CD2D5EF-4A53-66B8-3626-7710F093261F}"/>
              </a:ext>
            </a:extLst>
          </p:cNvPr>
          <p:cNvGrpSpPr/>
          <p:nvPr/>
        </p:nvGrpSpPr>
        <p:grpSpPr>
          <a:xfrm>
            <a:off x="1480572" y="3731090"/>
            <a:ext cx="9886675" cy="1139136"/>
            <a:chOff x="481011" y="1537038"/>
            <a:chExt cx="5623200" cy="1287899"/>
          </a:xfrm>
        </p:grpSpPr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A005F00D-F129-7BF9-0010-16B622A24DEB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1" name="矩形: 圓角化同側角落 20">
              <a:extLst>
                <a:ext uri="{FF2B5EF4-FFF2-40B4-BE49-F238E27FC236}">
                  <a16:creationId xmlns:a16="http://schemas.microsoft.com/office/drawing/2014/main" id="{96D42FF5-5155-9695-010D-79B6CD5782AD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AICc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同時考慮模型配適度與複雜度，也可用在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Poisson GWR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、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Logistic GWR</a:t>
              </a:r>
            </a:p>
          </p:txBody>
        </p:sp>
      </p:grpSp>
      <p:pic>
        <p:nvPicPr>
          <p:cNvPr id="24" name="圖片 23" descr="\documentclass{article}&#10;\usepackage{amsmath}&#10;\pagestyle{empty}&#10;\begin{document}&#10;&#10;\[&#10;AIC_c=2n\;log(\hat{\sigma})+n\;log(2\pi)+n[\frac{n+tr(S)}{n-2-tr(S)}]&#10;\]&#10;&#10;&#10;\end{document}" title="IguanaTex Picture Display">
            <a:extLst>
              <a:ext uri="{FF2B5EF4-FFF2-40B4-BE49-F238E27FC236}">
                <a16:creationId xmlns:a16="http://schemas.microsoft.com/office/drawing/2014/main" id="{DFC0933F-860D-5468-2897-668B3F97B21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861" y="4209983"/>
            <a:ext cx="5414097" cy="598857"/>
          </a:xfrm>
          <a:prstGeom prst="rect">
            <a:avLst/>
          </a:prstGeom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A61587D2-BE54-7AAE-21D7-15E8AA0D268E}"/>
              </a:ext>
            </a:extLst>
          </p:cNvPr>
          <p:cNvGrpSpPr/>
          <p:nvPr/>
        </p:nvGrpSpPr>
        <p:grpSpPr>
          <a:xfrm>
            <a:off x="1508501" y="5102930"/>
            <a:ext cx="9830816" cy="1139136"/>
            <a:chOff x="481011" y="1537038"/>
            <a:chExt cx="5623200" cy="1287899"/>
          </a:xfrm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0088A861-518A-2DB2-AA7F-C8DD3FE5709D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7" name="矩形: 圓角化同側角落 26">
              <a:extLst>
                <a:ext uri="{FF2B5EF4-FFF2-40B4-BE49-F238E27FC236}">
                  <a16:creationId xmlns:a16="http://schemas.microsoft.com/office/drawing/2014/main" id="{17373E42-F5BF-EBCD-42B7-153E21F030EE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BIC: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比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AICc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對模型複雜度施加更多懲罰，更傾向選擇簡單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(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大帶寬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)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模型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33" name="圖片 32" descr="\documentclass{article}&#10;\usepackage{amsmath}&#10;\pagestyle{empty}&#10;\begin{document}&#10;&#10;\[&#10;BIC=-2\;log(L)+k\;log(n),\text{where $L$: model likelihood}&#10;\]&#10;&#10;&#10;\end{document}" title="IguanaTex Picture Display">
            <a:extLst>
              <a:ext uri="{FF2B5EF4-FFF2-40B4-BE49-F238E27FC236}">
                <a16:creationId xmlns:a16="http://schemas.microsoft.com/office/drawing/2014/main" id="{707E243B-9661-38E9-FB6B-D44CE315713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956" y="5720068"/>
            <a:ext cx="6169907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25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A7A2-5C2C-5E01-A4BA-30E771215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B2469F2-692B-839C-F32E-E848C395D91F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1ED9E0-132C-E9F8-D4E3-C0F129FE014E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CV vs GCV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AD5E4A0-9204-EFFE-5E35-04A7B13CC41A}"/>
              </a:ext>
            </a:extLst>
          </p:cNvPr>
          <p:cNvSpPr txBox="1"/>
          <p:nvPr/>
        </p:nvSpPr>
        <p:spPr>
          <a:xfrm>
            <a:off x="735106" y="2324804"/>
            <a:ext cx="61049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為何發展出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GCV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?</a:t>
            </a:r>
          </a:p>
          <a:p>
            <a:pPr marL="342900" indent="-342900"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比完整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CV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更容易計算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不須排除迴歸點 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i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  <a:p>
            <a:pPr marL="342900" indent="-342900"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透過複雜度懲罰避免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wrap-around effect</a:t>
            </a:r>
            <a:endParaRPr lang="zh-TW" altLang="en-US" sz="2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4D7193-7708-DB5A-A795-F6B48B74BB56}"/>
              </a:ext>
            </a:extLst>
          </p:cNvPr>
          <p:cNvSpPr txBox="1"/>
          <p:nvPr/>
        </p:nvSpPr>
        <p:spPr>
          <a:xfrm>
            <a:off x="6840070" y="2353386"/>
            <a:ext cx="49664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“An approximation to the cross-validation statistic that is easier to compute is known as the generalized cross-validation criterion (GCV)." p.61</a:t>
            </a:r>
            <a:endParaRPr lang="zh-TW" altLang="en-US" sz="12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2C2EA74-37B2-625B-07DA-663FCE26FA68}"/>
              </a:ext>
            </a:extLst>
          </p:cNvPr>
          <p:cNvSpPr txBox="1"/>
          <p:nvPr/>
        </p:nvSpPr>
        <p:spPr>
          <a:xfrm>
            <a:off x="6840069" y="2986660"/>
            <a:ext cx="49664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“This term prevents the calibration wrapping itself around the data points because v1 would then tend to n and the denominator of equation would tend to 0. p.61</a:t>
            </a:r>
            <a:endParaRPr lang="zh-TW" altLang="en-US" sz="1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B532E27-4338-7EA7-830C-E04DF5F83486}"/>
              </a:ext>
            </a:extLst>
          </p:cNvPr>
          <p:cNvSpPr txBox="1"/>
          <p:nvPr/>
        </p:nvSpPr>
        <p:spPr>
          <a:xfrm>
            <a:off x="735106" y="3519677"/>
            <a:ext cx="61049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CV vs GCV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CV: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較直接且概念清楚，但計算較慢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GCV: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用有效參數限制來近似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CV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結果，計算較快，適合大量資料或需要反覆搜尋帶寬的情況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551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DB81-2B10-BBE2-56B1-871C9945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DABE62-F235-4343-96E2-86A4AB44BD48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7C74A9-D32A-164F-8E4F-46387B10A090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CV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實作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04EBF62-81F7-6BF5-2FE9-5884E7830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389" y="1200492"/>
            <a:ext cx="5740684" cy="160949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6A2C392-EE68-7144-338D-9A7C9F25C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3" y="3194369"/>
            <a:ext cx="5408148" cy="32211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CC0B12F-E10B-2283-E769-803F505C0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485" y="3178544"/>
            <a:ext cx="5408148" cy="325282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69D770B-80A6-20FB-473D-7EDF312120F1}"/>
              </a:ext>
            </a:extLst>
          </p:cNvPr>
          <p:cNvSpPr txBox="1"/>
          <p:nvPr/>
        </p:nvSpPr>
        <p:spPr>
          <a:xfrm>
            <a:off x="3299985" y="819860"/>
            <a:ext cx="5592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endParaRPr lang="zh-TW" altLang="en-US" sz="2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1A3DC77-0972-4217-3D7F-2318A3DFB77F}"/>
              </a:ext>
            </a:extLst>
          </p:cNvPr>
          <p:cNvSpPr txBox="1"/>
          <p:nvPr/>
        </p:nvSpPr>
        <p:spPr>
          <a:xfrm>
            <a:off x="3299985" y="2830161"/>
            <a:ext cx="5592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手刻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29082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6D450-C3F0-0EBA-6381-3F991C71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F8F7A55-2061-40C0-8104-4489426D7EAE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730C79-0EAF-CDBD-7E45-E5675759E4E4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GCV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實作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8438594-B76F-5B26-7882-831A76C4F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1" y="1658471"/>
            <a:ext cx="5717972" cy="407042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4634D61-FBBE-6455-7BE9-126EBD399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133" y="1658471"/>
            <a:ext cx="6217612" cy="368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82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81682-ADA6-1F57-6D01-563D161B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BEEA561-7E37-A8BC-22D8-8453A93DBC07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FEEF29-66E4-B48F-CF7B-3E5E42E2164E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CV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、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GCV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結果比較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FD1AD7D-0C85-5B59-7D73-D3FA8B5A1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83203"/>
              </p:ext>
            </p:extLst>
          </p:nvPr>
        </p:nvGraphicFramePr>
        <p:xfrm>
          <a:off x="6436659" y="1254498"/>
          <a:ext cx="5329518" cy="1874520"/>
        </p:xfrm>
        <a:graphic>
          <a:graphicData uri="http://schemas.openxmlformats.org/drawingml/2006/table">
            <a:tbl>
              <a:tblPr/>
              <a:tblGrid>
                <a:gridCol w="2002177">
                  <a:extLst>
                    <a:ext uri="{9D8B030D-6E8A-4147-A177-3AD203B41FA5}">
                      <a16:colId xmlns:a16="http://schemas.microsoft.com/office/drawing/2014/main" val="3128983531"/>
                    </a:ext>
                  </a:extLst>
                </a:gridCol>
                <a:gridCol w="1863927">
                  <a:extLst>
                    <a:ext uri="{9D8B030D-6E8A-4147-A177-3AD203B41FA5}">
                      <a16:colId xmlns:a16="http://schemas.microsoft.com/office/drawing/2014/main" val="1736996794"/>
                    </a:ext>
                  </a:extLst>
                </a:gridCol>
                <a:gridCol w="1463414">
                  <a:extLst>
                    <a:ext uri="{9D8B030D-6E8A-4147-A177-3AD203B41FA5}">
                      <a16:colId xmlns:a16="http://schemas.microsoft.com/office/drawing/2014/main" val="2348390199"/>
                    </a:ext>
                  </a:extLst>
                </a:gridCol>
              </a:tblGrid>
              <a:tr h="2608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GCV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364972"/>
                  </a:ext>
                </a:extLst>
              </a:tr>
              <a:tr h="2608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最小值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2147.08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12.01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14724"/>
                  </a:ext>
                </a:extLst>
              </a:tr>
              <a:tr h="2608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選擇帶寬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937597"/>
                  </a:ext>
                </a:extLst>
              </a:tr>
              <a:tr h="260802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次效能測試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800033"/>
                  </a:ext>
                </a:extLst>
              </a:tr>
              <a:tr h="2608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執行時間中位數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9.95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32358"/>
                  </a:ext>
                </a:extLst>
              </a:tr>
              <a:tr h="2608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記憶體配置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4.99 GB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9.45 GB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60596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B04A2B07-D39E-1D84-0426-5A71C2978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1" r="3432" b="4240"/>
          <a:stretch>
            <a:fillRect/>
          </a:stretch>
        </p:blipFill>
        <p:spPr>
          <a:xfrm>
            <a:off x="5455023" y="3429000"/>
            <a:ext cx="6736977" cy="297457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20802D4-5DAC-F80F-14EB-6BF2197C9C2A}"/>
              </a:ext>
            </a:extLst>
          </p:cNvPr>
          <p:cNvSpPr txBox="1"/>
          <p:nvPr/>
        </p:nvSpPr>
        <p:spPr>
          <a:xfrm>
            <a:off x="172572" y="1032229"/>
            <a:ext cx="51793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直接使用理論計算方式，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CV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計算效率優於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GCV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GCV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在理論上為較容易計算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CV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的近似方法，然而實作上在計算有效參數數量時包含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建立對角權重矩陣 </a:t>
            </a:r>
            <a:r>
              <a:rPr lang="en-US" altLang="zh-TW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W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解反矩陣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最耗效能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帽子矩陣軌跡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tr(</a:t>
            </a:r>
            <a:r>
              <a:rPr lang="en-US" altLang="zh-TW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運算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D011226-555C-25B2-5AE6-E2B601DCD5AC}"/>
              </a:ext>
            </a:extLst>
          </p:cNvPr>
          <p:cNvSpPr txBox="1"/>
          <p:nvPr/>
        </p:nvSpPr>
        <p:spPr>
          <a:xfrm>
            <a:off x="172572" y="3894551"/>
            <a:ext cx="5179358" cy="176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改進方向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用 </a:t>
            </a:r>
            <a:r>
              <a:rPr lang="en-US" altLang="zh-TW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crossprod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(X, X*</a:t>
            </a:r>
            <a:r>
              <a:rPr lang="en-US" altLang="zh-TW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w_i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，避免建立</a:t>
            </a:r>
            <a:r>
              <a:rPr lang="en-US" altLang="zh-TW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W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或許可用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Cholesky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或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QR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分解，避免解反矩陣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計算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tr(</a:t>
            </a:r>
            <a:r>
              <a:rPr lang="en-US" altLang="zh-TW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時避免建構大量向量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495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5C572-E077-ED62-5056-BFE5C60F7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6222804-754D-855A-A282-497EDB729CB7}"/>
              </a:ext>
            </a:extLst>
          </p:cNvPr>
          <p:cNvSpPr/>
          <p:nvPr/>
        </p:nvSpPr>
        <p:spPr>
          <a:xfrm>
            <a:off x="0" y="6777318"/>
            <a:ext cx="12192000" cy="806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987138-B5CD-92E3-8F91-D7CC1EFC91E1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AIC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、</a:t>
            </a:r>
            <a:r>
              <a:rPr lang="en-US" altLang="zh-TW" sz="2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AICc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推導</a:t>
            </a:r>
          </a:p>
        </p:txBody>
      </p:sp>
      <p:pic>
        <p:nvPicPr>
          <p:cNvPr id="14" name="圖片 13" descr="\documentclass[12pt]{article}&#10;&#10;\usepackage{amsmath}&#10;\usepackage{amssymb}&#10;\usepackage{bm}&#10;&#10;\begin{document}&#10;&#10;The Akaike Information Criterion is defined as&#10;\[&#10;\mathrm{AIC}&#10;=&#10;-2\left(\max_{\bm{\mu},\sigma^2}\log L\right)+2k,&#10;\]&#10;where \(L\) is the likelihood function and \(k\) is the number of&#10;estimated parameters.&#10;&#10;\subsection*{1. Maximum likelihood estimation}&#10;&#10;Let&#10;\[&#10;\bm{y}\sim N_n\left(\bm{\mu},\sigma^2 I_n\right).&#10;\]&#10;&#10;The likelihood function is&#10;\[&#10;L(\bm{\mu},\sigma^2)&#10;=&#10;(2\pi\sigma^2)^{-n/2}&#10;\exp\left(&#10;-\frac{\lVert \bm{y}-\bm{\mu}\rVert^2}{2\sigma^2}&#10;\right).&#10;\]&#10;&#10;Therefore, the log-likelihood function is&#10;\[&#10;\log L(\bm{\mu},\sigma^2)&#10;=&#10;-\frac{n}{2}\log(2\pi)&#10;-\frac{n}{2}\log(\sigma^2)&#10;-\frac{1}{2\sigma^2}&#10;\lVert \bm{y}-\bm{\mu}\rVert^2.&#10;\]&#10;&#10;Differentiating with respect to \(\sigma^2\), we obtain&#10;\[&#10;\frac{\partial \log L}{\partial \sigma^2}&#10;=&#10;-\frac{n}{2\sigma^2}&#10;+&#10;\frac{1}{2(\sigma^2)^2}&#10;\lVert \bm{y}-\bm{\mu}\rVert^2&#10;=&#10;0.&#10;\]&#10;&#10;Hence,&#10;\[&#10;\widehat{\sigma}^2&#10;=&#10;\frac{\lVert \bm{y}-\widehat{\bm{\mu}}\rVert^2}{n}&#10;=&#10;\frac{\mathrm{RSS}}{n}.&#10;\]&#10;&#10;Substituting the maximum likelihood estimator into the log-likelihood&#10;function gives&#10;\begin{align*}&#10;\max_{\bm{\mu},\sigma^2}\log L&#10;&amp;=&#10;-\frac{n}{2}\log(2\pi)&#10;-\frac{n}{2}\log\left(\widehat{\sigma}^2\right)&#10;-\frac{1}{2}\frac{n}{\mathrm{RSS}}\mathrm{RSS} \\&#10;&amp;=&#10;-\frac{n}{2}\log(2\pi)&#10;-n\log\widehat{\sigma}&#10;-\frac{n}{2}.&#10;\end{align*}&#10;&#10;&#10;\end{document}" title="IguanaTex Picture Display">
            <a:extLst>
              <a:ext uri="{FF2B5EF4-FFF2-40B4-BE49-F238E27FC236}">
                <a16:creationId xmlns:a16="http://schemas.microsoft.com/office/drawing/2014/main" id="{A1E4D361-BDEA-45A8-BD44-3EADE7846A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85" b="13210"/>
          <a:stretch>
            <a:fillRect/>
          </a:stretch>
        </p:blipFill>
        <p:spPr>
          <a:xfrm>
            <a:off x="860608" y="1478307"/>
            <a:ext cx="5223802" cy="5267213"/>
          </a:xfrm>
          <a:prstGeom prst="rect">
            <a:avLst/>
          </a:prstGeom>
        </p:spPr>
      </p:pic>
      <p:pic>
        <p:nvPicPr>
          <p:cNvPr id="20" name="圖片 19" descr="\documentclass[12pt]{article}&#10;&#10;\usepackage{amsmath}&#10;\usepackage{amssymb}&#10;\usepackage{bm}&#10;&#10;\begin{document}&#10;\subsection*{2. Number of parameters}&#10;&#10;The number of estimated parameters is&#10;\[&#10;k=d+1,&#10;\]&#10;where \(d\) is the number of effective parameters and the additional&#10;parameter corresponds to \(\sigma^2\).&#10;&#10;For a linear smoother with smoothing matrix \(S\),&#10;\[&#10;d=\operatorname{tr}(S).&#10;\]&#10;&#10;Combining the results above, we obtain&#10;\[&#10;\mathrm{AIC}&#10;=&#10;2n\log\widehat{\sigma}&#10;+n\log(2\pi)&#10;+n&#10;+2\left(\operatorname{tr}(S)+1\right).&#10;\]&#10;&#10;The corrected Akaike Information Criterion is&#10;\[&#10;\mathrm{AICc}&#10;=&#10;\mathrm{AIC}&#10;+&#10;\frac{2k(k+1)}{n-k-1}.&#10;\]&#10;&#10;Thus,&#10;\begin{align*}&#10;\mathrm{AICc}&#10;&amp;=&#10;2n\log\widehat{\sigma}&#10;+n\log(2\pi)&#10;+n&#10;+2\left(\operatorname{tr}(S)+1\right) \\&#10;&amp;\quad&#10;+&#10;\frac{&#10;2\left(\operatorname{tr}(S)+1\right)&#10;\left(\operatorname{tr}(S)+2\right)&#10;}{&#10;n-\operatorname{tr}(S)-2&#10;}.&#10;\end{align*}&#10;&#10;After simplification,&#10;\[&#10;\boxed{&#10;\mathrm{AICc}&#10;=&#10;2n\log\widehat{\sigma}&#10;+n\log(2\pi)&#10;+&#10;n\frac{n+\operatorname{tr}(S)}&#10;{n-2-\operatorname{tr}(S)}&#10;}.&#10;\]&#10;&#10;&#10;&#10;\end{document}" title="IguanaTex Picture Display">
            <a:extLst>
              <a:ext uri="{FF2B5EF4-FFF2-40B4-BE49-F238E27FC236}">
                <a16:creationId xmlns:a16="http://schemas.microsoft.com/office/drawing/2014/main" id="{7CBC5B4F-77D9-3330-9859-2E7C5E31488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39"/>
          <a:stretch>
            <a:fillRect/>
          </a:stretch>
        </p:blipFill>
        <p:spPr>
          <a:xfrm>
            <a:off x="6204124" y="913431"/>
            <a:ext cx="5223803" cy="5670996"/>
          </a:xfrm>
          <a:prstGeom prst="rect">
            <a:avLst/>
          </a:prstGeom>
        </p:spPr>
      </p:pic>
      <p:pic>
        <p:nvPicPr>
          <p:cNvPr id="26" name="圖片 25" descr="\documentclass{article}&#10;\usepackage{amsmath}&#10;\usepackage{amsmath}&#10;\usepackage{amssymb}&#10;\usepackage{bm}&#10;\pagestyle{empty}&#10;\begin{document}&#10;&#10;\[&#10;\mathrm{AIC}&#10;=&#10;-2\left(\max_{\bm{\mu},\sigma^2}\log L\right)+2k,&#10;\]&#10;&#10;&#10;\end{document}" title="IguanaTex Picture Display">
            <a:extLst>
              <a:ext uri="{FF2B5EF4-FFF2-40B4-BE49-F238E27FC236}">
                <a16:creationId xmlns:a16="http://schemas.microsoft.com/office/drawing/2014/main" id="{18C832D5-0C52-3433-F0B1-894E95C9B8A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08" y="752513"/>
            <a:ext cx="2452536" cy="464214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9BAE6CCA-16C6-F212-2B8A-98D75CE393DD}"/>
              </a:ext>
            </a:extLst>
          </p:cNvPr>
          <p:cNvSpPr txBox="1"/>
          <p:nvPr/>
        </p:nvSpPr>
        <p:spPr>
          <a:xfrm>
            <a:off x="797854" y="1169511"/>
            <a:ext cx="45899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where </a:t>
            </a:r>
            <a:r>
              <a:rPr lang="en-US" altLang="zh-TW" sz="1200" i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L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 Likelihood function, </a:t>
            </a:r>
            <a:r>
              <a:rPr lang="en-US" altLang="zh-TW" sz="1200" i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k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 number of estimated parameters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54227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32696-D513-38B8-DF3D-413068D03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6E915B-71A0-975A-AADC-9F0D9CD524C6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A4EF66-3E27-1DBF-2D73-2C1F4D1FFB29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概述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5ED2D9E-CDD1-068D-4F58-FA01553312CA}"/>
              </a:ext>
            </a:extLst>
          </p:cNvPr>
          <p:cNvSpPr txBox="1"/>
          <p:nvPr/>
        </p:nvSpPr>
        <p:spPr>
          <a:xfrm>
            <a:off x="871258" y="1971980"/>
            <a:ext cx="10449485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參考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Fotheringham et al. (2002). Geographically Weighted Regression. pp.97-102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估計流程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使用資料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喬治亞州縣級資料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N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近鄰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bandwidth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搭配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bi-square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權重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測試多個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bandwidth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，選擇 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AICc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表現最好的模型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於地圖範圍設置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40*40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網格作為迴歸點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於迴歸點訓練模型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將各解釋變數之局部迴歸係數視覺化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6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1DDF5-1559-B0DC-A894-688B9E8B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9D8AB0B-45D9-9AD4-D830-66F6F7D679DC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1A0BAE-4853-3649-B564-C61CCF8576FC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資料介紹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B2ABFC7-57C1-9857-37ED-6805A3FAD798}"/>
              </a:ext>
            </a:extLst>
          </p:cNvPr>
          <p:cNvSpPr txBox="1"/>
          <p:nvPr/>
        </p:nvSpPr>
        <p:spPr>
          <a:xfrm>
            <a:off x="284441" y="871784"/>
            <a:ext cx="9926170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 </a:t>
            </a:r>
            <a:r>
              <a:rPr lang="en-US" altLang="zh-TW" sz="1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zh-TW" altLang="en-US" sz="1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套件內建之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Georgia census data 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美國喬治亞州縣級人口普查資料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每筆觀測值代表喬治亞州的一個縣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159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筆觀測值、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13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個變數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26FD77-1250-FA98-ABBD-86DDCB356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987787"/>
              </p:ext>
            </p:extLst>
          </p:nvPr>
        </p:nvGraphicFramePr>
        <p:xfrm>
          <a:off x="5800166" y="1220820"/>
          <a:ext cx="6209178" cy="4624172"/>
        </p:xfrm>
        <a:graphic>
          <a:graphicData uri="http://schemas.openxmlformats.org/drawingml/2006/table">
            <a:tbl>
              <a:tblPr/>
              <a:tblGrid>
                <a:gridCol w="1006048">
                  <a:extLst>
                    <a:ext uri="{9D8B030D-6E8A-4147-A177-3AD203B41FA5}">
                      <a16:colId xmlns:a16="http://schemas.microsoft.com/office/drawing/2014/main" val="4182461831"/>
                    </a:ext>
                  </a:extLst>
                </a:gridCol>
                <a:gridCol w="1121495">
                  <a:extLst>
                    <a:ext uri="{9D8B030D-6E8A-4147-A177-3AD203B41FA5}">
                      <a16:colId xmlns:a16="http://schemas.microsoft.com/office/drawing/2014/main" val="2101174915"/>
                    </a:ext>
                  </a:extLst>
                </a:gridCol>
                <a:gridCol w="4081635">
                  <a:extLst>
                    <a:ext uri="{9D8B030D-6E8A-4147-A177-3AD203B41FA5}">
                      <a16:colId xmlns:a16="http://schemas.microsoft.com/office/drawing/2014/main" val="2304305079"/>
                    </a:ext>
                  </a:extLst>
                </a:gridCol>
              </a:tblGrid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變數名稱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角色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變數說明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637945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AreaKey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識別變數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各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的識別編號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288805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Latitude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centroid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的緯度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604691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Longitud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centroid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的經度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865977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TotPop90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背景變數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1990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年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總人口數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656052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PctBach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應變數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中具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學士學位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的人口比例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156842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PctRural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中被定義為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rural population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的人口比例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621054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PctEld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 </a:t>
                      </a:r>
                      <a:r>
                        <a:rPr lang="en-US" altLang="zh-TW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65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歲以上人口比例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183123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PctFB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中非美國出生人口比例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844356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PctPov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中低於貧窮線人口比例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440065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PctBlack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黑人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人口比例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474209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識別變數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數值型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15945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空間座標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centroid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225209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空間座標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centroid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62504"/>
                  </a:ext>
                </a:extLst>
              </a:tr>
            </a:tbl>
          </a:graphicData>
        </a:graphic>
      </p:graphicFrame>
      <p:pic>
        <p:nvPicPr>
          <p:cNvPr id="32" name="圖片 31" descr="\documentclass{article}&#10;\usepackage{amsmath}&#10;\pagestyle{empty}&#10;\begin{document}&#10;\[&#10;\begin{aligned}&#10;PctBach_i&#10;&amp;= \beta_0(i) \\&#10;&amp;+ \beta_1(i)PctRural_i \\&#10;&amp;+ \beta_2(i)PctEld_i \\&#10;&amp;+ \beta_3(i)PctFB_i \\&#10;&amp;+ \beta_4(i)PctPov_i \\&#10;&amp;+ \beta_5(i)PctBlack_i \\&#10;&amp;+ \epsilon_i&#10;\end{aligned}&#10;\]&#10;\[&#10;\text{where i: ith point in the space.}&#10;\]&#10;\end{document}" title="IguanaTex Picture Display">
            <a:extLst>
              <a:ext uri="{FF2B5EF4-FFF2-40B4-BE49-F238E27FC236}">
                <a16:creationId xmlns:a16="http://schemas.microsoft.com/office/drawing/2014/main" id="{802441B4-E88B-699D-10D3-3D01FB36A1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98" y="3194911"/>
            <a:ext cx="3181467" cy="2764389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A86C31AB-B8A9-61D3-8AF2-B12D1D060180}"/>
              </a:ext>
            </a:extLst>
          </p:cNvPr>
          <p:cNvSpPr txBox="1"/>
          <p:nvPr/>
        </p:nvSpPr>
        <p:spPr>
          <a:xfrm>
            <a:off x="284441" y="2683824"/>
            <a:ext cx="3047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模型設定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F53213B-A7FB-B8F5-19F4-C6C3CC69B391}"/>
              </a:ext>
            </a:extLst>
          </p:cNvPr>
          <p:cNvSpPr txBox="1"/>
          <p:nvPr/>
        </p:nvSpPr>
        <p:spPr>
          <a:xfrm>
            <a:off x="8255184" y="5917029"/>
            <a:ext cx="3910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package ‘</a:t>
            </a:r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’ documentation pp.16-17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939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C40E2-50FE-365F-00D9-45FC12CC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4CC0E3E-6FC9-F6BE-9C03-FFD140EBFE1E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622523-F8CB-AD13-8111-0D9B7698EB0A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流程概述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6F7D3B4-012F-5C8C-966B-E31D417BF016}"/>
              </a:ext>
            </a:extLst>
          </p:cNvPr>
          <p:cNvSpPr txBox="1"/>
          <p:nvPr/>
        </p:nvSpPr>
        <p:spPr>
          <a:xfrm>
            <a:off x="4581526" y="4263197"/>
            <a:ext cx="1987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最佳近鄰數</a:t>
            </a:r>
            <a:endParaRPr lang="en-US" altLang="zh-TW" dirty="0">
              <a:solidFill>
                <a:srgbClr val="FF0000"/>
              </a:solidFill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algn="ctr"/>
            <a:r>
              <a:rPr lang="en-US" altLang="zh-TW" dirty="0" err="1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AICc</a:t>
            </a:r>
            <a:r>
              <a:rPr lang="en-US" altLang="zh-TW" dirty="0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,</a:t>
            </a:r>
            <a:r>
              <a:rPr lang="zh-TW" altLang="en-US" dirty="0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GCV: 136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CV: 140</a:t>
            </a:r>
            <a:endParaRPr lang="zh-TW" altLang="en-US" dirty="0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52CC466E-4184-7BFA-D281-899C04AF18A1}"/>
              </a:ext>
            </a:extLst>
          </p:cNvPr>
          <p:cNvSpPr/>
          <p:nvPr/>
        </p:nvSpPr>
        <p:spPr>
          <a:xfrm>
            <a:off x="930650" y="3182769"/>
            <a:ext cx="1722903" cy="1085850"/>
          </a:xfrm>
          <a:prstGeom prst="homePlate">
            <a:avLst>
              <a:gd name="adj" fmla="val 42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引入</a:t>
            </a:r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</a:p>
          <a:p>
            <a:pPr algn="ctr"/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Georgia</a:t>
            </a:r>
          </a:p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資料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6" name="箭號: 五邊形 5">
            <a:extLst>
              <a:ext uri="{FF2B5EF4-FFF2-40B4-BE49-F238E27FC236}">
                <a16:creationId xmlns:a16="http://schemas.microsoft.com/office/drawing/2014/main" id="{D2467ECC-F66E-F160-2B34-7B7D6A69BAAE}"/>
              </a:ext>
            </a:extLst>
          </p:cNvPr>
          <p:cNvSpPr/>
          <p:nvPr/>
        </p:nvSpPr>
        <p:spPr>
          <a:xfrm>
            <a:off x="2786344" y="3182769"/>
            <a:ext cx="1722903" cy="1085850"/>
          </a:xfrm>
          <a:prstGeom prst="homePlate">
            <a:avLst>
              <a:gd name="adj" fmla="val 42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變數選擇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8" name="箭號: 五邊形 7">
            <a:extLst>
              <a:ext uri="{FF2B5EF4-FFF2-40B4-BE49-F238E27FC236}">
                <a16:creationId xmlns:a16="http://schemas.microsoft.com/office/drawing/2014/main" id="{44D6FE55-7A77-E37B-7B67-CC1F667F2927}"/>
              </a:ext>
            </a:extLst>
          </p:cNvPr>
          <p:cNvSpPr/>
          <p:nvPr/>
        </p:nvSpPr>
        <p:spPr>
          <a:xfrm>
            <a:off x="4713756" y="3182769"/>
            <a:ext cx="1722903" cy="1085850"/>
          </a:xfrm>
          <a:prstGeom prst="homePlate">
            <a:avLst>
              <a:gd name="adj" fmla="val 42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bw.gwr</a:t>
            </a:r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()</a:t>
            </a:r>
          </a:p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帶寬選擇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2" name="箭號: 五邊形 1">
            <a:extLst>
              <a:ext uri="{FF2B5EF4-FFF2-40B4-BE49-F238E27FC236}">
                <a16:creationId xmlns:a16="http://schemas.microsoft.com/office/drawing/2014/main" id="{5B80516A-4CEC-CBBC-7ABA-5F27307B3785}"/>
              </a:ext>
            </a:extLst>
          </p:cNvPr>
          <p:cNvSpPr/>
          <p:nvPr/>
        </p:nvSpPr>
        <p:spPr>
          <a:xfrm>
            <a:off x="6568888" y="3182769"/>
            <a:ext cx="1722903" cy="1085850"/>
          </a:xfrm>
          <a:prstGeom prst="homePlate">
            <a:avLst>
              <a:gd name="adj" fmla="val 42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對 </a:t>
            </a:r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159</a:t>
            </a:r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 個迴歸點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配適模型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9" name="箭號: 五邊形 8">
            <a:extLst>
              <a:ext uri="{FF2B5EF4-FFF2-40B4-BE49-F238E27FC236}">
                <a16:creationId xmlns:a16="http://schemas.microsoft.com/office/drawing/2014/main" id="{C9173712-C3AF-5A93-859F-8A42FA7F57EA}"/>
              </a:ext>
            </a:extLst>
          </p:cNvPr>
          <p:cNvSpPr/>
          <p:nvPr/>
        </p:nvSpPr>
        <p:spPr>
          <a:xfrm>
            <a:off x="8424020" y="3177347"/>
            <a:ext cx="2665321" cy="1085850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Monte Carlo </a:t>
            </a:r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排列檢定、</a:t>
            </a:r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Leung F3 Test</a:t>
            </a:r>
          </a:p>
        </p:txBody>
      </p:sp>
    </p:spTree>
    <p:extLst>
      <p:ext uri="{BB962C8B-B14F-4D97-AF65-F5344CB8AC3E}">
        <p14:creationId xmlns:p14="http://schemas.microsoft.com/office/powerpoint/2010/main" val="4027056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DA5F9-0209-64EC-49F1-46F6BE55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42680F-2441-E785-C800-CEF61E698367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C0B31B-CFAF-33F1-3ACA-D631F0F6066B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使用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R Package “</a:t>
            </a:r>
            <a:r>
              <a:rPr lang="en-US" altLang="zh-TW" sz="2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”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B08E4E7-125B-15D2-DA0C-3E445C229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795237"/>
              </p:ext>
            </p:extLst>
          </p:nvPr>
        </p:nvGraphicFramePr>
        <p:xfrm>
          <a:off x="1053352" y="1335343"/>
          <a:ext cx="10085296" cy="4464414"/>
        </p:xfrm>
        <a:graphic>
          <a:graphicData uri="http://schemas.openxmlformats.org/drawingml/2006/table">
            <a:tbl>
              <a:tblPr/>
              <a:tblGrid>
                <a:gridCol w="1368624">
                  <a:extLst>
                    <a:ext uri="{9D8B030D-6E8A-4147-A177-3AD203B41FA5}">
                      <a16:colId xmlns:a16="http://schemas.microsoft.com/office/drawing/2014/main" val="3513716776"/>
                    </a:ext>
                  </a:extLst>
                </a:gridCol>
                <a:gridCol w="4168843">
                  <a:extLst>
                    <a:ext uri="{9D8B030D-6E8A-4147-A177-3AD203B41FA5}">
                      <a16:colId xmlns:a16="http://schemas.microsoft.com/office/drawing/2014/main" val="853074265"/>
                    </a:ext>
                  </a:extLst>
                </a:gridCol>
                <a:gridCol w="4547829">
                  <a:extLst>
                    <a:ext uri="{9D8B030D-6E8A-4147-A177-3AD203B41FA5}">
                      <a16:colId xmlns:a16="http://schemas.microsoft.com/office/drawing/2014/main" val="67012740"/>
                    </a:ext>
                  </a:extLst>
                </a:gridCol>
              </a:tblGrid>
              <a:tr h="316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參數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意義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報告設定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826347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formula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迴歸模型公式，指定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和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PctBach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~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PctRural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PctEld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PctFB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PctPov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PctBlack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139915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data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空間資料，須為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Spatial*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DataFrame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或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sf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物件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將套件原廠資料轉換為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SPDF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597776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approach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選擇方法，可用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CV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或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approach = "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"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126352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kernel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空間權重函數，決定距離如何轉成權重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kernel = "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bisquare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"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175538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 bandwidth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 = TRUE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71111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Minkowski distance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次方數，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 = 2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是歐式距離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 = 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622580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theta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是否旋轉座標系統，用於調整距離方向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theta = 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588577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longlat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是否使用經緯度大圓距離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657552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dMat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事先算好的距離矩陣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省略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(p=2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已自動計算距離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953139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parallel.method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是否使用平行運算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805280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parallel.arg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平行運算的細部設定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Null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33065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D15F6E59-5053-3BFB-98FD-D79A20933A75}"/>
              </a:ext>
            </a:extLst>
          </p:cNvPr>
          <p:cNvSpPr txBox="1"/>
          <p:nvPr/>
        </p:nvSpPr>
        <p:spPr>
          <a:xfrm>
            <a:off x="741827" y="966011"/>
            <a:ext cx="3946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bw.gwr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()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參數內容 </a:t>
            </a:r>
            <a:endParaRPr lang="zh-TW" altLang="en-US" sz="20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8006B37-2A4B-D082-9BEE-B72F06F20DF3}"/>
              </a:ext>
            </a:extLst>
          </p:cNvPr>
          <p:cNvSpPr txBox="1"/>
          <p:nvPr/>
        </p:nvSpPr>
        <p:spPr>
          <a:xfrm>
            <a:off x="8116421" y="5863355"/>
            <a:ext cx="3910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package ‘</a:t>
            </a:r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’ documentation p.10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EE81367-D3BC-19BE-02A9-2AE490267E6D}"/>
              </a:ext>
            </a:extLst>
          </p:cNvPr>
          <p:cNvSpPr txBox="1"/>
          <p:nvPr/>
        </p:nvSpPr>
        <p:spPr>
          <a:xfrm>
            <a:off x="939050" y="5894133"/>
            <a:ext cx="4753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輸出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 參數設定下最佳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bandwidth</a:t>
            </a:r>
            <a:endParaRPr lang="zh-TW" altLang="en-US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0737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C9F06-986A-14BA-CDAD-684B977E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26E35FC-5EC1-1694-570C-D9742F5F02CD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67CF3E-0669-258D-1587-5BAC3A7A2FD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使用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R Package “</a:t>
            </a:r>
            <a:r>
              <a:rPr lang="en-US" altLang="zh-TW" sz="2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”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F102A80-BD63-954B-5D9F-98F833B36048}"/>
              </a:ext>
            </a:extLst>
          </p:cNvPr>
          <p:cNvSpPr txBox="1"/>
          <p:nvPr/>
        </p:nvSpPr>
        <p:spPr>
          <a:xfrm>
            <a:off x="741826" y="825925"/>
            <a:ext cx="3023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gwr.basic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()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參數內容</a:t>
            </a:r>
            <a:endParaRPr lang="zh-TW" altLang="en-US" sz="20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8F0F5AA-0142-7043-17EC-84E835AB3925}"/>
              </a:ext>
            </a:extLst>
          </p:cNvPr>
          <p:cNvSpPr txBox="1"/>
          <p:nvPr/>
        </p:nvSpPr>
        <p:spPr>
          <a:xfrm>
            <a:off x="8250891" y="6157585"/>
            <a:ext cx="3797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package ‘</a:t>
            </a:r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’ documentation p.40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C6BCDF1-5853-9F3B-DAC9-FA3BBEAD0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086323"/>
              </p:ext>
            </p:extLst>
          </p:nvPr>
        </p:nvGraphicFramePr>
        <p:xfrm>
          <a:off x="1193831" y="1262911"/>
          <a:ext cx="10263062" cy="4894674"/>
        </p:xfrm>
        <a:graphic>
          <a:graphicData uri="http://schemas.openxmlformats.org/drawingml/2006/table">
            <a:tbl>
              <a:tblPr/>
              <a:tblGrid>
                <a:gridCol w="1432827">
                  <a:extLst>
                    <a:ext uri="{9D8B030D-6E8A-4147-A177-3AD203B41FA5}">
                      <a16:colId xmlns:a16="http://schemas.microsoft.com/office/drawing/2014/main" val="1215660565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2839160"/>
                    </a:ext>
                  </a:extLst>
                </a:gridCol>
                <a:gridCol w="4867835">
                  <a:extLst>
                    <a:ext uri="{9D8B030D-6E8A-4147-A177-3AD203B41FA5}">
                      <a16:colId xmlns:a16="http://schemas.microsoft.com/office/drawing/2014/main" val="1155646927"/>
                    </a:ext>
                  </a:extLst>
                </a:gridCol>
              </a:tblGrid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參數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意義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報告設定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470424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formula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迴歸模型公式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PctBach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~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PctRural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PctEld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PctFB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PctPov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PctBlack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107393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data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空間資料，須為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Spatial*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DataFrame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或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sf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物件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educ.spdf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613446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regression.points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指定在哪些位置估計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local coefficients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40*40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網格點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410476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</a:t>
                      </a:r>
                      <a:endParaRPr lang="zh-TW" alt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bw.gwr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選定之最佳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7576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kernel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空間權重函數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"bisquare"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023027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 bandwidth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TRUE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982318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Minkowski distance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的次方，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 = 2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是歐式距離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altLang="zh-TW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sz="14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137218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theta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是否旋轉座標系統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altLang="zh-TW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14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85158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longlat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是否使用經緯度大圓距離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023477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dMat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事先算好的距離矩陣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省略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388055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F123.test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是否進行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Leung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三個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F-tests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590669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cv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是否計算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cross-validation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結果並放入輸出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162473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W.vect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額外給定觀測值權重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NULL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581189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print() method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用，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gwr.basic()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回傳的物件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不需自己設定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8837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parallel.method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是否用平行運算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21992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parallel.arg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平行運算的細部設定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NULL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0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226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586D2-C368-D2F0-D365-1DCC11A0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F8C0C8-84C1-40CD-360B-EE31B7A9CF84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D31879-CA96-01E4-70D2-1FF71967ED7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使用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R Package “</a:t>
            </a:r>
            <a:r>
              <a:rPr lang="en-US" altLang="zh-TW" sz="2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”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FB483B1-1C52-D533-5685-89C3CF16CFE8}"/>
              </a:ext>
            </a:extLst>
          </p:cNvPr>
          <p:cNvSpPr txBox="1"/>
          <p:nvPr/>
        </p:nvSpPr>
        <p:spPr>
          <a:xfrm>
            <a:off x="1405215" y="1397983"/>
            <a:ext cx="3023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gwr.basic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()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回傳內容</a:t>
            </a:r>
            <a:endParaRPr lang="zh-TW" altLang="en-US" sz="20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8088EE7-321C-197A-D49F-1C8A3223D8B7}"/>
              </a:ext>
            </a:extLst>
          </p:cNvPr>
          <p:cNvSpPr txBox="1"/>
          <p:nvPr/>
        </p:nvSpPr>
        <p:spPr>
          <a:xfrm>
            <a:off x="6735856" y="5540188"/>
            <a:ext cx="3797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package ‘</a:t>
            </a:r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’ documentation p.40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900EB47-CF1A-0BB8-392D-277741D5F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978920"/>
              </p:ext>
            </p:extLst>
          </p:nvPr>
        </p:nvGraphicFramePr>
        <p:xfrm>
          <a:off x="1990165" y="1859714"/>
          <a:ext cx="8211671" cy="3680474"/>
        </p:xfrm>
        <a:graphic>
          <a:graphicData uri="http://schemas.openxmlformats.org/drawingml/2006/table">
            <a:tbl>
              <a:tblPr/>
              <a:tblGrid>
                <a:gridCol w="1568856">
                  <a:extLst>
                    <a:ext uri="{9D8B030D-6E8A-4147-A177-3AD203B41FA5}">
                      <a16:colId xmlns:a16="http://schemas.microsoft.com/office/drawing/2014/main" val="3775910832"/>
                    </a:ext>
                  </a:extLst>
                </a:gridCol>
                <a:gridCol w="5381772">
                  <a:extLst>
                    <a:ext uri="{9D8B030D-6E8A-4147-A177-3AD203B41FA5}">
                      <a16:colId xmlns:a16="http://schemas.microsoft.com/office/drawing/2014/main" val="3609686065"/>
                    </a:ext>
                  </a:extLst>
                </a:gridCol>
                <a:gridCol w="1261043">
                  <a:extLst>
                    <a:ext uri="{9D8B030D-6E8A-4147-A177-3AD203B41FA5}">
                      <a16:colId xmlns:a16="http://schemas.microsoft.com/office/drawing/2014/main" val="4043273732"/>
                    </a:ext>
                  </a:extLst>
                </a:gridCol>
              </a:tblGrid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回傳項目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意義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報告設定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086268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GW.arguments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儲存 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GWR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模型參數設定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V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506065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GW.diagnostic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模型診斷結果，如 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RSS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R²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V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576205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lm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對應的 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global linear regression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結果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V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581906"/>
                  </a:ext>
                </a:extLst>
              </a:tr>
              <a:tr h="5594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SDF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最重要的輸出，包含每個地點的 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local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coefficients、yhat、residual、standard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errors、t-values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等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V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317284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timings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模型開始與結束時間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5338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this.call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當初執行的 </a:t>
                      </a: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function call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5076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Ftest.res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若 </a:t>
                      </a: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F123.test = TRUE，</a:t>
                      </a:r>
                      <a:r>
                        <a:rPr lang="zh-TW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這裡會存 </a:t>
                      </a: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Leung’s F-tests </a:t>
                      </a:r>
                      <a:r>
                        <a:rPr lang="zh-TW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結果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230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102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EC02-40F4-89F9-03D9-1FD8B10F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1D9C073-7412-5CFC-54FF-C1F47EFD7504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EF63F5-DD94-3B5F-C3B3-98052800AD4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手刻程式碼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1FF3621-EEC7-A476-C352-772300A8C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018781"/>
              </p:ext>
            </p:extLst>
          </p:nvPr>
        </p:nvGraphicFramePr>
        <p:xfrm>
          <a:off x="1496731" y="1512382"/>
          <a:ext cx="8597527" cy="2479530"/>
        </p:xfrm>
        <a:graphic>
          <a:graphicData uri="http://schemas.openxmlformats.org/drawingml/2006/table">
            <a:tbl>
              <a:tblPr/>
              <a:tblGrid>
                <a:gridCol w="2740141">
                  <a:extLst>
                    <a:ext uri="{9D8B030D-6E8A-4147-A177-3AD203B41FA5}">
                      <a16:colId xmlns:a16="http://schemas.microsoft.com/office/drawing/2014/main" val="1007014284"/>
                    </a:ext>
                  </a:extLst>
                </a:gridCol>
                <a:gridCol w="2065315">
                  <a:extLst>
                    <a:ext uri="{9D8B030D-6E8A-4147-A177-3AD203B41FA5}">
                      <a16:colId xmlns:a16="http://schemas.microsoft.com/office/drawing/2014/main" val="775260463"/>
                    </a:ext>
                  </a:extLst>
                </a:gridCol>
                <a:gridCol w="3792071">
                  <a:extLst>
                    <a:ext uri="{9D8B030D-6E8A-4147-A177-3AD203B41FA5}">
                      <a16:colId xmlns:a16="http://schemas.microsoft.com/office/drawing/2014/main" val="4101170215"/>
                    </a:ext>
                  </a:extLst>
                </a:gridCol>
              </a:tblGrid>
              <a:tr h="31745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函數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參數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輸出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54633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grid()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nrow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, y,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ncol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nrow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*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ncol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網格點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71412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cal_distance_matrix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grid,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obs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所有迴歸點至所有觀測點之距離矩陣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78832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bisquare_adaptive_weight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各觀測點之於單一迴歸點之權重向量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20167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local_lwr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y, 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單一迴歸點之係數解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421451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gwr_grid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y, obs, grid, bw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所有迴歸點之係數解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707380"/>
                  </a:ext>
                </a:extLst>
              </a:tr>
            </a:tbl>
          </a:graphicData>
        </a:graphic>
      </p:graphicFrame>
      <p:sp>
        <p:nvSpPr>
          <p:cNvPr id="7" name="左中括弧 6">
            <a:extLst>
              <a:ext uri="{FF2B5EF4-FFF2-40B4-BE49-F238E27FC236}">
                <a16:creationId xmlns:a16="http://schemas.microsoft.com/office/drawing/2014/main" id="{4181F5C5-22AF-572B-4EE0-B2179FB9EDA2}"/>
              </a:ext>
            </a:extLst>
          </p:cNvPr>
          <p:cNvSpPr/>
          <p:nvPr/>
        </p:nvSpPr>
        <p:spPr>
          <a:xfrm>
            <a:off x="1272988" y="2236676"/>
            <a:ext cx="98612" cy="1290918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左中括弧 13">
            <a:extLst>
              <a:ext uri="{FF2B5EF4-FFF2-40B4-BE49-F238E27FC236}">
                <a16:creationId xmlns:a16="http://schemas.microsoft.com/office/drawing/2014/main" id="{AC1A6489-BAF3-FBAF-38BA-965D7EA9082B}"/>
              </a:ext>
            </a:extLst>
          </p:cNvPr>
          <p:cNvSpPr/>
          <p:nvPr/>
        </p:nvSpPr>
        <p:spPr>
          <a:xfrm rot="10800000">
            <a:off x="10219389" y="2752147"/>
            <a:ext cx="103094" cy="811421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DCB316E-1A6E-08C2-5080-E31304ECCFFF}"/>
              </a:ext>
            </a:extLst>
          </p:cNvPr>
          <p:cNvSpPr txBox="1"/>
          <p:nvPr/>
        </p:nvSpPr>
        <p:spPr>
          <a:xfrm>
            <a:off x="10322483" y="2843009"/>
            <a:ext cx="1462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rgbClr val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迴圈次數 </a:t>
            </a:r>
            <a:r>
              <a:rPr lang="en-US" altLang="zh-TW" sz="1400" dirty="0">
                <a:solidFill>
                  <a:srgbClr val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=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迴歸點個數</a:t>
            </a:r>
            <a:endParaRPr lang="zh-TW" altLang="en-US" sz="14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F6551-14A4-DD7F-FD60-9F8FB00C7DD0}"/>
              </a:ext>
            </a:extLst>
          </p:cNvPr>
          <p:cNvSpPr txBox="1"/>
          <p:nvPr/>
        </p:nvSpPr>
        <p:spPr>
          <a:xfrm>
            <a:off x="1138518" y="1016343"/>
            <a:ext cx="6127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基本估計函數設計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endParaRPr lang="zh-TW" altLang="en-US" sz="2000" b="1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069DB25-7D6C-9B2D-FCA5-848217304F82}"/>
              </a:ext>
            </a:extLst>
          </p:cNvPr>
          <p:cNvSpPr/>
          <p:nvPr/>
        </p:nvSpPr>
        <p:spPr>
          <a:xfrm>
            <a:off x="4202206" y="3527594"/>
            <a:ext cx="2144806" cy="5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68DD2E0-A917-84D3-97FE-3215B74060CE}"/>
              </a:ext>
            </a:extLst>
          </p:cNvPr>
          <p:cNvSpPr txBox="1"/>
          <p:nvPr/>
        </p:nvSpPr>
        <p:spPr>
          <a:xfrm>
            <a:off x="5535705" y="4087841"/>
            <a:ext cx="161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初始全域變數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DB4E75-897A-E364-66C1-72F9FF53D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37355"/>
              </p:ext>
            </p:extLst>
          </p:nvPr>
        </p:nvGraphicFramePr>
        <p:xfrm>
          <a:off x="1496731" y="4882505"/>
          <a:ext cx="8597527" cy="1330627"/>
        </p:xfrm>
        <a:graphic>
          <a:graphicData uri="http://schemas.openxmlformats.org/drawingml/2006/table">
            <a:tbl>
              <a:tblPr/>
              <a:tblGrid>
                <a:gridCol w="2564281">
                  <a:extLst>
                    <a:ext uri="{9D8B030D-6E8A-4147-A177-3AD203B41FA5}">
                      <a16:colId xmlns:a16="http://schemas.microsoft.com/office/drawing/2014/main" val="1007014284"/>
                    </a:ext>
                  </a:extLst>
                </a:gridCol>
                <a:gridCol w="2456329">
                  <a:extLst>
                    <a:ext uri="{9D8B030D-6E8A-4147-A177-3AD203B41FA5}">
                      <a16:colId xmlns:a16="http://schemas.microsoft.com/office/drawing/2014/main" val="775260463"/>
                    </a:ext>
                  </a:extLst>
                </a:gridCol>
                <a:gridCol w="3576917">
                  <a:extLst>
                    <a:ext uri="{9D8B030D-6E8A-4147-A177-3AD203B41FA5}">
                      <a16:colId xmlns:a16="http://schemas.microsoft.com/office/drawing/2014/main" val="4101170215"/>
                    </a:ext>
                  </a:extLst>
                </a:gridCol>
              </a:tblGrid>
              <a:tr h="3392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函數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參數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輸出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54633"/>
                  </a:ext>
                </a:extLst>
              </a:tr>
              <a:tr h="4620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calc_gwr_aicc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y,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obs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bandwidth=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下之 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71412"/>
                  </a:ext>
                </a:extLst>
              </a:tr>
              <a:tr h="5292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select_bw_aicc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y,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obs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bw_canditates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AutoNum type="arabicPeriod"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所有候選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bandwidths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之 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endParaRPr lang="en-US" altLang="zh-TW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  <a:p>
                      <a:pPr marL="342900" indent="-342900" algn="l" fontAlgn="b">
                        <a:buAutoNum type="arabicPeriod"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最佳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 (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最小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78832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A224857E-DE3A-B3EF-7D25-9F9A1AA6E5A8}"/>
              </a:ext>
            </a:extLst>
          </p:cNvPr>
          <p:cNvSpPr txBox="1"/>
          <p:nvPr/>
        </p:nvSpPr>
        <p:spPr>
          <a:xfrm>
            <a:off x="1138518" y="4386467"/>
            <a:ext cx="6127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選擇最佳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bandwidth (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最小</a:t>
            </a:r>
            <a:r>
              <a:rPr lang="en-US" altLang="zh-TW" sz="2000" b="1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AICc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):</a:t>
            </a:r>
            <a:endParaRPr lang="zh-TW" altLang="en-US" sz="20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7EAE03-3700-CA61-7D7A-45F99F62B172}"/>
              </a:ext>
            </a:extLst>
          </p:cNvPr>
          <p:cNvSpPr txBox="1"/>
          <p:nvPr/>
        </p:nvSpPr>
        <p:spPr>
          <a:xfrm>
            <a:off x="10473017" y="5509687"/>
            <a:ext cx="1048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loop</a:t>
            </a:r>
            <a:endParaRPr lang="zh-TW" altLang="en-US" sz="1600" dirty="0"/>
          </a:p>
        </p:txBody>
      </p:sp>
      <p:sp>
        <p:nvSpPr>
          <p:cNvPr id="13" name="箭號: 弧形左彎 12">
            <a:extLst>
              <a:ext uri="{FF2B5EF4-FFF2-40B4-BE49-F238E27FC236}">
                <a16:creationId xmlns:a16="http://schemas.microsoft.com/office/drawing/2014/main" id="{7F4B4595-A9E2-FBCC-5058-E5A27B5D15F6}"/>
              </a:ext>
            </a:extLst>
          </p:cNvPr>
          <p:cNvSpPr/>
          <p:nvPr/>
        </p:nvSpPr>
        <p:spPr>
          <a:xfrm>
            <a:off x="10171949" y="5438211"/>
            <a:ext cx="301068" cy="560178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箭號: 弧形左彎 14">
            <a:extLst>
              <a:ext uri="{FF2B5EF4-FFF2-40B4-BE49-F238E27FC236}">
                <a16:creationId xmlns:a16="http://schemas.microsoft.com/office/drawing/2014/main" id="{2430C41B-97D5-3EB0-E9D3-F71D8514829A}"/>
              </a:ext>
            </a:extLst>
          </p:cNvPr>
          <p:cNvSpPr/>
          <p:nvPr/>
        </p:nvSpPr>
        <p:spPr>
          <a:xfrm flipH="1">
            <a:off x="888999" y="2864205"/>
            <a:ext cx="383988" cy="983212"/>
          </a:xfrm>
          <a:prstGeom prst="curvedLeftArrow">
            <a:avLst>
              <a:gd name="adj1" fmla="val 25000"/>
              <a:gd name="adj2" fmla="val 50000"/>
              <a:gd name="adj3" fmla="val 2733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39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C35D7-DA38-C69B-34C1-712C2EBE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A53126E-0931-7768-4D37-129735F778D3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543593-E412-C811-9957-4B295FE43AC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套件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vs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手刻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0E7CAD9-0829-065C-E752-C17CC651F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671244"/>
              </p:ext>
            </p:extLst>
          </p:nvPr>
        </p:nvGraphicFramePr>
        <p:xfrm>
          <a:off x="1882214" y="2848123"/>
          <a:ext cx="8597527" cy="1614700"/>
        </p:xfrm>
        <a:graphic>
          <a:graphicData uri="http://schemas.openxmlformats.org/drawingml/2006/table">
            <a:tbl>
              <a:tblPr/>
              <a:tblGrid>
                <a:gridCol w="2740141">
                  <a:extLst>
                    <a:ext uri="{9D8B030D-6E8A-4147-A177-3AD203B41FA5}">
                      <a16:colId xmlns:a16="http://schemas.microsoft.com/office/drawing/2014/main" val="1007014284"/>
                    </a:ext>
                  </a:extLst>
                </a:gridCol>
                <a:gridCol w="2065315">
                  <a:extLst>
                    <a:ext uri="{9D8B030D-6E8A-4147-A177-3AD203B41FA5}">
                      <a16:colId xmlns:a16="http://schemas.microsoft.com/office/drawing/2014/main" val="775260463"/>
                    </a:ext>
                  </a:extLst>
                </a:gridCol>
                <a:gridCol w="3792071">
                  <a:extLst>
                    <a:ext uri="{9D8B030D-6E8A-4147-A177-3AD203B41FA5}">
                      <a16:colId xmlns:a16="http://schemas.microsoft.com/office/drawing/2014/main" val="4101170215"/>
                    </a:ext>
                  </a:extLst>
                </a:gridCol>
              </a:tblGrid>
              <a:tr h="31745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項目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GWmodel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手刻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54633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選擇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136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136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78832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最小 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850.8465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850.8465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20167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係數估計差距最大值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2.334e-12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421451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6745B402-224D-65F6-954D-54D6C3A7252A}"/>
              </a:ext>
            </a:extLst>
          </p:cNvPr>
          <p:cNvSpPr txBox="1"/>
          <p:nvPr/>
        </p:nvSpPr>
        <p:spPr>
          <a:xfrm>
            <a:off x="1524001" y="2352084"/>
            <a:ext cx="6127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套件與手刻結果比較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3952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E60D3-B463-935A-4A38-6C5C5F643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A4E1C29-1BF1-17A0-6ACC-BD173070870F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511EB6-98AB-8389-ACC3-BD8C3CC5DB60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視覺化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(40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*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40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網格迴歸點版本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CA4B0A8-EA97-E956-EBFA-94A525271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683" y="956857"/>
            <a:ext cx="6777317" cy="482749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88255FA-D1F5-A4B4-B4C0-CED96C77CE2F}"/>
              </a:ext>
            </a:extLst>
          </p:cNvPr>
          <p:cNvSpPr txBox="1"/>
          <p:nvPr/>
        </p:nvSpPr>
        <p:spPr>
          <a:xfrm>
            <a:off x="349625" y="2305615"/>
            <a:ext cx="50650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係數估計位置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40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*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40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迴歸點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顏色意義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各迴歸點估計值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州界外處理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NA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遮罩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結果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各個變數均有一定程度之空間差異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(e.g.) 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PctBlack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在西南部係數較高，代表其在該區域正向關係較強。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6C23CBE-F195-80A1-623B-AFAC3222BCFD}"/>
              </a:ext>
            </a:extLst>
          </p:cNvPr>
          <p:cNvSpPr txBox="1"/>
          <p:nvPr/>
        </p:nvSpPr>
        <p:spPr>
          <a:xfrm>
            <a:off x="5687909" y="5784352"/>
            <a:ext cx="6104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顏色設定 </a:t>
            </a:r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100</a:t>
            </a:r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種，將預測值值域切成 </a:t>
            </a:r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100</a:t>
            </a:r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個區間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2434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2FF9F-DF64-F181-5388-C4893387E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7DB7989-A7C8-ADDE-DAA9-24DF9422A2B6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F51722-0E8B-CEC4-1938-0BE35EBA6A8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視覺化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(40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*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40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網格迴歸點版本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3829C65-64D5-DC1C-2C27-521CFA128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288" y="1113358"/>
            <a:ext cx="6652207" cy="463128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F0D6197-D0F4-7059-C19E-74CA1175D588}"/>
              </a:ext>
            </a:extLst>
          </p:cNvPr>
          <p:cNvSpPr txBox="1"/>
          <p:nvPr/>
        </p:nvSpPr>
        <p:spPr>
          <a:xfrm>
            <a:off x="125505" y="968992"/>
            <a:ext cx="670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R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內建參數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image():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須建立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XY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矩形網格座標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83D3EFE-457D-8DEC-D674-E0FFC11EB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955981"/>
              </p:ext>
            </p:extLst>
          </p:nvPr>
        </p:nvGraphicFramePr>
        <p:xfrm>
          <a:off x="519953" y="1458334"/>
          <a:ext cx="4296338" cy="2811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169">
                  <a:extLst>
                    <a:ext uri="{9D8B030D-6E8A-4147-A177-3AD203B41FA5}">
                      <a16:colId xmlns:a16="http://schemas.microsoft.com/office/drawing/2014/main" val="1342119825"/>
                    </a:ext>
                  </a:extLst>
                </a:gridCol>
                <a:gridCol w="2148169">
                  <a:extLst>
                    <a:ext uri="{9D8B030D-6E8A-4147-A177-3AD203B41FA5}">
                      <a16:colId xmlns:a16="http://schemas.microsoft.com/office/drawing/2014/main" val="427253541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u="none" strike="noStrike" baseline="0" dirty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主要參數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說明</a:t>
                      </a:r>
                      <a:endParaRPr lang="zh-TW" alt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876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  <a:endParaRPr 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 dirty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 </a:t>
                      </a:r>
                      <a:r>
                        <a:rPr lang="zh-TW" altLang="en-US" sz="2000" u="none" strike="noStrike" baseline="0" dirty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座標範圍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6520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</a:t>
                      </a:r>
                      <a:endParaRPr 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 dirty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 </a:t>
                      </a:r>
                      <a:r>
                        <a:rPr lang="zh-TW" altLang="en-US" sz="2000" u="none" strike="noStrike" baseline="0" dirty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座標範圍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19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z</a:t>
                      </a:r>
                      <a:endParaRPr 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座標值</a:t>
                      </a:r>
                      <a:endParaRPr lang="zh-TW" alt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1391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col</a:t>
                      </a:r>
                      <a:endParaRPr 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u="none" strike="noStrike" baseline="0" dirty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顏色種類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2343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breaks</a:t>
                      </a:r>
                      <a:endParaRPr 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區間</a:t>
                      </a:r>
                      <a:endParaRPr lang="zh-TW" alt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3736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xlab</a:t>
                      </a:r>
                      <a:endParaRPr 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  <a:r>
                        <a:rPr lang="zh-TW" alt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軸名稱</a:t>
                      </a:r>
                      <a:endParaRPr lang="zh-TW" alt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5810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ylab</a:t>
                      </a:r>
                      <a:endParaRPr 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</a:t>
                      </a:r>
                      <a:r>
                        <a:rPr lang="zh-TW" alt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軸名稱</a:t>
                      </a:r>
                      <a:endParaRPr lang="zh-TW" alt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731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baseline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main</a:t>
                      </a:r>
                      <a:endParaRPr lang="en-US" sz="20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u="none" strike="noStrike" baseline="0" dirty="0"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大標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377009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0831BFAD-BA18-5150-CC3D-0F10BF0F4B1E}"/>
              </a:ext>
            </a:extLst>
          </p:cNvPr>
          <p:cNvSpPr txBox="1"/>
          <p:nvPr/>
        </p:nvSpPr>
        <p:spPr>
          <a:xfrm>
            <a:off x="224117" y="4334415"/>
            <a:ext cx="5038167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R</a:t>
            </a:r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document</a:t>
            </a:r>
          </a:p>
          <a:p>
            <a:r>
              <a:rPr lang="en-US" altLang="zh-TW" sz="105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  <a:hlinkClick r:id="rId3"/>
              </a:rPr>
              <a:t>https://www.rdocumentation.org/packages/graphics/versions/3.6.2/topics/image</a:t>
            </a:r>
            <a:endParaRPr lang="en-US" altLang="zh-TW" sz="105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6A7EDE9-AF0C-DD42-545E-97F24C722FB2}"/>
              </a:ext>
            </a:extLst>
          </p:cNvPr>
          <p:cNvSpPr txBox="1"/>
          <p:nvPr/>
        </p:nvSpPr>
        <p:spPr>
          <a:xfrm>
            <a:off x="5687909" y="5784352"/>
            <a:ext cx="6104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顏色設定 </a:t>
            </a:r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6</a:t>
            </a:r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種，將預測值值域切成 </a:t>
            </a:r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6</a:t>
            </a:r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個區間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08228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314A0-6F70-1F35-9CB9-D8E9A1A6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D1AA57-4406-B948-8DF7-8E81067B1F15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F8E4E4-60DC-F033-FDC6-4A733FDC9441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檢驗參數非平穩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Monte Carlo Permutation Test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pic>
        <p:nvPicPr>
          <p:cNvPr id="516" name="圖片 515" descr="\documentclass{article}&#10;\usepackage{amsmath}&#10;\pagestyle{empty}&#10;\begin{document}&#10;\begin{itemize}&#10;    \item \mbox{Test method: Monte Carlo permutation test}&#10;&#10;    \item \mbox{$H_0$: Spatial stationarity&#10;    $\left(\beta_{ij}=\beta_j,\ \forall i\right)$&#10;    vs. $H_1$: Spatial nonstationarity&#10;    $\left(\beta_{ij}\text{ are not all equal}\right)$}&#10;&#10;    \item \mbox{Test statistic: the standard deviation $s_k$ of all local coefficients for a variable,}\\ where the $k$th coefficient measures spatial variation.&#10;&#10;    \begin{itemize}&#10;        \item \mbox{Small $s_k$: little variation across locations.}&#10;        \item \mbox{Large $s_k$: substantial variation across locations.}&#10;    \end{itemize}&#10;&#10;    \item \mbox{Limitation: GWR must be rerun for every permutation, which is computationally expensive.}&#10;    &#10;    \mbox{Possible solutions are reducing the number of simulations or using representative subsamples.}&#10;\end{itemize}&#10;&#10;&#10;&#10;&#10;&#10;\end{document}" title="IguanaTex Picture Display">
            <a:extLst>
              <a:ext uri="{FF2B5EF4-FFF2-40B4-BE49-F238E27FC236}">
                <a16:creationId xmlns:a16="http://schemas.microsoft.com/office/drawing/2014/main" id="{7ADD1F87-5C31-4D1D-6378-3F2ED02D92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43" y="1650572"/>
            <a:ext cx="10845599" cy="355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08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A448-07C4-F34F-19E0-3161D1607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9E1791D-9513-DA30-E953-906967E97682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655E47-8BAB-5A29-35EB-AED52D0E3F0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檢驗參數非平穩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Monte Carlo Permutation Test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ED24B1-E0CA-7C37-C8FC-AEDCFB521719}"/>
              </a:ext>
            </a:extLst>
          </p:cNvPr>
          <p:cNvSpPr txBox="1"/>
          <p:nvPr/>
        </p:nvSpPr>
        <p:spPr>
          <a:xfrm>
            <a:off x="300754" y="3980965"/>
            <a:ext cx="55920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endParaRPr lang="zh-TW" altLang="en-US" sz="16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0F96054-0EDC-8EA0-D9B9-E776A46B3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73" y="2578617"/>
            <a:ext cx="5365792" cy="14023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B53EB8F-A0C4-4F37-CE20-0D0724DB5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205" y="745125"/>
            <a:ext cx="5972041" cy="558557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7A61C8B9-55B4-2217-0215-8CAE836E4A62}"/>
              </a:ext>
            </a:extLst>
          </p:cNvPr>
          <p:cNvSpPr txBox="1"/>
          <p:nvPr/>
        </p:nvSpPr>
        <p:spPr>
          <a:xfrm>
            <a:off x="6200603" y="6257725"/>
            <a:ext cx="55920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手刻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78214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E17D4-EC3C-EE2D-3F74-ECE458C0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0585BB1-DFDD-F140-63B0-0D9D46A61A4B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BB5D3C-6624-3302-3FCC-A49E57BB02A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檢驗參數非平穩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Monte Carlo Permutation Test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C47097B-3943-D3AC-7BA4-AA4E68733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60769"/>
              </p:ext>
            </p:extLst>
          </p:nvPr>
        </p:nvGraphicFramePr>
        <p:xfrm>
          <a:off x="1797237" y="1973028"/>
          <a:ext cx="8597526" cy="2911945"/>
        </p:xfrm>
        <a:graphic>
          <a:graphicData uri="http://schemas.openxmlformats.org/drawingml/2006/table">
            <a:tbl>
              <a:tblPr/>
              <a:tblGrid>
                <a:gridCol w="2865842">
                  <a:extLst>
                    <a:ext uri="{9D8B030D-6E8A-4147-A177-3AD203B41FA5}">
                      <a16:colId xmlns:a16="http://schemas.microsoft.com/office/drawing/2014/main" val="1007014284"/>
                    </a:ext>
                  </a:extLst>
                </a:gridCol>
                <a:gridCol w="2865842">
                  <a:extLst>
                    <a:ext uri="{9D8B030D-6E8A-4147-A177-3AD203B41FA5}">
                      <a16:colId xmlns:a16="http://schemas.microsoft.com/office/drawing/2014/main" val="775260463"/>
                    </a:ext>
                  </a:extLst>
                </a:gridCol>
                <a:gridCol w="2865842">
                  <a:extLst>
                    <a:ext uri="{9D8B030D-6E8A-4147-A177-3AD203B41FA5}">
                      <a16:colId xmlns:a16="http://schemas.microsoft.com/office/drawing/2014/main" val="4101170215"/>
                    </a:ext>
                  </a:extLst>
                </a:gridCol>
              </a:tblGrid>
              <a:tr h="31745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係數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p-value(</a:t>
                      </a:r>
                      <a:r>
                        <a:rPr lang="en-US" altLang="zh-TW" sz="2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GWmodel</a:t>
                      </a: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p-value(</a:t>
                      </a:r>
                      <a:r>
                        <a:rPr lang="zh-TW" alt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手刻</a:t>
                      </a: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54633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Intercept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0.375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0.379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78832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PctRural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0.331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0.324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20167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PctEld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0.640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245738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PctFB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0.004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422624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PctPov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0.414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0.433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875448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PctBlack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0.034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0.030</a:t>
                      </a:r>
                      <a:endParaRPr lang="zh-TW" altLang="en-US" sz="20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7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127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CDC96-E64F-5DBB-39C9-7CD920FD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7C82F5C-0A91-6161-5A70-1CAC4F55A76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640C7-8FE0-8A47-C08B-C4C40FE83E55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檢驗參數非平穩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F-test by Leung et al.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（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2000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）</a:t>
            </a:r>
          </a:p>
        </p:txBody>
      </p:sp>
      <p:pic>
        <p:nvPicPr>
          <p:cNvPr id="32" name="圖片 31" descr="\documentclass{article}&#10;\usepackage{amsmath}&#10;\pagestyle{empty}&#10;\begin{document}&#10;&#10;\[&#10;\widehat{\mathbf{y}}=\mathbf{L}\mathbf{y},&#10;\qquad&#10;\widehat{\boldsymbol{\varepsilon}}&#10;=&#10;\mathbf{y}-\widehat{\mathbf{y}}&#10;=&#10;(\mathbf{I}-\mathbf{L})\mathbf{y},&#10;\]&#10;&#10;where&#10;&#10;\[&#10;\mathbf{L}&#10;=&#10;\begin{bmatrix}&#10;\mathbf{x}_1^{\mathsf T}&#10;\left(\mathbf{X}^{\mathsf T}\mathbf{W}(1)\mathbf{X}\right)^{-1}&#10;\mathbf{X}^{\mathsf T}\mathbf{W}(1)&#10;\\[2mm]&#10;\mathbf{x}_2^{\mathsf T}&#10;\left(\mathbf{X}^{\mathsf T}\mathbf{W}(2)\mathbf{X}\right)^{-1}&#10;\mathbf{X}^{\mathsf T}\mathbf{W}(2)&#10;\\&#10;\vdots&#10;\\&#10;\mathbf{x}_n^{\mathsf T}&#10;\left(\mathbf{X}^{\mathsf T}\mathbf{W}(n)\mathbf{X}\right)^{-1}&#10;\mathbf{X}^{\mathsf T}\mathbf{W}(n)&#10;\end{bmatrix}.&#10;\]&#10;&#10;\[&#10;RSS_g&#10;=&#10;\widehat{\boldsymbol{\varepsilon}}^{\mathsf T}&#10;\widehat{\boldsymbol{\varepsilon}}&#10;=&#10;\mathbf{y}^{\mathsf T}&#10;(\mathbf{I}-\mathbf{L})^{\mathsf T}&#10;(\mathbf{I}-\mathbf{L})&#10;\mathbf{y}.&#10;\]&#10;&#10;\[&#10;\delta_i&#10;=&#10;\operatorname{tr}&#10;\left\{&#10;\left[&#10;(\mathbf{I}-\mathbf{L})^{\mathsf T}&#10;(\mathbf{I}-\mathbf{L})&#10;\right]^i&#10;\right\},&#10;\qquad i=1,2,&#10;\]&#10;&#10;\[&#10;\widehat{\sigma}^{2}&#10;=&#10;\frac{RSS_g}{\delta_1}.&#10;\]&#10;&#10;&#10;\end{document}" title="IguanaTex Picture Display">
            <a:extLst>
              <a:ext uri="{FF2B5EF4-FFF2-40B4-BE49-F238E27FC236}">
                <a16:creationId xmlns:a16="http://schemas.microsoft.com/office/drawing/2014/main" id="{6B61E72D-064D-337A-DF39-4B5D36303F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04" y="1576428"/>
            <a:ext cx="4715428" cy="3705143"/>
          </a:xfrm>
          <a:prstGeom prst="rect">
            <a:avLst/>
          </a:prstGeom>
        </p:spPr>
      </p:pic>
      <p:pic>
        <p:nvPicPr>
          <p:cNvPr id="30" name="圖片 29" descr="\documentclass{article}&#10;\usepackage{amsmath}&#10;\pagestyle{empty}&#10;\begin{document}&#10;&#10;\[&#10;V_k^2&#10;=&#10;\frac{1}{n}&#10;\sum_{i=1}^{n}&#10;\left(&#10;\widehat{\beta}_{ik}&#10;-&#10;\frac{1}{n}\sum_{j=1}^{n}\widehat{\beta}_{jk}&#10;\right)^2.&#10;\]&#10;&#10;Equivalently,&#10;&#10;\[&#10;V_k^2&#10;=&#10;\frac{1}{n}&#10;\widehat{\boldsymbol{\beta}}_k^{\mathsf T}&#10;\left(&#10;\mathbf{I}-\frac{1}{n}\mathbf{J}&#10;\right)&#10;\widehat{\boldsymbol{\beta}}_k,&#10;\]&#10;&#10;where \(\mathbf{J}\) is an \(n\times n\) matrix whose elements are all equal to one.&#10;&#10;\[&#10;\gamma_i&#10;=&#10;\operatorname{tr}&#10;\left\{&#10;\left[&#10;\frac{1}{n}&#10;\mathbf{B}_k^{\mathsf T}&#10;\left(&#10;\mathbf{I}-\frac{1}{n}\mathbf{J}&#10;\right)&#10;\mathbf{B}_k&#10;\right]^i&#10;\right\},&#10;\qquad i=1,2.&#10;\]&#10;&#10;&#10;\end{document}" title="IguanaTex Picture Display">
            <a:extLst>
              <a:ext uri="{FF2B5EF4-FFF2-40B4-BE49-F238E27FC236}">
                <a16:creationId xmlns:a16="http://schemas.microsoft.com/office/drawing/2014/main" id="{35CEBAA9-23D4-0BEB-944F-6EF454093C3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940" y="1024905"/>
            <a:ext cx="5285714" cy="2770286"/>
          </a:xfrm>
          <a:prstGeom prst="rect">
            <a:avLst/>
          </a:prstGeom>
        </p:spPr>
      </p:pic>
      <p:pic>
        <p:nvPicPr>
          <p:cNvPr id="28" name="圖片 27" descr="\documentclass{article}&#10;\usepackage{amsmath}&#10;\pagestyle{empty}&#10;\begin{document}&#10;&#10;\[&#10;\widehat{\boldsymbol{\beta}}_k&#10;=&#10;\begin{bmatrix}&#10;\widehat{\beta}_{1k} &amp;&#10;\widehat{\beta}_{2k} &amp;&#10;\cdots &amp;&#10;\widehat{\beta}_{nk}&#10;\end{bmatrix}^{\mathsf T}&#10;=&#10;\mathbf{B}_k\mathbf{y},&#10;\]&#10;&#10;where&#10;&#10;\[&#10;\mathbf{B}_k&#10;=&#10;\begin{bmatrix}&#10;\mathbf{e}_k^{\mathsf T}&#10;\left(\mathbf{X}^{\mathsf T}\mathbf{W}(1)\mathbf{X}\right)^{-1}&#10;\mathbf{X}^{\mathsf T}\mathbf{W}(1)&#10;\\[2mm]&#10;\mathbf{e}_k^{\mathsf T}&#10;\left(\mathbf{X}^{\mathsf T}\mathbf{W}(2)\mathbf{X}\right)^{-1}&#10;\mathbf{X}^{\mathsf T}\mathbf{W}(2)&#10;\\&#10;\vdots&#10;\\&#10;\mathbf{e}_k^{\mathsf T}&#10;\left(\mathbf{X}^{\mathsf T}\mathbf{W}(n)\mathbf{X}\right)^{-1}&#10;\mathbf{X}^{\mathsf T}\mathbf{W}(n)&#10;\end{bmatrix}.&#10;\]&#10;&#10;&#10;\end{document}" title="IguanaTex Picture Display">
            <a:extLst>
              <a:ext uri="{FF2B5EF4-FFF2-40B4-BE49-F238E27FC236}">
                <a16:creationId xmlns:a16="http://schemas.microsoft.com/office/drawing/2014/main" id="{AE934110-8068-636B-2315-7A548A29871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940" y="4090593"/>
            <a:ext cx="4555428" cy="2162286"/>
          </a:xfrm>
          <a:prstGeom prst="rect">
            <a:avLst/>
          </a:prstGeom>
        </p:spPr>
      </p:pic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AF8DD886-CAD6-2441-6B96-E4CA1D1AB470}"/>
              </a:ext>
            </a:extLst>
          </p:cNvPr>
          <p:cNvCxnSpPr>
            <a:cxnSpLocks/>
          </p:cNvCxnSpPr>
          <p:nvPr/>
        </p:nvCxnSpPr>
        <p:spPr>
          <a:xfrm>
            <a:off x="6096000" y="1026457"/>
            <a:ext cx="0" cy="52891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230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7273-F941-9C12-53BC-0051652D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97880A-4F2D-72F1-D3FA-33F9E542AE5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2A2DC8-61BC-090F-2E01-CD10DFB67051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檢驗參數非平穩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F-test by Leung et al.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（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2000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）</a:t>
            </a:r>
          </a:p>
        </p:txBody>
      </p:sp>
      <p:pic>
        <p:nvPicPr>
          <p:cNvPr id="45" name="圖片 44" descr="\documentclass{article}&#10;\usepackage{amsmath}&#10;\pagestyle{empty}&#10;\begin{document}&#10;\begin{flushleft}&#10;\[&#10;\begin{aligned}&#10;&amp;H_0:\quad&#10;\beta_{1k}=\beta_{2k}=\cdots=\beta_{nk},&#10;\\[1mm]&#10;&amp;H_1:\quad&#10;\text{not all }&#10;\beta_{ik},\quad i=1,\ldots,n,&#10;\text{ are equal},&#10;\\[3mm]&#10;&amp;F_3(k)&#10;=&#10;\frac{V_k^2/\gamma_1}&#10;{\widehat{\sigma}^{2}}\overset{H_0}{\sim}&#10;F\left(&#10;\frac{\gamma_1^2}{\gamma_2},&#10;\frac{d_1^2}{d_2}&#10;\right)&#10;\\&#10;&amp;\text{Reject }H_0&#10;\; \text{if}\;&#10;F_3(k)&#10;\geq&#10;F_{\alpha}&#10;\left(&#10;\frac{\gamma_1^2}{\gamma_2},&#10;\frac{d_1^2}{d_2}&#10;\right).&#10;\end{aligned}&#10;\]&#10;\end{flushleft}&#10;&#10;\end{document}" title="IguanaTex Picture Display">
            <a:extLst>
              <a:ext uri="{FF2B5EF4-FFF2-40B4-BE49-F238E27FC236}">
                <a16:creationId xmlns:a16="http://schemas.microsoft.com/office/drawing/2014/main" id="{86B58F74-81B0-1185-E5AB-B39B649B589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463" y="2330837"/>
            <a:ext cx="5383074" cy="266250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7D0C066-CCF0-017C-B288-B994D7DE7C7D}"/>
              </a:ext>
            </a:extLst>
          </p:cNvPr>
          <p:cNvSpPr txBox="1"/>
          <p:nvPr/>
        </p:nvSpPr>
        <p:spPr>
          <a:xfrm>
            <a:off x="3043518" y="1671031"/>
            <a:ext cx="25594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i="0" u="none" strike="noStrike" baseline="0" dirty="0">
                <a:solidFill>
                  <a:srgbClr val="000000"/>
                </a:solidFill>
                <a:effectLst/>
                <a:latin typeface="CMU Serif" panose="02000603000000000000" pitchFamily="2" charset="0"/>
                <a:ea typeface="標楷體" panose="03000509000000000000" pitchFamily="65" charset="-120"/>
              </a:rPr>
              <a:t>Leung F3 Test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033334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35EFB-DF0C-23AF-E2A2-39A6F71F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60CBC41-5339-A122-BB53-5DE5FA90D29B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C201EE-B56F-6A45-5521-8A02FA5BD46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檢驗參數非平穩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F-test by Leung et al.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（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2000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）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9069178-0D40-2337-5D96-2E88A5B01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697" y="666750"/>
            <a:ext cx="8332607" cy="5895976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E98F72B2-5A3C-14DE-0FD9-9F02E2098954}"/>
              </a:ext>
            </a:extLst>
          </p:cNvPr>
          <p:cNvSpPr/>
          <p:nvPr/>
        </p:nvSpPr>
        <p:spPr>
          <a:xfrm>
            <a:off x="1929697" y="2734235"/>
            <a:ext cx="8218350" cy="9233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27A7EE6-37F3-BA66-0843-8A4CFF6DDAA5}"/>
              </a:ext>
            </a:extLst>
          </p:cNvPr>
          <p:cNvSpPr/>
          <p:nvPr/>
        </p:nvSpPr>
        <p:spPr>
          <a:xfrm>
            <a:off x="1986825" y="3926541"/>
            <a:ext cx="8218350" cy="13984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54341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AE2C-BD37-49B0-043F-8A162BE2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0FE49A7-83E4-1982-EAB1-F2344120CB55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D962E7-6793-2A28-3AD0-840EA3A63C2B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檢驗參數非平穩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F-test by Leung et al.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（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2000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）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24CF92C-89E6-84AA-D4DE-7FA31DE47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1" y="1284751"/>
            <a:ext cx="4847419" cy="109629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749C4D3-1157-DE9A-4A20-F6A170A5A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1" y="3596886"/>
            <a:ext cx="4783775" cy="2107906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D276EC0-4692-6153-1152-6773A959C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377158"/>
              </p:ext>
            </p:extLst>
          </p:nvPr>
        </p:nvGraphicFramePr>
        <p:xfrm>
          <a:off x="5069984" y="1338541"/>
          <a:ext cx="7041335" cy="2043951"/>
        </p:xfrm>
        <a:graphic>
          <a:graphicData uri="http://schemas.openxmlformats.org/drawingml/2006/table">
            <a:tbl>
              <a:tblPr/>
              <a:tblGrid>
                <a:gridCol w="1223240">
                  <a:extLst>
                    <a:ext uri="{9D8B030D-6E8A-4147-A177-3AD203B41FA5}">
                      <a16:colId xmlns:a16="http://schemas.microsoft.com/office/drawing/2014/main" val="2346310122"/>
                    </a:ext>
                  </a:extLst>
                </a:gridCol>
                <a:gridCol w="1228164">
                  <a:extLst>
                    <a:ext uri="{9D8B030D-6E8A-4147-A177-3AD203B41FA5}">
                      <a16:colId xmlns:a16="http://schemas.microsoft.com/office/drawing/2014/main" val="3273831870"/>
                    </a:ext>
                  </a:extLst>
                </a:gridCol>
                <a:gridCol w="1515036">
                  <a:extLst>
                    <a:ext uri="{9D8B030D-6E8A-4147-A177-3AD203B41FA5}">
                      <a16:colId xmlns:a16="http://schemas.microsoft.com/office/drawing/2014/main" val="1159255395"/>
                    </a:ext>
                  </a:extLst>
                </a:gridCol>
                <a:gridCol w="1666628">
                  <a:extLst>
                    <a:ext uri="{9D8B030D-6E8A-4147-A177-3AD203B41FA5}">
                      <a16:colId xmlns:a16="http://schemas.microsoft.com/office/drawing/2014/main" val="3786525659"/>
                    </a:ext>
                  </a:extLst>
                </a:gridCol>
                <a:gridCol w="1408267">
                  <a:extLst>
                    <a:ext uri="{9D8B030D-6E8A-4147-A177-3AD203B41FA5}">
                      <a16:colId xmlns:a16="http://schemas.microsoft.com/office/drawing/2014/main" val="2593961742"/>
                    </a:ext>
                  </a:extLst>
                </a:gridCol>
              </a:tblGrid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F3 statistic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Numerator DF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Denominator DF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Pr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(&gt;F)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93668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Intercept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1.37932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48.9944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Inf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0.04029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326601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PctRural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1.39656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61.83326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Inf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0.02144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843897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PctEld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0.43555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51.91984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Inf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0.99987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933712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PctFB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14.56198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29.99224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Inf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&lt; 2.2E-16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228680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PctPov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3.41707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29.23114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Inf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1.19E-09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615699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PctBlack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5.0173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64.17467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Inf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&lt; 2.2E-16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98404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0B11373-FC10-BC8D-5653-54592D2F6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703621"/>
              </p:ext>
            </p:extLst>
          </p:nvPr>
        </p:nvGraphicFramePr>
        <p:xfrm>
          <a:off x="5069984" y="3628864"/>
          <a:ext cx="7041335" cy="2043951"/>
        </p:xfrm>
        <a:graphic>
          <a:graphicData uri="http://schemas.openxmlformats.org/drawingml/2006/table">
            <a:tbl>
              <a:tblPr/>
              <a:tblGrid>
                <a:gridCol w="1223240">
                  <a:extLst>
                    <a:ext uri="{9D8B030D-6E8A-4147-A177-3AD203B41FA5}">
                      <a16:colId xmlns:a16="http://schemas.microsoft.com/office/drawing/2014/main" val="1010960133"/>
                    </a:ext>
                  </a:extLst>
                </a:gridCol>
                <a:gridCol w="1228164">
                  <a:extLst>
                    <a:ext uri="{9D8B030D-6E8A-4147-A177-3AD203B41FA5}">
                      <a16:colId xmlns:a16="http://schemas.microsoft.com/office/drawing/2014/main" val="3642626288"/>
                    </a:ext>
                  </a:extLst>
                </a:gridCol>
                <a:gridCol w="1515036">
                  <a:extLst>
                    <a:ext uri="{9D8B030D-6E8A-4147-A177-3AD203B41FA5}">
                      <a16:colId xmlns:a16="http://schemas.microsoft.com/office/drawing/2014/main" val="307330254"/>
                    </a:ext>
                  </a:extLst>
                </a:gridCol>
                <a:gridCol w="1666628">
                  <a:extLst>
                    <a:ext uri="{9D8B030D-6E8A-4147-A177-3AD203B41FA5}">
                      <a16:colId xmlns:a16="http://schemas.microsoft.com/office/drawing/2014/main" val="208971099"/>
                    </a:ext>
                  </a:extLst>
                </a:gridCol>
                <a:gridCol w="1408267">
                  <a:extLst>
                    <a:ext uri="{9D8B030D-6E8A-4147-A177-3AD203B41FA5}">
                      <a16:colId xmlns:a16="http://schemas.microsoft.com/office/drawing/2014/main" val="1512396529"/>
                    </a:ext>
                  </a:extLst>
                </a:gridCol>
              </a:tblGrid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F3 statistic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Numerator DF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Denominator DF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Pr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(&gt;F)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573634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Intercept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1.379318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2.660224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145.8743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0.253384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758894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PctRural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1.396558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2.588568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145.8743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0.248858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51918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PctEld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0.435545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2.77371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145.8743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0.712558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451265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PctFB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14.56199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2.433527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145.8743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2.55E-07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640880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PctPov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3.417074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2.40523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145.8743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2.75E-02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0933"/>
                  </a:ext>
                </a:extLst>
              </a:tr>
              <a:tr h="291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PctBlack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5.0173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2.355922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145.8743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0.005122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073536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1CEA70A1-3A44-B8BC-FA9D-D44285EB0DD8}"/>
              </a:ext>
            </a:extLst>
          </p:cNvPr>
          <p:cNvSpPr txBox="1"/>
          <p:nvPr/>
        </p:nvSpPr>
        <p:spPr>
          <a:xfrm>
            <a:off x="80681" y="969209"/>
            <a:ext cx="1564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en-US" altLang="zh-TW" sz="1800" b="1" i="0" u="none" strike="noStrike" baseline="0" dirty="0" err="1">
                <a:solidFill>
                  <a:srgbClr val="000000"/>
                </a:solidFill>
                <a:effectLst/>
                <a:latin typeface="CMU Serif" panose="02000603000000000000" pitchFamily="2" charset="0"/>
                <a:ea typeface="標楷體" panose="03000509000000000000" pitchFamily="65" charset="-120"/>
              </a:rPr>
              <a:t>GWmodel</a:t>
            </a:r>
            <a:endParaRPr lang="zh-TW" altLang="en-US" sz="1800" b="1" i="0" u="none" strike="noStrike" baseline="0" dirty="0">
              <a:solidFill>
                <a:srgbClr val="000000"/>
              </a:solidFill>
              <a:effectLst/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A2826C6-6A6F-E38E-3DEF-C955E8D1A98D}"/>
              </a:ext>
            </a:extLst>
          </p:cNvPr>
          <p:cNvSpPr txBox="1"/>
          <p:nvPr/>
        </p:nvSpPr>
        <p:spPr>
          <a:xfrm>
            <a:off x="80680" y="3283854"/>
            <a:ext cx="2662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en-US" altLang="zh-TW" sz="1800" b="1" i="0" u="none" strike="noStrike" baseline="0" dirty="0">
                <a:solidFill>
                  <a:srgbClr val="000000"/>
                </a:solidFill>
                <a:effectLst/>
                <a:latin typeface="CMU Serif" panose="02000603000000000000" pitchFamily="2" charset="0"/>
                <a:ea typeface="標楷體" panose="03000509000000000000" pitchFamily="65" charset="-120"/>
              </a:rPr>
              <a:t>Leung et al. (2000)</a:t>
            </a:r>
            <a:endParaRPr lang="zh-TW" altLang="en-US" sz="1800" b="1" i="0" u="none" strike="noStrike" baseline="0" dirty="0">
              <a:solidFill>
                <a:srgbClr val="000000"/>
              </a:solidFill>
              <a:effectLst/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2810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4FA4-215D-F4CC-FC13-EC4A7E746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D4A6AB-FC0E-4D8F-6381-FA89F9BD820C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8C5220-8EE8-A06C-0684-E9CD0F0F7B2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網格模擬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原論文內容與實作內容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3EAF6D4-A5DF-BDC3-2F21-FDB1BBB3ECC2}"/>
              </a:ext>
            </a:extLst>
          </p:cNvPr>
          <p:cNvSpPr txBox="1"/>
          <p:nvPr/>
        </p:nvSpPr>
        <p:spPr>
          <a:xfrm>
            <a:off x="389964" y="1581440"/>
            <a:ext cx="11075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參考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Wheeler &amp; Calder (2007). J </a:t>
            </a:r>
            <a:r>
              <a:rPr lang="en-US" altLang="zh-TW" sz="2400" dirty="0" err="1">
                <a:latin typeface="CMU Serif" panose="02000603000000000000" pitchFamily="2" charset="0"/>
                <a:ea typeface="標楷體" panose="03000509000000000000" pitchFamily="65" charset="-120"/>
              </a:rPr>
              <a:t>Geogr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 Syst, 9(2), 145-166.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實作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模擬實驗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DAD2EFD-892F-7175-5F37-6E81B20D7FB6}"/>
              </a:ext>
            </a:extLst>
          </p:cNvPr>
          <p:cNvSpPr txBox="1"/>
          <p:nvPr/>
        </p:nvSpPr>
        <p:spPr>
          <a:xfrm>
            <a:off x="1044388" y="2122659"/>
            <a:ext cx="8700247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原論文內容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設計模擬實驗，比較地理加權迴歸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(GWR)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與空間隨位置變動係數過程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(SVCP)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在不同共線性程度下，準確度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(RMSE)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與區間估計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(95%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信賴區間與可信區間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的可靠性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實作內容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復刻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3.1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simulation 1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中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模擬流程與結果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3914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7F864-81C3-05AA-E1CA-97B29315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7E438EA-A80C-482F-84A9-D198A3DDE52B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BABC17-8E63-9D9E-7592-6BE192A42FFF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網格模擬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流程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4A0E76AB-C536-089A-BD41-18DEFDF30829}"/>
              </a:ext>
            </a:extLst>
          </p:cNvPr>
          <p:cNvGrpSpPr/>
          <p:nvPr/>
        </p:nvGrpSpPr>
        <p:grpSpPr>
          <a:xfrm>
            <a:off x="408982" y="1118396"/>
            <a:ext cx="11374037" cy="2740372"/>
            <a:chOff x="408982" y="872405"/>
            <a:chExt cx="11374037" cy="2740372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7E90E40B-5669-F77B-789A-7B6BA313822F}"/>
                </a:ext>
              </a:extLst>
            </p:cNvPr>
            <p:cNvSpPr/>
            <p:nvPr/>
          </p:nvSpPr>
          <p:spPr>
            <a:xfrm>
              <a:off x="408982" y="872405"/>
              <a:ext cx="11374037" cy="2740372"/>
            </a:xfrm>
            <a:prstGeom prst="roundRect">
              <a:avLst>
                <a:gd name="adj" fmla="val 5576"/>
              </a:avLst>
            </a:prstGeom>
            <a:solidFill>
              <a:srgbClr val="F3F3FB"/>
            </a:solidFill>
            <a:ln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D7E582D7-DB94-A5E6-DAE7-26CA2A28AA90}"/>
                </a:ext>
              </a:extLst>
            </p:cNvPr>
            <p:cNvCxnSpPr>
              <a:cxnSpLocks/>
            </p:cNvCxnSpPr>
            <p:nvPr/>
          </p:nvCxnSpPr>
          <p:spPr>
            <a:xfrm>
              <a:off x="759884" y="1427486"/>
              <a:ext cx="10672235" cy="0"/>
            </a:xfrm>
            <a:prstGeom prst="line">
              <a:avLst/>
            </a:prstGeom>
            <a:ln w="19050">
              <a:solidFill>
                <a:srgbClr val="3333B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BAA03FFA-3EDB-CD9C-D263-2E39337558A2}"/>
                </a:ext>
              </a:extLst>
            </p:cNvPr>
            <p:cNvSpPr/>
            <p:nvPr/>
          </p:nvSpPr>
          <p:spPr>
            <a:xfrm>
              <a:off x="762785" y="984440"/>
              <a:ext cx="385296" cy="356040"/>
            </a:xfrm>
            <a:prstGeom prst="roundRect">
              <a:avLst>
                <a:gd name="adj" fmla="val 5576"/>
              </a:avLst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rPr>
                <a:t>1</a:t>
              </a:r>
              <a:endPara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BFDC2939-A1DB-E04F-6CD4-8AD5624BDCD1}"/>
                </a:ext>
              </a:extLst>
            </p:cNvPr>
            <p:cNvSpPr txBox="1"/>
            <p:nvPr/>
          </p:nvSpPr>
          <p:spPr>
            <a:xfrm>
              <a:off x="1148081" y="899615"/>
              <a:ext cx="7994012" cy="53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8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</a:rPr>
                <a:t>模擬目的</a:t>
              </a:r>
              <a:endParaRPr lang="zh-TW" altLang="en-US" sz="2800" dirty="0">
                <a:solidFill>
                  <a:srgbClr val="3333B3"/>
                </a:solidFill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C28874AF-BF3C-4A47-136D-5AD8C555F1F0}"/>
                </a:ext>
              </a:extLst>
            </p:cNvPr>
            <p:cNvSpPr txBox="1"/>
            <p:nvPr/>
          </p:nvSpPr>
          <p:spPr>
            <a:xfrm>
              <a:off x="955433" y="1531278"/>
              <a:ext cx="9139518" cy="1900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在解釋變數沒有明顯共線性的條件下，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GWR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推論是否可靠</a:t>
              </a: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GWR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能否準確估計隨空間變化的迴歸係數</a:t>
              </a: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  <a:p>
              <a:pPr marL="342900" indent="-342900">
                <a:lnSpc>
                  <a:spcPct val="150000"/>
                </a:lnSpc>
                <a:buFontTx/>
                <a:buAutoNum type="arabicPeriod"/>
              </a:pP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GWR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建立的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95%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信賴區間是否能夠涵蓋真實函數</a:t>
              </a:r>
            </a:p>
            <a:p>
              <a:pPr marL="342900" indent="-342900">
                <a:lnSpc>
                  <a:spcPct val="150000"/>
                </a:lnSpc>
                <a:buFontTx/>
                <a:buAutoNum type="arabicPeriod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不同誤差情形，結果是否一致</a:t>
              </a: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6084AD7-2822-2F0B-265C-A951A397BE68}"/>
              </a:ext>
            </a:extLst>
          </p:cNvPr>
          <p:cNvGrpSpPr/>
          <p:nvPr/>
        </p:nvGrpSpPr>
        <p:grpSpPr>
          <a:xfrm>
            <a:off x="408982" y="4160938"/>
            <a:ext cx="11374037" cy="1797447"/>
            <a:chOff x="408982" y="3724812"/>
            <a:chExt cx="11374037" cy="1797447"/>
          </a:xfrm>
        </p:grpSpPr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9C7D62E7-2825-29B1-8E26-94E87AAE7F70}"/>
                </a:ext>
              </a:extLst>
            </p:cNvPr>
            <p:cNvSpPr/>
            <p:nvPr/>
          </p:nvSpPr>
          <p:spPr>
            <a:xfrm>
              <a:off x="408982" y="3724812"/>
              <a:ext cx="11374037" cy="1797447"/>
            </a:xfrm>
            <a:prstGeom prst="roundRect">
              <a:avLst>
                <a:gd name="adj" fmla="val 5576"/>
              </a:avLst>
            </a:prstGeom>
            <a:solidFill>
              <a:srgbClr val="F3F3FB"/>
            </a:solidFill>
            <a:ln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FA89712D-5207-2B8B-E699-2058071F5228}"/>
                </a:ext>
              </a:extLst>
            </p:cNvPr>
            <p:cNvCxnSpPr>
              <a:cxnSpLocks/>
            </p:cNvCxnSpPr>
            <p:nvPr/>
          </p:nvCxnSpPr>
          <p:spPr>
            <a:xfrm>
              <a:off x="759884" y="4279893"/>
              <a:ext cx="10672235" cy="0"/>
            </a:xfrm>
            <a:prstGeom prst="line">
              <a:avLst/>
            </a:prstGeom>
            <a:ln w="19050">
              <a:solidFill>
                <a:srgbClr val="3333B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09107986-1A0F-3B8C-E70D-D01F6CDC8541}"/>
                </a:ext>
              </a:extLst>
            </p:cNvPr>
            <p:cNvSpPr/>
            <p:nvPr/>
          </p:nvSpPr>
          <p:spPr>
            <a:xfrm>
              <a:off x="762785" y="3836847"/>
              <a:ext cx="385296" cy="356041"/>
            </a:xfrm>
            <a:prstGeom prst="roundRect">
              <a:avLst>
                <a:gd name="adj" fmla="val 5576"/>
              </a:avLst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rPr>
                <a:t>2</a:t>
              </a:r>
              <a:endPara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FF8170E0-F9AD-E833-712E-FB7E7266B24B}"/>
                </a:ext>
              </a:extLst>
            </p:cNvPr>
            <p:cNvSpPr txBox="1"/>
            <p:nvPr/>
          </p:nvSpPr>
          <p:spPr>
            <a:xfrm>
              <a:off x="1148081" y="3752022"/>
              <a:ext cx="7994012" cy="53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8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</a:rPr>
                <a:t>空間樣本配置</a:t>
              </a:r>
              <a:endParaRPr lang="zh-TW" altLang="en-US" sz="2800" dirty="0">
                <a:solidFill>
                  <a:srgbClr val="3333B3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5D668ED6-4266-F27F-79FB-4E044E58B041}"/>
                </a:ext>
              </a:extLst>
            </p:cNvPr>
            <p:cNvSpPr txBox="1"/>
            <p:nvPr/>
          </p:nvSpPr>
          <p:spPr>
            <a:xfrm>
              <a:off x="955433" y="4383685"/>
              <a:ext cx="9139518" cy="977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10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*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10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網格，樣本數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n=100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座標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(1,1), (2,1), …, (10, 10)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27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DF138-90D1-00E3-1B17-7BCB7E56B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6F06412-F176-7A75-0E7C-3B86A254A7BD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D0D444-51E1-ACA6-C0F3-BCC91E37ED11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網格模擬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流程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662CB50E-3E76-052A-5CA1-53B80D7D4B30}"/>
              </a:ext>
            </a:extLst>
          </p:cNvPr>
          <p:cNvGrpSpPr/>
          <p:nvPr/>
        </p:nvGrpSpPr>
        <p:grpSpPr>
          <a:xfrm>
            <a:off x="408981" y="880288"/>
            <a:ext cx="11374037" cy="3059531"/>
            <a:chOff x="408982" y="872404"/>
            <a:chExt cx="11374037" cy="3059531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339266DA-16E4-0464-887D-19FDDD80B0AD}"/>
                </a:ext>
              </a:extLst>
            </p:cNvPr>
            <p:cNvSpPr/>
            <p:nvPr/>
          </p:nvSpPr>
          <p:spPr>
            <a:xfrm>
              <a:off x="408982" y="872404"/>
              <a:ext cx="11374037" cy="3059531"/>
            </a:xfrm>
            <a:prstGeom prst="roundRect">
              <a:avLst>
                <a:gd name="adj" fmla="val 5576"/>
              </a:avLst>
            </a:prstGeom>
            <a:solidFill>
              <a:srgbClr val="F3F3FB"/>
            </a:solidFill>
            <a:ln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AFFCB160-3875-1DE0-15EB-CDA60524AEE2}"/>
                </a:ext>
              </a:extLst>
            </p:cNvPr>
            <p:cNvCxnSpPr>
              <a:cxnSpLocks/>
            </p:cNvCxnSpPr>
            <p:nvPr/>
          </p:nvCxnSpPr>
          <p:spPr>
            <a:xfrm>
              <a:off x="759884" y="1427486"/>
              <a:ext cx="10672235" cy="0"/>
            </a:xfrm>
            <a:prstGeom prst="line">
              <a:avLst/>
            </a:prstGeom>
            <a:ln w="19050">
              <a:solidFill>
                <a:srgbClr val="3333B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0902ED63-56C6-1CB2-2840-9BEFFDD32FA3}"/>
                </a:ext>
              </a:extLst>
            </p:cNvPr>
            <p:cNvSpPr/>
            <p:nvPr/>
          </p:nvSpPr>
          <p:spPr>
            <a:xfrm>
              <a:off x="762785" y="984440"/>
              <a:ext cx="385296" cy="356040"/>
            </a:xfrm>
            <a:prstGeom prst="roundRect">
              <a:avLst>
                <a:gd name="adj" fmla="val 5576"/>
              </a:avLst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rPr>
                <a:t>3</a:t>
              </a:r>
              <a:endPara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192353E-8EF2-5160-5B63-F595B8E5580E}"/>
                </a:ext>
              </a:extLst>
            </p:cNvPr>
            <p:cNvSpPr txBox="1"/>
            <p:nvPr/>
          </p:nvSpPr>
          <p:spPr>
            <a:xfrm>
              <a:off x="1148081" y="899615"/>
              <a:ext cx="7994012" cy="53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8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</a:rPr>
                <a:t>真實迴歸係數設定</a:t>
              </a:r>
              <a:endParaRPr lang="zh-TW" altLang="en-US" sz="2800" dirty="0">
                <a:solidFill>
                  <a:srgbClr val="3333B3"/>
                </a:solidFill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8DB3D9-A6CB-2F5A-E368-764DCBADDAF7}"/>
                </a:ext>
              </a:extLst>
            </p:cNvPr>
            <p:cNvSpPr txBox="1"/>
            <p:nvPr/>
          </p:nvSpPr>
          <p:spPr>
            <a:xfrm>
              <a:off x="955433" y="1531278"/>
              <a:ext cx="9139518" cy="2400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AutoNum type="arabicPeriod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     的值為該位置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x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座標</a:t>
              </a: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  <a:p>
              <a:pPr marL="342900" indent="-342900">
                <a:buAutoNum type="arabicPeriod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     的值為該位置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y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座標</a:t>
              </a: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呈現情境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: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</a:t>
              </a: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平滑的空間變化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清楚的線性空間趨勢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明顯空間非平穩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固定不變的係數表面</a:t>
              </a: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52578576-EA90-4288-597F-BE24942EDD6C}"/>
              </a:ext>
            </a:extLst>
          </p:cNvPr>
          <p:cNvGrpSpPr/>
          <p:nvPr/>
        </p:nvGrpSpPr>
        <p:grpSpPr>
          <a:xfrm>
            <a:off x="408981" y="4131261"/>
            <a:ext cx="11374037" cy="2257399"/>
            <a:chOff x="408982" y="3724812"/>
            <a:chExt cx="11374037" cy="2257399"/>
          </a:xfrm>
        </p:grpSpPr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1FACE757-E5B1-A696-5C95-42BD005CA4A4}"/>
                </a:ext>
              </a:extLst>
            </p:cNvPr>
            <p:cNvSpPr/>
            <p:nvPr/>
          </p:nvSpPr>
          <p:spPr>
            <a:xfrm>
              <a:off x="408982" y="3724812"/>
              <a:ext cx="11374037" cy="2257399"/>
            </a:xfrm>
            <a:prstGeom prst="roundRect">
              <a:avLst>
                <a:gd name="adj" fmla="val 5576"/>
              </a:avLst>
            </a:prstGeom>
            <a:solidFill>
              <a:srgbClr val="F3F3FB"/>
            </a:solidFill>
            <a:ln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A16DB8A9-B14B-4233-0388-18C909906BD0}"/>
                </a:ext>
              </a:extLst>
            </p:cNvPr>
            <p:cNvCxnSpPr>
              <a:cxnSpLocks/>
            </p:cNvCxnSpPr>
            <p:nvPr/>
          </p:nvCxnSpPr>
          <p:spPr>
            <a:xfrm>
              <a:off x="759884" y="4279893"/>
              <a:ext cx="10672235" cy="0"/>
            </a:xfrm>
            <a:prstGeom prst="line">
              <a:avLst/>
            </a:prstGeom>
            <a:ln w="19050">
              <a:solidFill>
                <a:srgbClr val="3333B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B3C6AA49-1EC1-3E67-DF84-D58D9E303833}"/>
                </a:ext>
              </a:extLst>
            </p:cNvPr>
            <p:cNvSpPr/>
            <p:nvPr/>
          </p:nvSpPr>
          <p:spPr>
            <a:xfrm>
              <a:off x="762785" y="3836847"/>
              <a:ext cx="385296" cy="356041"/>
            </a:xfrm>
            <a:prstGeom prst="roundRect">
              <a:avLst>
                <a:gd name="adj" fmla="val 5576"/>
              </a:avLst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rPr>
                <a:t>4</a:t>
              </a:r>
              <a:endPara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CBB483B2-D9ED-EC71-57E9-7D69B7EC140F}"/>
                </a:ext>
              </a:extLst>
            </p:cNvPr>
            <p:cNvSpPr txBox="1"/>
            <p:nvPr/>
          </p:nvSpPr>
          <p:spPr>
            <a:xfrm>
              <a:off x="1148081" y="3752022"/>
              <a:ext cx="7994012" cy="53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8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</a:rPr>
                <a:t>解釋變數產生</a:t>
              </a:r>
              <a:endParaRPr lang="zh-TW" altLang="en-US" sz="2800" dirty="0">
                <a:solidFill>
                  <a:srgbClr val="3333B3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AEA8950F-4A8B-2EB4-353A-7FD7E23D1BC4}"/>
                </a:ext>
              </a:extLst>
            </p:cNvPr>
            <p:cNvSpPr txBox="1"/>
            <p:nvPr/>
          </p:nvSpPr>
          <p:spPr>
            <a:xfrm>
              <a:off x="955433" y="4383685"/>
              <a:ext cx="9139518" cy="14388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產生十維資料</a:t>
              </a:r>
              <a:r>
                <a:rPr lang="en-US" altLang="zh-TW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: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由                       生成 </a:t>
              </a:r>
              <a:r>
                <a:rPr lang="en-US" altLang="zh-TW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100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筆資料</a:t>
              </a:r>
              <a:endParaRPr lang="en-US" altLang="zh-TW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TW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PCA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</a:t>
              </a:r>
              <a:r>
                <a:rPr lang="en-US" altLang="zh-TW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</a:t>
              </a:r>
              <a:r>
                <a:rPr lang="zh-TW" altLang="en-US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                          </a:t>
              </a:r>
              <a:r>
                <a:rPr lang="en-US" altLang="zh-TW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):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取前 </a:t>
              </a:r>
              <a:r>
                <a:rPr lang="en-US" altLang="zh-TW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  <a:r>
                <a:rPr lang="zh-TW" altLang="en-US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個主成分作為</a:t>
              </a:r>
              <a:r>
                <a:rPr lang="en-US" altLang="zh-TW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   </a:t>
              </a:r>
              <a:r>
                <a:rPr lang="zh-TW" altLang="en-US" sz="2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  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，模擬無共線性環境</a:t>
              </a: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每次模擬皆重新產生資料</a:t>
              </a:r>
              <a:endParaRPr lang="en-US" altLang="zh-TW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C0755B15-AA33-EC65-00FC-BF5083BD90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04"/>
          <a:stretch>
            <a:fillRect/>
          </a:stretch>
        </p:blipFill>
        <p:spPr>
          <a:xfrm>
            <a:off x="6019422" y="1591298"/>
            <a:ext cx="5412696" cy="2174455"/>
          </a:xfrm>
          <a:prstGeom prst="rect">
            <a:avLst/>
          </a:prstGeom>
          <a:ln w="19050">
            <a:solidFill>
              <a:srgbClr val="3333B3"/>
            </a:solidFill>
          </a:ln>
        </p:spPr>
      </p:pic>
      <p:pic>
        <p:nvPicPr>
          <p:cNvPr id="13" name="圖片 12" descr="\documentclass{article}&#10;\usepackage{amsmath}&#10;\pagestyle{empty}&#10;\begin{document}&#10;\[\beta_1^{*}(s)&#10;\]&#10;&#10;&#10;\end{document}" title="IguanaTex Picture Display">
            <a:extLst>
              <a:ext uri="{FF2B5EF4-FFF2-40B4-BE49-F238E27FC236}">
                <a16:creationId xmlns:a16="http://schemas.microsoft.com/office/drawing/2014/main" id="{C8DD7821-A1BF-CDC6-D1FC-E444A336AF3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90" y="1620019"/>
            <a:ext cx="487816" cy="222583"/>
          </a:xfrm>
          <a:prstGeom prst="rect">
            <a:avLst/>
          </a:prstGeom>
        </p:spPr>
      </p:pic>
      <p:pic>
        <p:nvPicPr>
          <p:cNvPr id="22" name="圖片 21" descr="\documentclass{article}&#10;\usepackage{amsmath}&#10;\pagestyle{empty}&#10;\begin{document}&#10;\[\beta_2^{*}(s)&#10;\]&#10;&#10;&#10;\end{document}" title="IguanaTex Picture Display">
            <a:extLst>
              <a:ext uri="{FF2B5EF4-FFF2-40B4-BE49-F238E27FC236}">
                <a16:creationId xmlns:a16="http://schemas.microsoft.com/office/drawing/2014/main" id="{15FE6E9A-1CB7-696F-0126-03CF294C2E5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90" y="1923460"/>
            <a:ext cx="487816" cy="222583"/>
          </a:xfrm>
          <a:prstGeom prst="rect">
            <a:avLst/>
          </a:prstGeom>
        </p:spPr>
      </p:pic>
      <p:pic>
        <p:nvPicPr>
          <p:cNvPr id="43" name="圖片 42" descr="\documentclass{article}&#10;\usepackage{amsmath}&#10;\pagestyle{empty}&#10;\begin{document}&#10;&#10;\[Z_i\sim N_{10}(\textbf{0}, \textbf{I}_{10})\]&#10;&#10;&#10;\end{document}" title="IguanaTex Picture Display">
            <a:extLst>
              <a:ext uri="{FF2B5EF4-FFF2-40B4-BE49-F238E27FC236}">
                <a16:creationId xmlns:a16="http://schemas.microsoft.com/office/drawing/2014/main" id="{711FA9AB-D319-EAC4-FA05-504BC3DD20A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564" y="4976770"/>
            <a:ext cx="1739347" cy="246724"/>
          </a:xfrm>
          <a:prstGeom prst="rect">
            <a:avLst/>
          </a:prstGeom>
        </p:spPr>
      </p:pic>
      <p:pic>
        <p:nvPicPr>
          <p:cNvPr id="45" name="圖片 44" descr="\documentclass{article}&#10;\usepackage{amsmath}&#10;\pagestyle{empty}&#10;\begin{document}&#10;&#10;\[x_1, x_2\]&#10;&#10;&#10;\end{document}" title="IguanaTex Picture Display">
            <a:extLst>
              <a:ext uri="{FF2B5EF4-FFF2-40B4-BE49-F238E27FC236}">
                <a16:creationId xmlns:a16="http://schemas.microsoft.com/office/drawing/2014/main" id="{65535915-627C-2D1C-55C0-5C584113CD8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414" y="5498019"/>
            <a:ext cx="600381" cy="160000"/>
          </a:xfrm>
          <a:prstGeom prst="rect">
            <a:avLst/>
          </a:prstGeom>
        </p:spPr>
      </p:pic>
      <p:pic>
        <p:nvPicPr>
          <p:cNvPr id="47" name="圖片 46" descr="\documentclass{article}&#10;\usepackage{amsmath}&#10;\pagestyle{empty}&#10;\begin{document}&#10;&#10;\[100\times 10\rightarrow100 \times 2\]&#10;&#10;&#10;\end{document}" title="IguanaTex Picture Display">
            <a:extLst>
              <a:ext uri="{FF2B5EF4-FFF2-40B4-BE49-F238E27FC236}">
                <a16:creationId xmlns:a16="http://schemas.microsoft.com/office/drawing/2014/main" id="{A72CCEDE-0C82-F146-85F2-19D6FAEF203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65" y="5477783"/>
            <a:ext cx="2116571" cy="17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19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4644E-4905-410F-CE14-9015ABEA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0038C9E-A3D7-B635-46D7-9C4A748607D3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254E0F-DC27-8CF9-61F1-E1EB902FCD65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網格模擬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流程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2AC61068-A38B-5B29-F5BC-B46B4BAB58C6}"/>
              </a:ext>
            </a:extLst>
          </p:cNvPr>
          <p:cNvGrpSpPr/>
          <p:nvPr/>
        </p:nvGrpSpPr>
        <p:grpSpPr>
          <a:xfrm>
            <a:off x="408981" y="1092844"/>
            <a:ext cx="11374037" cy="1728441"/>
            <a:chOff x="408981" y="880288"/>
            <a:chExt cx="11374037" cy="1728441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F430D3AC-1767-A111-C711-CBC5B2D0AB32}"/>
                </a:ext>
              </a:extLst>
            </p:cNvPr>
            <p:cNvSpPr/>
            <p:nvPr/>
          </p:nvSpPr>
          <p:spPr>
            <a:xfrm>
              <a:off x="408981" y="880288"/>
              <a:ext cx="11374037" cy="1728441"/>
            </a:xfrm>
            <a:prstGeom prst="roundRect">
              <a:avLst>
                <a:gd name="adj" fmla="val 5576"/>
              </a:avLst>
            </a:prstGeom>
            <a:solidFill>
              <a:srgbClr val="F3F3FB"/>
            </a:solidFill>
            <a:ln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26098E43-7FF2-4498-9E1F-4F50A7E334D6}"/>
                </a:ext>
              </a:extLst>
            </p:cNvPr>
            <p:cNvCxnSpPr>
              <a:cxnSpLocks/>
            </p:cNvCxnSpPr>
            <p:nvPr/>
          </p:nvCxnSpPr>
          <p:spPr>
            <a:xfrm>
              <a:off x="759883" y="1435370"/>
              <a:ext cx="10672235" cy="0"/>
            </a:xfrm>
            <a:prstGeom prst="line">
              <a:avLst/>
            </a:prstGeom>
            <a:ln w="19050">
              <a:solidFill>
                <a:srgbClr val="3333B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22504417-2A82-1684-2363-994043287F73}"/>
                </a:ext>
              </a:extLst>
            </p:cNvPr>
            <p:cNvSpPr/>
            <p:nvPr/>
          </p:nvSpPr>
          <p:spPr>
            <a:xfrm>
              <a:off x="762784" y="992324"/>
              <a:ext cx="385296" cy="356040"/>
            </a:xfrm>
            <a:prstGeom prst="roundRect">
              <a:avLst>
                <a:gd name="adj" fmla="val 5576"/>
              </a:avLst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rPr>
                <a:t>5</a:t>
              </a:r>
              <a:endPara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96EF53BE-977C-5DA9-B4A6-0D69B24528A7}"/>
                </a:ext>
              </a:extLst>
            </p:cNvPr>
            <p:cNvSpPr txBox="1"/>
            <p:nvPr/>
          </p:nvSpPr>
          <p:spPr>
            <a:xfrm>
              <a:off x="1148080" y="907499"/>
              <a:ext cx="7994012" cy="53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8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</a:rPr>
                <a:t>反應變數產生</a:t>
              </a:r>
              <a:endParaRPr lang="zh-TW" altLang="en-US" sz="2800" dirty="0">
                <a:solidFill>
                  <a:srgbClr val="3333B3"/>
                </a:solidFill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80A52DF-E478-D3DE-5D07-B6A6AA60CB2B}"/>
                </a:ext>
              </a:extLst>
            </p:cNvPr>
            <p:cNvSpPr txBox="1"/>
            <p:nvPr/>
          </p:nvSpPr>
          <p:spPr>
            <a:xfrm>
              <a:off x="955432" y="1539162"/>
              <a:ext cx="91395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無截距模型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:</a:t>
              </a:r>
            </a:p>
          </p:txBody>
        </p:sp>
        <p:pic>
          <p:nvPicPr>
            <p:cNvPr id="8" name="圖片 7" descr="\documentclass{article}&#10;\usepackage{amsmath}&#10;\pagestyle{empty}&#10;\begin{document}&#10;&#10;\[y(s_i)=\beta_1^*(s_i)x_1(s_i)+\beta_2^*(s_i)x_2(x)+\epsilon(s_i)\]&#10;&#10;&#10;\end{document}" title="IguanaTex Picture Display">
              <a:extLst>
                <a:ext uri="{FF2B5EF4-FFF2-40B4-BE49-F238E27FC236}">
                  <a16:creationId xmlns:a16="http://schemas.microsoft.com/office/drawing/2014/main" id="{2816004F-8960-01EF-2C38-04F10823686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5619" y="2015924"/>
              <a:ext cx="4560762" cy="254476"/>
            </a:xfrm>
            <a:prstGeom prst="rect">
              <a:avLst/>
            </a:prstGeom>
          </p:spPr>
        </p:pic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46198670-D0D1-92E0-45BB-E58AF6EB09F2}"/>
              </a:ext>
            </a:extLst>
          </p:cNvPr>
          <p:cNvGrpSpPr/>
          <p:nvPr/>
        </p:nvGrpSpPr>
        <p:grpSpPr>
          <a:xfrm>
            <a:off x="408981" y="3212825"/>
            <a:ext cx="11374037" cy="2815844"/>
            <a:chOff x="408980" y="2774603"/>
            <a:chExt cx="11374037" cy="2815844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345B1183-7920-A51B-1462-8863C521735D}"/>
                </a:ext>
              </a:extLst>
            </p:cNvPr>
            <p:cNvGrpSpPr/>
            <p:nvPr/>
          </p:nvGrpSpPr>
          <p:grpSpPr>
            <a:xfrm>
              <a:off x="408980" y="2774603"/>
              <a:ext cx="11374037" cy="2815844"/>
              <a:chOff x="408982" y="3724812"/>
              <a:chExt cx="11374037" cy="2815844"/>
            </a:xfrm>
          </p:grpSpPr>
          <p:sp>
            <p:nvSpPr>
              <p:cNvPr id="17" name="矩形: 圓角 16">
                <a:extLst>
                  <a:ext uri="{FF2B5EF4-FFF2-40B4-BE49-F238E27FC236}">
                    <a16:creationId xmlns:a16="http://schemas.microsoft.com/office/drawing/2014/main" id="{B87C51F3-1835-C6AF-4F94-6016EAB60276}"/>
                  </a:ext>
                </a:extLst>
              </p:cNvPr>
              <p:cNvSpPr/>
              <p:nvPr/>
            </p:nvSpPr>
            <p:spPr>
              <a:xfrm>
                <a:off x="408982" y="3724812"/>
                <a:ext cx="11374037" cy="2815844"/>
              </a:xfrm>
              <a:prstGeom prst="roundRect">
                <a:avLst>
                  <a:gd name="adj" fmla="val 5576"/>
                </a:avLst>
              </a:prstGeom>
              <a:solidFill>
                <a:srgbClr val="F3F3FB"/>
              </a:solidFill>
              <a:ln>
                <a:solidFill>
                  <a:srgbClr val="3333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4B06D9E3-B272-E8A9-74E4-B182A7416A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884" y="4279893"/>
                <a:ext cx="10672235" cy="0"/>
              </a:xfrm>
              <a:prstGeom prst="line">
                <a:avLst/>
              </a:prstGeom>
              <a:ln w="19050">
                <a:solidFill>
                  <a:srgbClr val="3333B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9D3D5324-A47E-6BF5-5527-B75BC853FD3C}"/>
                  </a:ext>
                </a:extLst>
              </p:cNvPr>
              <p:cNvSpPr/>
              <p:nvPr/>
            </p:nvSpPr>
            <p:spPr>
              <a:xfrm>
                <a:off x="762785" y="3836847"/>
                <a:ext cx="385296" cy="356041"/>
              </a:xfrm>
              <a:prstGeom prst="roundRect">
                <a:avLst>
                  <a:gd name="adj" fmla="val 5576"/>
                </a:avLst>
              </a:prstGeom>
              <a:solidFill>
                <a:srgbClr val="3333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6</a:t>
                </a:r>
                <a:endParaRPr lang="zh-TW" altLang="en-US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endParaRPr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0EA9BCA4-F1BC-19FA-4F2C-6D214B79DCE6}"/>
                  </a:ext>
                </a:extLst>
              </p:cNvPr>
              <p:cNvSpPr txBox="1"/>
              <p:nvPr/>
            </p:nvSpPr>
            <p:spPr>
              <a:xfrm>
                <a:off x="1148081" y="3752022"/>
                <a:ext cx="7994012" cy="537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8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</a:rPr>
                  <a:t>誤差項設定</a:t>
                </a:r>
                <a:endParaRPr lang="zh-TW" altLang="en-US" sz="2800" dirty="0">
                  <a:solidFill>
                    <a:srgbClr val="3333B3"/>
                  </a:solidFill>
                </a:endParaRPr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426472A-9394-32F3-3776-EB653DC7BC78}"/>
                  </a:ext>
                </a:extLst>
              </p:cNvPr>
              <p:cNvSpPr txBox="1"/>
              <p:nvPr/>
            </p:nvSpPr>
            <p:spPr>
              <a:xfrm>
                <a:off x="955432" y="4383685"/>
                <a:ext cx="10672235" cy="1900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在各地間獨立生成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情境 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A : 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極小誤差           ，檢查乾淨資料下 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GWR 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能否準確還原真實係數</a:t>
                </a:r>
                <a:endPara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情境 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B : 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較大誤差        ，確認結果是否會因誤差程度改變</a:t>
                </a:r>
                <a:endPara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endParaRPr>
              </a:p>
            </p:txBody>
          </p:sp>
        </p:grpSp>
        <p:pic>
          <p:nvPicPr>
            <p:cNvPr id="16" name="圖片 15" descr="\documentclass{article}&#10;\usepackage{amsmath}&#10;\pagestyle{empty}&#10;\begin{document}&#10;&#10;\[\epsilon(s_i)\overset{ind.}{\sim}N(0,\tau^{2*})\]&#10;&#10;&#10;\end{document}" title="IguanaTex Picture Display">
              <a:extLst>
                <a:ext uri="{FF2B5EF4-FFF2-40B4-BE49-F238E27FC236}">
                  <a16:creationId xmlns:a16="http://schemas.microsoft.com/office/drawing/2014/main" id="{8E430DED-01CD-CF1D-7BE7-7AB5552BEF0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9380" y="3866765"/>
              <a:ext cx="1991619" cy="330667"/>
            </a:xfrm>
            <a:prstGeom prst="rect">
              <a:avLst/>
            </a:prstGeom>
          </p:spPr>
        </p:pic>
        <p:pic>
          <p:nvPicPr>
            <p:cNvPr id="26" name="圖片 25" descr="\documentclass{article}&#10;\usepackage{amsmath}&#10;\pagestyle{empty}&#10;\begin{document}&#10;&#10;&#10;\[\tau^{2*}=0.001\]&#10;&#10;\end{document}" title="IguanaTex Picture Display">
              <a:extLst>
                <a:ext uri="{FF2B5EF4-FFF2-40B4-BE49-F238E27FC236}">
                  <a16:creationId xmlns:a16="http://schemas.microsoft.com/office/drawing/2014/main" id="{21C6A45F-C60E-056C-FF3C-DC04473A167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3829" y="4514906"/>
              <a:ext cx="1243428" cy="228571"/>
            </a:xfrm>
            <a:prstGeom prst="rect">
              <a:avLst/>
            </a:prstGeom>
          </p:spPr>
        </p:pic>
        <p:pic>
          <p:nvPicPr>
            <p:cNvPr id="28" name="圖片 27" descr="\documentclass{article}&#10;\usepackage{amsmath}&#10;\pagestyle{empty}&#10;\begin{document}&#10;&#10;&#10;\[\tau^{2*}=1\]&#10;&#10;\end{document}" title="IguanaTex Picture Display">
              <a:extLst>
                <a:ext uri="{FF2B5EF4-FFF2-40B4-BE49-F238E27FC236}">
                  <a16:creationId xmlns:a16="http://schemas.microsoft.com/office/drawing/2014/main" id="{C1DCC6E2-7858-5719-CE8A-75ABC50CCB6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5619" y="4971081"/>
              <a:ext cx="793905" cy="2255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10670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CE62-6B66-B2D2-7D5B-5AB8374E7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0F851AA-2F68-9BBD-D927-820C67EABD23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894074-639B-9AF2-4CDE-7A84A715CC1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網格模擬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流程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0CF6F00-7746-8FC3-807D-36508B932416}"/>
              </a:ext>
            </a:extLst>
          </p:cNvPr>
          <p:cNvGrpSpPr/>
          <p:nvPr/>
        </p:nvGrpSpPr>
        <p:grpSpPr>
          <a:xfrm>
            <a:off x="408980" y="990435"/>
            <a:ext cx="11374037" cy="2740372"/>
            <a:chOff x="408982" y="1118396"/>
            <a:chExt cx="11374037" cy="2740372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8A199E5A-8522-33BC-CE56-72AF4756AD9A}"/>
                </a:ext>
              </a:extLst>
            </p:cNvPr>
            <p:cNvGrpSpPr/>
            <p:nvPr/>
          </p:nvGrpSpPr>
          <p:grpSpPr>
            <a:xfrm>
              <a:off x="408982" y="1118396"/>
              <a:ext cx="11374037" cy="2740372"/>
              <a:chOff x="408982" y="872405"/>
              <a:chExt cx="11374037" cy="2740372"/>
            </a:xfrm>
          </p:grpSpPr>
          <p:sp>
            <p:nvSpPr>
              <p:cNvPr id="3" name="矩形: 圓角 2">
                <a:extLst>
                  <a:ext uri="{FF2B5EF4-FFF2-40B4-BE49-F238E27FC236}">
                    <a16:creationId xmlns:a16="http://schemas.microsoft.com/office/drawing/2014/main" id="{65ACDBF9-A59F-0907-D977-EA19E0E47C13}"/>
                  </a:ext>
                </a:extLst>
              </p:cNvPr>
              <p:cNvSpPr/>
              <p:nvPr/>
            </p:nvSpPr>
            <p:spPr>
              <a:xfrm>
                <a:off x="408982" y="872405"/>
                <a:ext cx="11374037" cy="2740372"/>
              </a:xfrm>
              <a:prstGeom prst="roundRect">
                <a:avLst>
                  <a:gd name="adj" fmla="val 5576"/>
                </a:avLst>
              </a:prstGeom>
              <a:solidFill>
                <a:srgbClr val="F3F3FB"/>
              </a:solidFill>
              <a:ln>
                <a:solidFill>
                  <a:srgbClr val="3333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" name="直線接點 6">
                <a:extLst>
                  <a:ext uri="{FF2B5EF4-FFF2-40B4-BE49-F238E27FC236}">
                    <a16:creationId xmlns:a16="http://schemas.microsoft.com/office/drawing/2014/main" id="{6008CA73-FF94-4ABC-1587-852E59134C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884" y="1427486"/>
                <a:ext cx="10672235" cy="0"/>
              </a:xfrm>
              <a:prstGeom prst="line">
                <a:avLst/>
              </a:prstGeom>
              <a:ln w="19050">
                <a:solidFill>
                  <a:srgbClr val="3333B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1FC02FB4-2025-D16A-5477-89D9B43AB5B1}"/>
                  </a:ext>
                </a:extLst>
              </p:cNvPr>
              <p:cNvSpPr/>
              <p:nvPr/>
            </p:nvSpPr>
            <p:spPr>
              <a:xfrm>
                <a:off x="762785" y="984440"/>
                <a:ext cx="385296" cy="356040"/>
              </a:xfrm>
              <a:prstGeom prst="roundRect">
                <a:avLst>
                  <a:gd name="adj" fmla="val 5576"/>
                </a:avLst>
              </a:prstGeom>
              <a:solidFill>
                <a:srgbClr val="3333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7</a:t>
                </a:r>
                <a:endParaRPr lang="zh-TW" altLang="en-US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endParaRPr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D193004-82B2-456D-4312-4F4CBDE62824}"/>
                  </a:ext>
                </a:extLst>
              </p:cNvPr>
              <p:cNvSpPr txBox="1"/>
              <p:nvPr/>
            </p:nvSpPr>
            <p:spPr>
              <a:xfrm>
                <a:off x="1148081" y="899615"/>
                <a:ext cx="7994012" cy="537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8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</a:rPr>
                  <a:t>模擬次數</a:t>
                </a:r>
                <a:endParaRPr lang="zh-TW" altLang="en-US" sz="2800" dirty="0">
                  <a:solidFill>
                    <a:srgbClr val="3333B3"/>
                  </a:solidFill>
                </a:endParaRPr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D51B252-3A6D-A3B9-74A4-E67A9AFD3AE5}"/>
                  </a:ext>
                </a:extLst>
              </p:cNvPr>
              <p:cNvSpPr txBox="1"/>
              <p:nvPr/>
            </p:nvSpPr>
            <p:spPr>
              <a:xfrm>
                <a:off x="759884" y="1531278"/>
                <a:ext cx="10672235" cy="1900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R=200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，                  與             各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200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次</a:t>
                </a: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在每次模擬中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  <a:sym typeface="Wingdings" panose="05000000000000000000" pitchFamily="2" charset="2"/>
                  </a:rPr>
                  <a:t>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空間網格座標固定 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  <a:sym typeface="Wingdings" panose="05000000000000000000" pitchFamily="2" charset="2"/>
                  </a:rPr>
                  <a:t>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真實係數固定 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  <a:sym typeface="Wingdings" panose="05000000000000000000" pitchFamily="2" charset="2"/>
                  </a:rPr>
                  <a:t>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解釋變數重新生成 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  <a:sym typeface="Wingdings" panose="05000000000000000000" pitchFamily="2" charset="2"/>
                  </a:rPr>
                  <a:t>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誤差重新生成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</a:t>
                </a: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  <a:sym typeface="Wingdings" panose="05000000000000000000" pitchFamily="2" charset="2"/>
                  </a:rPr>
                  <a:t>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反應變數重新計算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  <a:sym typeface="Wingdings" panose="05000000000000000000" pitchFamily="2" charset="2"/>
                  </a:rPr>
                  <a:t>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GWR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重新用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LOOCV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選擇帶寬 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  <a:sym typeface="Wingdings" panose="05000000000000000000" pitchFamily="2" charset="2"/>
                  </a:rPr>
                  <a:t>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GWR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重新估計所有迴歸係數</a:t>
                </a:r>
              </a:p>
            </p:txBody>
          </p:sp>
        </p:grpSp>
        <p:pic>
          <p:nvPicPr>
            <p:cNvPr id="2" name="圖片 1" descr="\documentclass{article}&#10;\usepackage{amsmath}&#10;\pagestyle{empty}&#10;\begin{document}&#10;&#10;&#10;\[\tau^{2*}=0.001\]&#10;&#10;\end{document}" title="IguanaTex Picture Display">
              <a:extLst>
                <a:ext uri="{FF2B5EF4-FFF2-40B4-BE49-F238E27FC236}">
                  <a16:creationId xmlns:a16="http://schemas.microsoft.com/office/drawing/2014/main" id="{3B293D56-9CAE-94EE-3718-4D2461FE9A4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1040" y="1944669"/>
              <a:ext cx="1243428" cy="228571"/>
            </a:xfrm>
            <a:prstGeom prst="rect">
              <a:avLst/>
            </a:prstGeom>
          </p:spPr>
        </p:pic>
        <p:pic>
          <p:nvPicPr>
            <p:cNvPr id="6" name="圖片 5" descr="\documentclass{article}&#10;\usepackage{amsmath}&#10;\pagestyle{empty}&#10;\begin{document}&#10;&#10;&#10;\[\tau^{2*}=1\]&#10;&#10;\end{document}" title="IguanaTex Picture Display">
              <a:extLst>
                <a:ext uri="{FF2B5EF4-FFF2-40B4-BE49-F238E27FC236}">
                  <a16:creationId xmlns:a16="http://schemas.microsoft.com/office/drawing/2014/main" id="{6FB7BF4C-C3E3-EC2C-3DD2-9DE9B923DB1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4701" y="1944669"/>
              <a:ext cx="793905" cy="225524"/>
            </a:xfrm>
            <a:prstGeom prst="rect">
              <a:avLst/>
            </a:prstGeom>
          </p:spPr>
        </p:pic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72125580-1CDF-43DC-5173-B0FEED13FAB1}"/>
              </a:ext>
            </a:extLst>
          </p:cNvPr>
          <p:cNvGrpSpPr/>
          <p:nvPr/>
        </p:nvGrpSpPr>
        <p:grpSpPr>
          <a:xfrm>
            <a:off x="408980" y="3896312"/>
            <a:ext cx="11374037" cy="2411756"/>
            <a:chOff x="408982" y="3969991"/>
            <a:chExt cx="11374037" cy="2411756"/>
          </a:xfrm>
        </p:grpSpPr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DE690ECF-2BC3-D821-C2E6-4E624302528B}"/>
                </a:ext>
              </a:extLst>
            </p:cNvPr>
            <p:cNvGrpSpPr/>
            <p:nvPr/>
          </p:nvGrpSpPr>
          <p:grpSpPr>
            <a:xfrm>
              <a:off x="408982" y="3969991"/>
              <a:ext cx="11374037" cy="2411756"/>
              <a:chOff x="408982" y="872405"/>
              <a:chExt cx="11374037" cy="2411756"/>
            </a:xfrm>
          </p:grpSpPr>
          <p:sp>
            <p:nvSpPr>
              <p:cNvPr id="35" name="矩形: 圓角 34">
                <a:extLst>
                  <a:ext uri="{FF2B5EF4-FFF2-40B4-BE49-F238E27FC236}">
                    <a16:creationId xmlns:a16="http://schemas.microsoft.com/office/drawing/2014/main" id="{8258607A-38B1-0784-01B3-4D8C6431D035}"/>
                  </a:ext>
                </a:extLst>
              </p:cNvPr>
              <p:cNvSpPr/>
              <p:nvPr/>
            </p:nvSpPr>
            <p:spPr>
              <a:xfrm>
                <a:off x="408982" y="872405"/>
                <a:ext cx="11374037" cy="2411756"/>
              </a:xfrm>
              <a:prstGeom prst="roundRect">
                <a:avLst>
                  <a:gd name="adj" fmla="val 5576"/>
                </a:avLst>
              </a:prstGeom>
              <a:solidFill>
                <a:srgbClr val="F3F3FB"/>
              </a:solidFill>
              <a:ln>
                <a:solidFill>
                  <a:srgbClr val="3333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B614FB4A-C95F-5961-52B9-1C0844A4A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884" y="1427486"/>
                <a:ext cx="10672235" cy="0"/>
              </a:xfrm>
              <a:prstGeom prst="line">
                <a:avLst/>
              </a:prstGeom>
              <a:ln w="19050">
                <a:solidFill>
                  <a:srgbClr val="3333B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矩形: 圓角 36">
                <a:extLst>
                  <a:ext uri="{FF2B5EF4-FFF2-40B4-BE49-F238E27FC236}">
                    <a16:creationId xmlns:a16="http://schemas.microsoft.com/office/drawing/2014/main" id="{B0A6CB6A-3D5D-DB5E-E3C6-FE19BB4F2A49}"/>
                  </a:ext>
                </a:extLst>
              </p:cNvPr>
              <p:cNvSpPr/>
              <p:nvPr/>
            </p:nvSpPr>
            <p:spPr>
              <a:xfrm>
                <a:off x="762785" y="984440"/>
                <a:ext cx="385296" cy="356040"/>
              </a:xfrm>
              <a:prstGeom prst="roundRect">
                <a:avLst>
                  <a:gd name="adj" fmla="val 5576"/>
                </a:avLst>
              </a:prstGeom>
              <a:solidFill>
                <a:srgbClr val="3333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8</a:t>
                </a:r>
                <a:endParaRPr lang="zh-TW" altLang="en-US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endParaRPr>
              </a:p>
            </p:txBody>
          </p: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C80BD18C-ABD8-7B9E-276A-FDB8AEDF1254}"/>
                  </a:ext>
                </a:extLst>
              </p:cNvPr>
              <p:cNvSpPr txBox="1"/>
              <p:nvPr/>
            </p:nvSpPr>
            <p:spPr>
              <a:xfrm>
                <a:off x="1148081" y="899615"/>
                <a:ext cx="7994012" cy="537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8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</a:rPr>
                  <a:t>GWR </a:t>
                </a:r>
                <a:r>
                  <a:rPr lang="zh-TW" altLang="en-US" sz="28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</a:rPr>
                  <a:t>核函數設定</a:t>
                </a:r>
                <a:endParaRPr lang="zh-TW" altLang="en-US" sz="2800" dirty="0">
                  <a:solidFill>
                    <a:srgbClr val="3333B3"/>
                  </a:solidFill>
                </a:endParaRPr>
              </a:p>
            </p:txBody>
          </p: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44CB444-9995-D72F-8AC0-D0E5E930A517}"/>
                  </a:ext>
                </a:extLst>
              </p:cNvPr>
              <p:cNvSpPr txBox="1"/>
              <p:nvPr/>
            </p:nvSpPr>
            <p:spPr>
              <a:xfrm>
                <a:off x="759884" y="1531278"/>
                <a:ext cx="10672235" cy="1438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指數核函數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其中     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: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迴歸點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s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與觀測點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j 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的距離；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b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: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帶寬</a:t>
                </a: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</p:txBody>
          </p:sp>
        </p:grpSp>
        <p:pic>
          <p:nvPicPr>
            <p:cNvPr id="41" name="圖片 40" descr="\documentclass{article}&#10;\usepackage{amsmath}&#10;\pagestyle{empty}&#10;\begin{document}&#10;&#10;&#10;\[w_j(s)=exp(-\frac{d_{sj}}{b})\]&#10;&#10;\end{document}" title="IguanaTex Picture Display">
              <a:extLst>
                <a:ext uri="{FF2B5EF4-FFF2-40B4-BE49-F238E27FC236}">
                  <a16:creationId xmlns:a16="http://schemas.microsoft.com/office/drawing/2014/main" id="{A3B49AE1-B114-2758-3F17-8099B06F72D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2952" y="5035014"/>
              <a:ext cx="2086095" cy="522667"/>
            </a:xfrm>
            <a:prstGeom prst="rect">
              <a:avLst/>
            </a:prstGeom>
          </p:spPr>
        </p:pic>
        <p:pic>
          <p:nvPicPr>
            <p:cNvPr id="43" name="圖片 42" descr="\documentclass{article}&#10;\usepackage{amsmath}&#10;\pagestyle{empty}&#10;\begin{document}&#10;\[d_{sj}\]&#10;&#10;&#10;&#10;\end{document}" title="IguanaTex Picture Display">
              <a:extLst>
                <a:ext uri="{FF2B5EF4-FFF2-40B4-BE49-F238E27FC236}">
                  <a16:creationId xmlns:a16="http://schemas.microsoft.com/office/drawing/2014/main" id="{987CED3D-1819-A696-5E2C-3F2183A5938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7854" y="5739289"/>
              <a:ext cx="295619" cy="2499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871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E94AC-E3D9-F62A-4C3A-4F686982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77CB95E-39A0-4A8E-C328-D03FC117BBBE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E5E8C9-7715-422C-85D3-317D878F2B8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網格模擬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流程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DA027BD-2259-2CB5-72AD-D9E1C049B0BC}"/>
              </a:ext>
            </a:extLst>
          </p:cNvPr>
          <p:cNvSpPr/>
          <p:nvPr/>
        </p:nvSpPr>
        <p:spPr>
          <a:xfrm>
            <a:off x="188788" y="974033"/>
            <a:ext cx="3746718" cy="978411"/>
          </a:xfrm>
          <a:prstGeom prst="roundRect">
            <a:avLst>
              <a:gd name="adj" fmla="val 5576"/>
            </a:avLst>
          </a:prstGeom>
          <a:solidFill>
            <a:srgbClr val="F3F3FB"/>
          </a:solidFill>
          <a:ln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7E23243-D2E7-F57F-6835-B2650C39CB2D}"/>
              </a:ext>
            </a:extLst>
          </p:cNvPr>
          <p:cNvSpPr/>
          <p:nvPr/>
        </p:nvSpPr>
        <p:spPr>
          <a:xfrm>
            <a:off x="420125" y="1285218"/>
            <a:ext cx="507762" cy="356040"/>
          </a:xfrm>
          <a:prstGeom prst="roundRect">
            <a:avLst>
              <a:gd name="adj" fmla="val 5576"/>
            </a:avLst>
          </a:prstGeom>
          <a:solidFill>
            <a:srgbClr val="333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9</a:t>
            </a:r>
            <a:endParaRPr lang="zh-TW" altLang="en-US" sz="2400" b="1" dirty="0">
              <a:latin typeface="標楷體" panose="03000509000000000000" pitchFamily="65" charset="-12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F482A8-3DB6-9A08-5CCB-2204AFD7405D}"/>
              </a:ext>
            </a:extLst>
          </p:cNvPr>
          <p:cNvSpPr txBox="1"/>
          <p:nvPr/>
        </p:nvSpPr>
        <p:spPr>
          <a:xfrm>
            <a:off x="927887" y="1232406"/>
            <a:ext cx="3007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帶寬選擇 </a:t>
            </a:r>
            <a:r>
              <a:rPr lang="en-US" altLang="zh-TW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LOOCV</a:t>
            </a:r>
            <a:r>
              <a:rPr lang="zh-TW" altLang="en-US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endParaRPr lang="zh-TW" altLang="en-US" sz="2400" dirty="0">
              <a:solidFill>
                <a:srgbClr val="3333B3"/>
              </a:solidFill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C07B766-4AEF-204F-8810-CE89E7E8F079}"/>
              </a:ext>
            </a:extLst>
          </p:cNvPr>
          <p:cNvSpPr/>
          <p:nvPr/>
        </p:nvSpPr>
        <p:spPr>
          <a:xfrm>
            <a:off x="8240310" y="982780"/>
            <a:ext cx="3746717" cy="960916"/>
          </a:xfrm>
          <a:prstGeom prst="roundRect">
            <a:avLst>
              <a:gd name="adj" fmla="val 5576"/>
            </a:avLst>
          </a:prstGeom>
          <a:solidFill>
            <a:srgbClr val="F3F3FB"/>
          </a:solidFill>
          <a:ln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638F0CC-E6EB-A261-DFCE-28176999D1B4}"/>
              </a:ext>
            </a:extLst>
          </p:cNvPr>
          <p:cNvSpPr/>
          <p:nvPr/>
        </p:nvSpPr>
        <p:spPr>
          <a:xfrm>
            <a:off x="8471649" y="1285218"/>
            <a:ext cx="507760" cy="356040"/>
          </a:xfrm>
          <a:prstGeom prst="roundRect">
            <a:avLst>
              <a:gd name="adj" fmla="val 5576"/>
            </a:avLst>
          </a:prstGeom>
          <a:solidFill>
            <a:srgbClr val="333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11</a:t>
            </a:r>
            <a:endParaRPr lang="zh-TW" altLang="en-US" sz="2400" b="1" dirty="0">
              <a:latin typeface="標楷體" panose="03000509000000000000" pitchFamily="65" charset="-12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84FD144-E830-5256-CFD2-44173B272E54}"/>
              </a:ext>
            </a:extLst>
          </p:cNvPr>
          <p:cNvSpPr txBox="1"/>
          <p:nvPr/>
        </p:nvSpPr>
        <p:spPr>
          <a:xfrm>
            <a:off x="8979409" y="1047740"/>
            <a:ext cx="30076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計算</a:t>
            </a:r>
            <a:r>
              <a:rPr lang="en-US" altLang="zh-TW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  <a:r>
              <a:rPr lang="zh-TW" altLang="en-US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係數標準誤與信賴區間</a:t>
            </a:r>
            <a:endParaRPr lang="zh-TW" altLang="en-US" sz="2400" dirty="0">
              <a:solidFill>
                <a:srgbClr val="3333B3"/>
              </a:solidFill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157CBD5-B90F-D7E8-5352-3296F1F8D3C6}"/>
              </a:ext>
            </a:extLst>
          </p:cNvPr>
          <p:cNvSpPr/>
          <p:nvPr/>
        </p:nvSpPr>
        <p:spPr>
          <a:xfrm>
            <a:off x="4234736" y="986735"/>
            <a:ext cx="3706343" cy="953007"/>
          </a:xfrm>
          <a:prstGeom prst="roundRect">
            <a:avLst>
              <a:gd name="adj" fmla="val 5576"/>
            </a:avLst>
          </a:prstGeom>
          <a:solidFill>
            <a:srgbClr val="F3F3FB"/>
          </a:solidFill>
          <a:ln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B62F802-1C66-5F0E-D6FB-973F980CFA59}"/>
              </a:ext>
            </a:extLst>
          </p:cNvPr>
          <p:cNvSpPr/>
          <p:nvPr/>
        </p:nvSpPr>
        <p:spPr>
          <a:xfrm>
            <a:off x="4425699" y="1285218"/>
            <a:ext cx="507762" cy="356040"/>
          </a:xfrm>
          <a:prstGeom prst="roundRect">
            <a:avLst>
              <a:gd name="adj" fmla="val 5576"/>
            </a:avLst>
          </a:prstGeom>
          <a:solidFill>
            <a:srgbClr val="333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10</a:t>
            </a:r>
            <a:endParaRPr lang="zh-TW" altLang="en-US" sz="2400" b="1" dirty="0">
              <a:latin typeface="標楷體" panose="03000509000000000000" pitchFamily="65" charset="-12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D60F888-3CD8-D27E-3130-0826963EF4C9}"/>
              </a:ext>
            </a:extLst>
          </p:cNvPr>
          <p:cNvSpPr txBox="1"/>
          <p:nvPr/>
        </p:nvSpPr>
        <p:spPr>
          <a:xfrm>
            <a:off x="4953648" y="1232406"/>
            <a:ext cx="2967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配適 </a:t>
            </a:r>
            <a:r>
              <a:rPr lang="en-US" altLang="zh-TW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  <a:r>
              <a:rPr lang="zh-TW" altLang="en-US" sz="24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 模型</a:t>
            </a:r>
            <a:endParaRPr lang="zh-TW" altLang="en-US" sz="2400" dirty="0">
              <a:solidFill>
                <a:srgbClr val="3333B3"/>
              </a:solidFill>
            </a:endParaRPr>
          </a:p>
        </p:txBody>
      </p: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51B25852-412F-C7E7-1481-311AF32F48E4}"/>
              </a:ext>
            </a:extLst>
          </p:cNvPr>
          <p:cNvGrpSpPr/>
          <p:nvPr/>
        </p:nvGrpSpPr>
        <p:grpSpPr>
          <a:xfrm>
            <a:off x="188788" y="2061430"/>
            <a:ext cx="11798238" cy="4194012"/>
            <a:chOff x="81212" y="2057528"/>
            <a:chExt cx="11798238" cy="4194012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9D717FC1-A86D-B0EE-9D39-62647D925C04}"/>
                </a:ext>
              </a:extLst>
            </p:cNvPr>
            <p:cNvGrpSpPr/>
            <p:nvPr/>
          </p:nvGrpSpPr>
          <p:grpSpPr>
            <a:xfrm>
              <a:off x="81212" y="2057528"/>
              <a:ext cx="11798238" cy="4194012"/>
              <a:chOff x="408983" y="872405"/>
              <a:chExt cx="11798238" cy="4194012"/>
            </a:xfrm>
          </p:grpSpPr>
          <p:sp>
            <p:nvSpPr>
              <p:cNvPr id="28" name="矩形: 圓角 27">
                <a:extLst>
                  <a:ext uri="{FF2B5EF4-FFF2-40B4-BE49-F238E27FC236}">
                    <a16:creationId xmlns:a16="http://schemas.microsoft.com/office/drawing/2014/main" id="{573C40C3-A0EE-3252-E738-BB7EBAEF5BF7}"/>
                  </a:ext>
                </a:extLst>
              </p:cNvPr>
              <p:cNvSpPr/>
              <p:nvPr/>
            </p:nvSpPr>
            <p:spPr>
              <a:xfrm>
                <a:off x="408983" y="872405"/>
                <a:ext cx="11798238" cy="4194012"/>
              </a:xfrm>
              <a:prstGeom prst="roundRect">
                <a:avLst>
                  <a:gd name="adj" fmla="val 2974"/>
                </a:avLst>
              </a:prstGeom>
              <a:solidFill>
                <a:srgbClr val="F3F3FB"/>
              </a:solidFill>
              <a:ln>
                <a:solidFill>
                  <a:srgbClr val="3333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1A6292C1-F4DD-F0C0-DF62-EB3CC82D34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321" y="1427486"/>
                <a:ext cx="11225026" cy="9210"/>
              </a:xfrm>
              <a:prstGeom prst="line">
                <a:avLst/>
              </a:prstGeom>
              <a:ln w="19050">
                <a:solidFill>
                  <a:srgbClr val="3333B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矩形: 圓角 30">
                <a:extLst>
                  <a:ext uri="{FF2B5EF4-FFF2-40B4-BE49-F238E27FC236}">
                    <a16:creationId xmlns:a16="http://schemas.microsoft.com/office/drawing/2014/main" id="{4C6A11F5-B7C9-CEAF-F141-DD4CA49DCC50}"/>
                  </a:ext>
                </a:extLst>
              </p:cNvPr>
              <p:cNvSpPr/>
              <p:nvPr/>
            </p:nvSpPr>
            <p:spPr>
              <a:xfrm>
                <a:off x="640321" y="984440"/>
                <a:ext cx="507760" cy="356040"/>
              </a:xfrm>
              <a:prstGeom prst="roundRect">
                <a:avLst>
                  <a:gd name="adj" fmla="val 5576"/>
                </a:avLst>
              </a:prstGeom>
              <a:solidFill>
                <a:srgbClr val="3333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CMU Serif" panose="02000603000000000000" pitchFamily="2" charset="0"/>
                  </a:rPr>
                  <a:t>12</a:t>
                </a:r>
                <a:endParaRPr lang="zh-TW" altLang="en-US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endParaRPr>
              </a:p>
            </p:txBody>
          </p: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E89D35B-5557-5A02-03EA-D15D86DD736F}"/>
                  </a:ext>
                </a:extLst>
              </p:cNvPr>
              <p:cNvSpPr txBox="1"/>
              <p:nvPr/>
            </p:nvSpPr>
            <p:spPr>
              <a:xfrm>
                <a:off x="1148081" y="899615"/>
                <a:ext cx="7994012" cy="537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8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</a:rPr>
                  <a:t>信賴區間涵蓋率計算</a:t>
                </a:r>
                <a:endParaRPr lang="zh-TW" altLang="en-US" sz="2800" dirty="0">
                  <a:solidFill>
                    <a:srgbClr val="3333B3"/>
                  </a:solidFill>
                </a:endParaRPr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975671B-E0E5-E9D1-3288-82CFED5EAEF9}"/>
                  </a:ext>
                </a:extLst>
              </p:cNvPr>
              <p:cNvSpPr txBox="1"/>
              <p:nvPr/>
            </p:nvSpPr>
            <p:spPr>
              <a:xfrm>
                <a:off x="759885" y="1531278"/>
                <a:ext cx="11105462" cy="3285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先計算每個地點在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200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次模擬的涵蓋率，再對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100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個地點取平均</a:t>
                </a: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每次模擬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r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，對每個位置   ，每個係數         ，檢查是否落在該次模擬得到的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95%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信賴區間內</a:t>
                </a: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對特定位置涵蓋率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將同一位置在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100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個位置中的 </a:t>
                </a:r>
                <a:r>
                  <a:rPr lang="en-US" altLang="zh-TW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CP</a:t>
                </a:r>
                <a:r>
                  <a:rPr lang="zh-TW" altLang="en-US" sz="2000" dirty="0">
                    <a:latin typeface="CMU Serif" panose="02000603000000000000" pitchFamily="2" charset="0"/>
                    <a:ea typeface="標楷體" panose="03000509000000000000" pitchFamily="65" charset="-120"/>
                  </a:rPr>
                  <a:t> 取平均，得到論文結果中的</a:t>
                </a:r>
                <a:endPara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endParaRPr>
              </a:p>
            </p:txBody>
          </p:sp>
        </p:grpSp>
        <p:pic>
          <p:nvPicPr>
            <p:cNvPr id="50" name="圖片 49" descr="\documentclass{article}&#10;\usepackage{amsmath}&#10;\pagestyle{empty}&#10;\begin{document}&#10;\[s_i\]&#10;&#10;&#10;&#10;\end{document}" title="IguanaTex Picture Display">
              <a:extLst>
                <a:ext uri="{FF2B5EF4-FFF2-40B4-BE49-F238E27FC236}">
                  <a16:creationId xmlns:a16="http://schemas.microsoft.com/office/drawing/2014/main" id="{BB6AB912-CA5E-A6E9-8785-EF875672605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6823" y="3429000"/>
              <a:ext cx="169143" cy="150857"/>
            </a:xfrm>
            <a:prstGeom prst="rect">
              <a:avLst/>
            </a:prstGeom>
          </p:spPr>
        </p:pic>
        <p:pic>
          <p:nvPicPr>
            <p:cNvPr id="52" name="圖片 51" descr="\documentclass{article}&#10;\usepackage{amsmath}&#10;\pagestyle{empty}&#10;\begin{document}&#10;&#10;\[\beta_k^*(s_i)\]&#10;&#10;&#10;\end{document}" title="IguanaTex Picture Display">
              <a:extLst>
                <a:ext uri="{FF2B5EF4-FFF2-40B4-BE49-F238E27FC236}">
                  <a16:creationId xmlns:a16="http://schemas.microsoft.com/office/drawing/2014/main" id="{6ED87CF5-178C-1CCE-A11D-FFF5755E669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4002" y="3360262"/>
              <a:ext cx="641524" cy="254476"/>
            </a:xfrm>
            <a:prstGeom prst="rect">
              <a:avLst/>
            </a:prstGeom>
          </p:spPr>
        </p:pic>
        <p:pic>
          <p:nvPicPr>
            <p:cNvPr id="54" name="圖片 53" descr="\documentclass{article}&#10;\usepackage{amsmath}&#10;\pagestyle{empty}&#10;\begin{document}&#10;&#10;\[I_{ikr}= \begin{cases}&#10;1,\beta_k^*(s_i)\in CI_{ikr}^{95\%}\\&#10;0, ow&#10;\end{cases}\]&#10;&#10;&#10;\end{document}" title="IguanaTex Picture Display">
              <a:extLst>
                <a:ext uri="{FF2B5EF4-FFF2-40B4-BE49-F238E27FC236}">
                  <a16:creationId xmlns:a16="http://schemas.microsoft.com/office/drawing/2014/main" id="{34F10406-8C94-F959-8570-1A8706DAB31F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7855" y="3821261"/>
              <a:ext cx="2844952" cy="758857"/>
            </a:xfrm>
            <a:prstGeom prst="rect">
              <a:avLst/>
            </a:prstGeom>
          </p:spPr>
        </p:pic>
        <p:pic>
          <p:nvPicPr>
            <p:cNvPr id="56" name="圖片 55" descr="\documentclass{article}&#10;\usepackage{amsmath}&#10;\pagestyle{empty}&#10;\begin{document}&#10;&#10;\[CP_{ik}=\frac{1}{200}\sum_{r=1}^{200}I_{ikr}\]&#10;&#10;&#10;\end{document}" title="IguanaTex Picture Display">
              <a:extLst>
                <a:ext uri="{FF2B5EF4-FFF2-40B4-BE49-F238E27FC236}">
                  <a16:creationId xmlns:a16="http://schemas.microsoft.com/office/drawing/2014/main" id="{9825B8EE-A7A0-98BC-B4F7-B15C042C716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1474" y="4786641"/>
              <a:ext cx="2157714" cy="729905"/>
            </a:xfrm>
            <a:prstGeom prst="rect">
              <a:avLst/>
            </a:prstGeom>
          </p:spPr>
        </p:pic>
        <p:pic>
          <p:nvPicPr>
            <p:cNvPr id="58" name="圖片 57" descr="\documentclass{article}&#10;\usepackage{amsmath}&#10;\pagestyle{empty}&#10;\begin{document}&#10;\[MeanCP(\beta_k)\]&#10;&#10;\end{document}" title="IguanaTex Picture Display">
              <a:extLst>
                <a:ext uri="{FF2B5EF4-FFF2-40B4-BE49-F238E27FC236}">
                  <a16:creationId xmlns:a16="http://schemas.microsoft.com/office/drawing/2014/main" id="{159A7DEC-BDA2-D798-84FB-4114946C22B4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6447" y="5661123"/>
              <a:ext cx="1502476" cy="254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17788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DCB0-E1C4-438A-99F5-5E0E68FD6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6015FBA-B7FD-3F37-1395-B04CA9C7EFAE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6D3468-1826-A3AE-8933-D3FE335E3EC8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網格模擬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流程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D0D6B607-1B94-ABAC-FBF7-95FADAA06A30}"/>
              </a:ext>
            </a:extLst>
          </p:cNvPr>
          <p:cNvGrpSpPr/>
          <p:nvPr/>
        </p:nvGrpSpPr>
        <p:grpSpPr>
          <a:xfrm>
            <a:off x="196881" y="1380293"/>
            <a:ext cx="11798238" cy="4097414"/>
            <a:chOff x="408983" y="872405"/>
            <a:chExt cx="11798238" cy="4097414"/>
          </a:xfrm>
        </p:grpSpPr>
        <p:sp>
          <p:nvSpPr>
            <p:cNvPr id="28" name="矩形: 圓角 27">
              <a:extLst>
                <a:ext uri="{FF2B5EF4-FFF2-40B4-BE49-F238E27FC236}">
                  <a16:creationId xmlns:a16="http://schemas.microsoft.com/office/drawing/2014/main" id="{AE9C27AC-C6F5-513C-42D3-C2CBD8CBEFFC}"/>
                </a:ext>
              </a:extLst>
            </p:cNvPr>
            <p:cNvSpPr/>
            <p:nvPr/>
          </p:nvSpPr>
          <p:spPr>
            <a:xfrm>
              <a:off x="408983" y="872405"/>
              <a:ext cx="11798238" cy="4097414"/>
            </a:xfrm>
            <a:prstGeom prst="roundRect">
              <a:avLst>
                <a:gd name="adj" fmla="val 2974"/>
              </a:avLst>
            </a:prstGeom>
            <a:solidFill>
              <a:srgbClr val="F3F3FB"/>
            </a:solidFill>
            <a:ln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62B693CD-712F-CE8F-DDEC-ECE9DB04CAFB}"/>
                </a:ext>
              </a:extLst>
            </p:cNvPr>
            <p:cNvCxnSpPr>
              <a:cxnSpLocks/>
            </p:cNvCxnSpPr>
            <p:nvPr/>
          </p:nvCxnSpPr>
          <p:spPr>
            <a:xfrm>
              <a:off x="640321" y="1427486"/>
              <a:ext cx="11225026" cy="9210"/>
            </a:xfrm>
            <a:prstGeom prst="line">
              <a:avLst/>
            </a:prstGeom>
            <a:ln w="19050">
              <a:solidFill>
                <a:srgbClr val="3333B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20B64BEE-9EBF-3FE5-C79F-8588F2336DFC}"/>
                </a:ext>
              </a:extLst>
            </p:cNvPr>
            <p:cNvSpPr/>
            <p:nvPr/>
          </p:nvSpPr>
          <p:spPr>
            <a:xfrm>
              <a:off x="640321" y="984440"/>
              <a:ext cx="507760" cy="356040"/>
            </a:xfrm>
            <a:prstGeom prst="roundRect">
              <a:avLst>
                <a:gd name="adj" fmla="val 5576"/>
              </a:avLst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latin typeface="標楷體" panose="03000509000000000000" pitchFamily="65" charset="-120"/>
                  <a:ea typeface="標楷體" panose="03000509000000000000" pitchFamily="65" charset="-120"/>
                  <a:cs typeface="CMU Serif" panose="02000603000000000000" pitchFamily="2" charset="0"/>
                </a:rPr>
                <a:t>13</a:t>
              </a:r>
              <a:endPara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BD7E13A8-5829-640E-DEF7-0EA3970FD310}"/>
                </a:ext>
              </a:extLst>
            </p:cNvPr>
            <p:cNvSpPr txBox="1"/>
            <p:nvPr/>
          </p:nvSpPr>
          <p:spPr>
            <a:xfrm>
              <a:off x="1148081" y="899615"/>
              <a:ext cx="7994012" cy="53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8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</a:rPr>
                <a:t>RMSE</a:t>
              </a:r>
              <a:r>
                <a:rPr lang="zh-TW" altLang="en-US" sz="28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</a:rPr>
                <a:t>計算</a:t>
              </a:r>
              <a:endParaRPr lang="zh-TW" altLang="en-US" sz="2800" dirty="0">
                <a:solidFill>
                  <a:srgbClr val="3333B3"/>
                </a:solidFill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ED8DF381-342B-1140-EA65-4C9A2964ECD8}"/>
                </a:ext>
              </a:extLst>
            </p:cNvPr>
            <p:cNvSpPr txBox="1"/>
            <p:nvPr/>
          </p:nvSpPr>
          <p:spPr>
            <a:xfrm>
              <a:off x="759885" y="1531278"/>
              <a:ext cx="11105462" cy="340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對每次模擬，計算全部空間位置與係數的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RMSE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(100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個位置、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200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個係數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)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:</a:t>
              </a:r>
            </a:p>
            <a:p>
              <a:pPr>
                <a:lnSpc>
                  <a:spcPct val="150000"/>
                </a:lnSpc>
              </a:pP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  <a:p>
              <a:pPr>
                <a:lnSpc>
                  <a:spcPct val="150000"/>
                </a:lnSpc>
              </a:pP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  <a:p>
              <a:pPr>
                <a:lnSpc>
                  <a:spcPct val="150000"/>
                </a:lnSpc>
              </a:pP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再將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200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次模擬的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RMSE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取平均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:</a:t>
              </a:r>
            </a:p>
            <a:p>
              <a:pPr>
                <a:lnSpc>
                  <a:spcPct val="150000"/>
                </a:lnSpc>
              </a:pP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  <a:p>
              <a:pPr>
                <a:lnSpc>
                  <a:spcPct val="200000"/>
                </a:lnSpc>
              </a:pP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將此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RMSE 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平均作為 </a:t>
              </a:r>
              <a:r>
                <a:rPr lang="en-US" altLang="zh-TW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GWR</a:t>
              </a:r>
              <a:r>
                <a:rPr lang="zh-TW" altLang="en-US" sz="2000" dirty="0">
                  <a:latin typeface="CMU Serif" panose="02000603000000000000" pitchFamily="2" charset="0"/>
                  <a:ea typeface="標楷體" panose="03000509000000000000" pitchFamily="65" charset="-120"/>
                </a:rPr>
                <a:t> 係數準確度的衡量指標</a:t>
              </a:r>
              <a:endPara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endParaRPr>
            </a:p>
          </p:txBody>
        </p:sp>
      </p:grpSp>
      <p:pic>
        <p:nvPicPr>
          <p:cNvPr id="6" name="圖片 5" descr="\documentclass{article}&#10;\usepackage{amsmath}&#10;\pagestyle{empty}&#10;\begin{document}&#10;&#10;\[RMSE_r=\sqrt{\frac{1}{200}\sum_{i=1}^{100}\sum_{k=1}^2[\hat{\beta}_{k,r}(s_i)-\beta_k^*(s_i)]^2}\]&#10;&#10;&#10;\end{document}" title="IguanaTex Picture Display">
            <a:extLst>
              <a:ext uri="{FF2B5EF4-FFF2-40B4-BE49-F238E27FC236}">
                <a16:creationId xmlns:a16="http://schemas.microsoft.com/office/drawing/2014/main" id="{22BFC738-821D-3E88-4FE9-14F59B6159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095" y="2767211"/>
            <a:ext cx="4851809" cy="911238"/>
          </a:xfrm>
          <a:prstGeom prst="rect">
            <a:avLst/>
          </a:prstGeom>
        </p:spPr>
      </p:pic>
      <p:pic>
        <p:nvPicPr>
          <p:cNvPr id="15" name="圖片 14" descr="\documentclass{article}&#10;\usepackage{amsmath}&#10;\pagestyle{empty}&#10;\begin{document}&#10;&#10;\[\overline{RMSE}=\frac{1}{200}RMSE_r\]&#10;&#10;&#10;\end{document}" title="IguanaTex Picture Display">
            <a:extLst>
              <a:ext uri="{FF2B5EF4-FFF2-40B4-BE49-F238E27FC236}">
                <a16:creationId xmlns:a16="http://schemas.microsoft.com/office/drawing/2014/main" id="{04C56764-1330-EED0-CB4A-C8F40230750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475" y="4347593"/>
            <a:ext cx="2531047" cy="5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197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2C6AF-7934-68A9-F7F9-F1D04B4C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1638388-2CC7-49A5-51FB-7355DF141FA0}"/>
              </a:ext>
            </a:extLst>
          </p:cNvPr>
          <p:cNvSpPr/>
          <p:nvPr/>
        </p:nvSpPr>
        <p:spPr>
          <a:xfrm>
            <a:off x="0" y="6642846"/>
            <a:ext cx="12192000" cy="2151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89337-1567-69ED-6169-B5F37D1B8ED8}"/>
              </a:ext>
            </a:extLst>
          </p:cNvPr>
          <p:cNvSpPr/>
          <p:nvPr/>
        </p:nvSpPr>
        <p:spPr>
          <a:xfrm>
            <a:off x="0" y="0"/>
            <a:ext cx="12192000" cy="520766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網格模擬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程式碼架構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39DAE8C1-D18F-1615-14FC-9622453554EB}"/>
              </a:ext>
            </a:extLst>
          </p:cNvPr>
          <p:cNvGrpSpPr/>
          <p:nvPr/>
        </p:nvGrpSpPr>
        <p:grpSpPr>
          <a:xfrm>
            <a:off x="141337" y="614187"/>
            <a:ext cx="4401670" cy="336176"/>
            <a:chOff x="2376723" y="1192307"/>
            <a:chExt cx="4401670" cy="336176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8BC4FAC-9053-40D0-138C-99F4F7BEAAF4}"/>
                </a:ext>
              </a:extLst>
            </p:cNvPr>
            <p:cNvSpPr/>
            <p:nvPr/>
          </p:nvSpPr>
          <p:spPr>
            <a:xfrm>
              <a:off x="2376723" y="1192307"/>
              <a:ext cx="4401670" cy="336176"/>
            </a:xfrm>
            <a:prstGeom prst="roundRect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主要函數與流程</a:t>
              </a:r>
            </a:p>
          </p:txBody>
        </p:sp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1D56A549-0B81-40B8-7999-16C92CD5A913}"/>
                </a:ext>
              </a:extLst>
            </p:cNvPr>
            <p:cNvSpPr/>
            <p:nvPr/>
          </p:nvSpPr>
          <p:spPr>
            <a:xfrm>
              <a:off x="2462414" y="1234889"/>
              <a:ext cx="251012" cy="25101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CMU Serif" panose="02000603000000000000" pitchFamily="2" charset="0"/>
                </a:rPr>
                <a:t>1</a:t>
              </a:r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MU Serif" panose="02000603000000000000" pitchFamily="2" charset="0"/>
              </a:endParaRPr>
            </a:p>
          </p:txBody>
        </p:sp>
      </p:grp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4E3D17E-C2B7-E8AF-270E-BFDDAF92B244}"/>
              </a:ext>
            </a:extLst>
          </p:cNvPr>
          <p:cNvSpPr/>
          <p:nvPr/>
        </p:nvSpPr>
        <p:spPr>
          <a:xfrm>
            <a:off x="287805" y="1052075"/>
            <a:ext cx="2673582" cy="2114977"/>
          </a:xfrm>
          <a:prstGeom prst="roundRect">
            <a:avLst>
              <a:gd name="adj" fmla="val 5731"/>
            </a:avLst>
          </a:prstGeom>
          <a:solidFill>
            <a:schemeClr val="bg1"/>
          </a:solidFill>
          <a:ln w="19050"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300"/>
              </a:spcBef>
            </a:pP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en-US" altLang="zh-TW" sz="1400" b="1" spc="-50" dirty="0" err="1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global_parameter_config</a:t>
            </a: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設定模擬參數</a:t>
            </a:r>
            <a:endParaRPr lang="en-US" altLang="zh-TW" sz="12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 * 10 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空間網格 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(n =100)</a:t>
            </a: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en-US" altLang="zh-TW" sz="1200" b="1" spc="-50" dirty="0" err="1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raw_dim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=10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PCA 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後保留 </a:t>
            </a:r>
            <a:endParaRPr lang="en-US" altLang="zh-TW" sz="12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2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個解釋變數</a:t>
            </a:r>
            <a:endParaRPr lang="en-US" altLang="zh-TW" sz="12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sims=200 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b="1" spc="-50" dirty="0" err="1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error_var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={0.001, 1}</a:t>
            </a: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95% CI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seed = 123</a:t>
            </a: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GWR : 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無截距、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exponential </a:t>
            </a: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kernel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fixed bandwidth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LOOCV 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96983A9-9D04-2FF0-E70F-592CDE1BA4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7" b="9668"/>
          <a:stretch>
            <a:fillRect/>
          </a:stretch>
        </p:blipFill>
        <p:spPr>
          <a:xfrm>
            <a:off x="0" y="7062148"/>
            <a:ext cx="12192000" cy="6119533"/>
          </a:xfrm>
          <a:prstGeom prst="rect">
            <a:avLst/>
          </a:prstGeom>
        </p:spPr>
      </p:pic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9CAB897-AB99-327D-091A-0C302AC333C0}"/>
              </a:ext>
            </a:extLst>
          </p:cNvPr>
          <p:cNvSpPr/>
          <p:nvPr/>
        </p:nvSpPr>
        <p:spPr>
          <a:xfrm>
            <a:off x="3086842" y="1052074"/>
            <a:ext cx="2242509" cy="2114766"/>
          </a:xfrm>
          <a:prstGeom prst="roundRect">
            <a:avLst>
              <a:gd name="adj" fmla="val 5731"/>
            </a:avLst>
          </a:prstGeom>
          <a:solidFill>
            <a:schemeClr val="bg1"/>
          </a:solidFill>
          <a:ln w="19050"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300"/>
              </a:spcBef>
            </a:pP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en-US" altLang="zh-TW" sz="1400" b="1" spc="-50" dirty="0" err="1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grid_setup</a:t>
            </a: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(parameter)</a:t>
            </a:r>
          </a:p>
          <a:p>
            <a:pPr>
              <a:spcBef>
                <a:spcPts val="300"/>
              </a:spcBef>
            </a:pP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建立 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en-US" altLang="zh-TW" sz="1200" b="1" spc="-50" dirty="0" err="1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x,y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 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座標網格</a:t>
            </a:r>
          </a:p>
          <a:p>
            <a:pPr>
              <a:spcBef>
                <a:spcPts val="300"/>
              </a:spcBef>
            </a:pP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取出所有 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en-US" altLang="zh-TW" sz="1200" b="1" spc="-50" dirty="0" err="1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x,y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 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座標</a:t>
            </a:r>
          </a:p>
          <a:p>
            <a:pPr>
              <a:spcBef>
                <a:spcPts val="300"/>
              </a:spcBef>
            </a:pP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計算距離矩陣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B7608DA-43AE-5502-692C-E5368690CE7D}"/>
              </a:ext>
            </a:extLst>
          </p:cNvPr>
          <p:cNvSpPr/>
          <p:nvPr/>
        </p:nvSpPr>
        <p:spPr>
          <a:xfrm>
            <a:off x="5454807" y="1052074"/>
            <a:ext cx="2108805" cy="2114766"/>
          </a:xfrm>
          <a:prstGeom prst="roundRect">
            <a:avLst>
              <a:gd name="adj" fmla="val 5731"/>
            </a:avLst>
          </a:prstGeom>
          <a:solidFill>
            <a:schemeClr val="bg1"/>
          </a:solidFill>
          <a:ln w="19050"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300"/>
              </a:spcBef>
            </a:pP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en-US" altLang="zh-TW" sz="1400" b="1" spc="-50" dirty="0" err="1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true_coef_setup</a:t>
            </a: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(grid)</a:t>
            </a:r>
          </a:p>
          <a:p>
            <a:pPr>
              <a:spcBef>
                <a:spcPts val="300"/>
              </a:spcBef>
            </a:pP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設定真實係數</a:t>
            </a:r>
          </a:p>
          <a:p>
            <a:pPr>
              <a:spcBef>
                <a:spcPts val="300"/>
              </a:spcBef>
            </a:pP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beta1_true=</a:t>
            </a:r>
            <a:r>
              <a:rPr lang="en-US" altLang="zh-TW" sz="1200" b="1" spc="-50" dirty="0" err="1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grid$x_coord</a:t>
            </a:r>
            <a:endParaRPr lang="en-US" altLang="zh-TW" sz="12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beta2_true=</a:t>
            </a:r>
            <a:r>
              <a:rPr lang="en-US" altLang="zh-TW" sz="1200" b="1" spc="-50" dirty="0" err="1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grid$y_coord</a:t>
            </a:r>
            <a:endParaRPr lang="en-US" altLang="zh-TW" sz="12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B77AF66-F58F-2701-F68A-0004E1619D64}"/>
              </a:ext>
            </a:extLst>
          </p:cNvPr>
          <p:cNvSpPr/>
          <p:nvPr/>
        </p:nvSpPr>
        <p:spPr>
          <a:xfrm>
            <a:off x="7689068" y="1052074"/>
            <a:ext cx="2108805" cy="2114765"/>
          </a:xfrm>
          <a:prstGeom prst="roundRect">
            <a:avLst>
              <a:gd name="adj" fmla="val 5731"/>
            </a:avLst>
          </a:prstGeom>
          <a:solidFill>
            <a:schemeClr val="bg1"/>
          </a:solidFill>
          <a:ln w="19050"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300"/>
              </a:spcBef>
            </a:pP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en-US" altLang="zh-TW" sz="1400" b="1" spc="-50" dirty="0" err="1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run_sim</a:t>
            </a: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(parameter, grid, </a:t>
            </a:r>
            <a:r>
              <a:rPr lang="en-US" altLang="zh-TW" sz="1400" b="1" spc="-50" dirty="0" err="1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true_coef</a:t>
            </a: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spcBef>
                <a:spcPts val="300"/>
              </a:spcBef>
            </a:pP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核心模擬函數</a:t>
            </a:r>
          </a:p>
          <a:p>
            <a:pPr>
              <a:spcBef>
                <a:spcPts val="300"/>
              </a:spcBef>
            </a:pP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外層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兩種誤差情境 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en-US" altLang="zh-TW" sz="1200" b="1" spc="-50" dirty="0" err="1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error_var</a:t>
            </a: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={0.001, 1})</a:t>
            </a: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zh-TW" altLang="en-US" sz="1200" b="1" spc="-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內層 </a:t>
            </a:r>
            <a:r>
              <a:rPr lang="en-US" altLang="zh-TW" sz="1200" b="1" spc="-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200" b="1" spc="-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每種情境模擬 </a:t>
            </a:r>
            <a:r>
              <a:rPr lang="en-US" altLang="zh-TW" sz="1200" b="1" spc="-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200 </a:t>
            </a:r>
            <a:r>
              <a:rPr lang="zh-TW" altLang="en-US" sz="1200" b="1" spc="-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3EB13A9E-A2CD-AE98-F008-45C8F9F349D0}"/>
              </a:ext>
            </a:extLst>
          </p:cNvPr>
          <p:cNvSpPr/>
          <p:nvPr/>
        </p:nvSpPr>
        <p:spPr>
          <a:xfrm>
            <a:off x="9923328" y="1052075"/>
            <a:ext cx="2082803" cy="2114764"/>
          </a:xfrm>
          <a:prstGeom prst="roundRect">
            <a:avLst>
              <a:gd name="adj" fmla="val 5731"/>
            </a:avLst>
          </a:prstGeom>
          <a:solidFill>
            <a:schemeClr val="bg1"/>
          </a:solidFill>
          <a:ln w="19050"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300"/>
              </a:spcBef>
            </a:pPr>
            <a:r>
              <a:rPr lang="en-US" altLang="zh-TW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14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輸出結果 </a:t>
            </a: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en-US" altLang="zh-TW" sz="1200" b="1" spc="-50" dirty="0" err="1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all_results</a:t>
            </a:r>
            <a:endParaRPr lang="en-US" altLang="zh-TW" sz="12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pPr>
              <a:spcBef>
                <a:spcPts val="300"/>
              </a:spcBef>
            </a:pPr>
            <a:r>
              <a:rPr lang="en-US" altLang="zh-TW" sz="12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 </a:t>
            </a:r>
            <a:r>
              <a:rPr lang="en-US" altLang="zh-TW" sz="1200" b="1" spc="-50" dirty="0" err="1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summary_table</a:t>
            </a:r>
            <a:endParaRPr lang="en-US" altLang="zh-TW" sz="12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BA1C23AA-7296-0ADA-9653-8F7B22018A09}"/>
              </a:ext>
            </a:extLst>
          </p:cNvPr>
          <p:cNvGrpSpPr/>
          <p:nvPr/>
        </p:nvGrpSpPr>
        <p:grpSpPr>
          <a:xfrm>
            <a:off x="141337" y="3335420"/>
            <a:ext cx="4401670" cy="336176"/>
            <a:chOff x="2376723" y="1192307"/>
            <a:chExt cx="4401670" cy="336176"/>
          </a:xfrm>
        </p:grpSpPr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BC02981B-7818-B49F-25B9-93A4D03DD907}"/>
                </a:ext>
              </a:extLst>
            </p:cNvPr>
            <p:cNvSpPr/>
            <p:nvPr/>
          </p:nvSpPr>
          <p:spPr>
            <a:xfrm>
              <a:off x="2376723" y="1192307"/>
              <a:ext cx="4401670" cy="336176"/>
            </a:xfrm>
            <a:prstGeom prst="roundRect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run_sim</a:t>
              </a:r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()</a:t>
              </a:r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內圈 </a:t>
              </a:r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200</a:t>
              </a:r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次模擬流程</a:t>
              </a: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ADC6064B-2F10-DA86-B486-2762AE7B21D7}"/>
                </a:ext>
              </a:extLst>
            </p:cNvPr>
            <p:cNvSpPr/>
            <p:nvPr/>
          </p:nvSpPr>
          <p:spPr>
            <a:xfrm>
              <a:off x="2462414" y="1234889"/>
              <a:ext cx="251012" cy="25101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CMU Serif" panose="02000603000000000000" pitchFamily="2" charset="0"/>
                </a:rPr>
                <a:t>2</a:t>
              </a:r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MU Serif" panose="02000603000000000000" pitchFamily="2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A5ABD20-1053-C5E5-F7DA-AD691463452C}"/>
              </a:ext>
            </a:extLst>
          </p:cNvPr>
          <p:cNvGrpSpPr/>
          <p:nvPr/>
        </p:nvGrpSpPr>
        <p:grpSpPr>
          <a:xfrm>
            <a:off x="287805" y="3726977"/>
            <a:ext cx="4591905" cy="283545"/>
            <a:chOff x="216088" y="3940509"/>
            <a:chExt cx="4591905" cy="283545"/>
          </a:xfrm>
        </p:grpSpPr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D3F8BC8E-748B-1ABD-DF01-E0B64263007E}"/>
                </a:ext>
              </a:extLst>
            </p:cNvPr>
            <p:cNvSpPr/>
            <p:nvPr/>
          </p:nvSpPr>
          <p:spPr>
            <a:xfrm>
              <a:off x="406323" y="3940509"/>
              <a:ext cx="4401670" cy="28354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產生 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* 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 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原始資料 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5CA0B7E1-F03E-5981-B57D-AF02BF84A8A8}"/>
                </a:ext>
              </a:extLst>
            </p:cNvPr>
            <p:cNvSpPr/>
            <p:nvPr/>
          </p:nvSpPr>
          <p:spPr>
            <a:xfrm>
              <a:off x="216088" y="3952129"/>
              <a:ext cx="251012" cy="251012"/>
            </a:xfrm>
            <a:prstGeom prst="ellipse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4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  <a:endParaRPr lang="zh-TW" altLang="en-US" sz="1400" b="1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711A67AC-825C-9DF6-5ED9-FEC9FFC9DF8F}"/>
              </a:ext>
            </a:extLst>
          </p:cNvPr>
          <p:cNvGrpSpPr/>
          <p:nvPr/>
        </p:nvGrpSpPr>
        <p:grpSpPr>
          <a:xfrm>
            <a:off x="287805" y="4097621"/>
            <a:ext cx="4591905" cy="283545"/>
            <a:chOff x="216088" y="3940509"/>
            <a:chExt cx="4591905" cy="283545"/>
          </a:xfrm>
        </p:grpSpPr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5D1982EC-29CF-8673-2CB9-003B3ABB0738}"/>
                </a:ext>
              </a:extLst>
            </p:cNvPr>
            <p:cNvSpPr/>
            <p:nvPr/>
          </p:nvSpPr>
          <p:spPr>
            <a:xfrm>
              <a:off x="406323" y="3940509"/>
              <a:ext cx="4401670" cy="28354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PCA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取前 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主成分作為</a:t>
              </a: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4B55034B-F45C-0AB2-9684-0C5BF69EECE7}"/>
                </a:ext>
              </a:extLst>
            </p:cNvPr>
            <p:cNvSpPr/>
            <p:nvPr/>
          </p:nvSpPr>
          <p:spPr>
            <a:xfrm>
              <a:off x="216088" y="3952129"/>
              <a:ext cx="251012" cy="251012"/>
            </a:xfrm>
            <a:prstGeom prst="ellipse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4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  <a:endParaRPr lang="zh-TW" altLang="en-US" sz="1400" b="1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7F0FC23E-9EA9-9FDA-49C1-8925BA7D6E4D}"/>
              </a:ext>
            </a:extLst>
          </p:cNvPr>
          <p:cNvGrpSpPr/>
          <p:nvPr/>
        </p:nvGrpSpPr>
        <p:grpSpPr>
          <a:xfrm>
            <a:off x="287805" y="4448627"/>
            <a:ext cx="4591905" cy="283545"/>
            <a:chOff x="216088" y="3940509"/>
            <a:chExt cx="4591905" cy="283545"/>
          </a:xfrm>
        </p:grpSpPr>
        <p:sp>
          <p:nvSpPr>
            <p:cNvPr id="28" name="矩形: 圓角 27">
              <a:extLst>
                <a:ext uri="{FF2B5EF4-FFF2-40B4-BE49-F238E27FC236}">
                  <a16:creationId xmlns:a16="http://schemas.microsoft.com/office/drawing/2014/main" id="{FFFD01D3-42DD-783A-BB96-9A89DC615E5A}"/>
                </a:ext>
              </a:extLst>
            </p:cNvPr>
            <p:cNvSpPr/>
            <p:nvPr/>
          </p:nvSpPr>
          <p:spPr>
            <a:xfrm>
              <a:off x="406323" y="3940509"/>
              <a:ext cx="4401670" cy="28354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生成誤差</a:t>
              </a: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5D72F0C-AC82-0BC5-E512-B762DC9EB864}"/>
                </a:ext>
              </a:extLst>
            </p:cNvPr>
            <p:cNvSpPr/>
            <p:nvPr/>
          </p:nvSpPr>
          <p:spPr>
            <a:xfrm>
              <a:off x="216088" y="3952129"/>
              <a:ext cx="251012" cy="251012"/>
            </a:xfrm>
            <a:prstGeom prst="ellipse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4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3</a:t>
              </a:r>
              <a:endParaRPr lang="zh-TW" altLang="en-US" sz="1400" b="1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612341D2-CE8F-698F-6EB1-1218FAABCB8B}"/>
              </a:ext>
            </a:extLst>
          </p:cNvPr>
          <p:cNvGrpSpPr/>
          <p:nvPr/>
        </p:nvGrpSpPr>
        <p:grpSpPr>
          <a:xfrm>
            <a:off x="287805" y="4815305"/>
            <a:ext cx="4591905" cy="283545"/>
            <a:chOff x="216088" y="3940509"/>
            <a:chExt cx="4591905" cy="283545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AD832BC-118B-64A8-1BA5-E85FDECA53E7}"/>
                </a:ext>
              </a:extLst>
            </p:cNvPr>
            <p:cNvSpPr/>
            <p:nvPr/>
          </p:nvSpPr>
          <p:spPr>
            <a:xfrm>
              <a:off x="406323" y="3940509"/>
              <a:ext cx="4401670" cy="28354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建立反應變數</a:t>
              </a: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721EAEC6-8ABF-AF98-FCF7-5A3A42E5CB66}"/>
                </a:ext>
              </a:extLst>
            </p:cNvPr>
            <p:cNvSpPr/>
            <p:nvPr/>
          </p:nvSpPr>
          <p:spPr>
            <a:xfrm>
              <a:off x="216088" y="3952129"/>
              <a:ext cx="251012" cy="251012"/>
            </a:xfrm>
            <a:prstGeom prst="ellipse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4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4</a:t>
              </a:r>
              <a:endParaRPr lang="zh-TW" altLang="en-US" sz="1400" b="1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984689C5-245D-9AE6-6FED-C883237ACD44}"/>
              </a:ext>
            </a:extLst>
          </p:cNvPr>
          <p:cNvGrpSpPr/>
          <p:nvPr/>
        </p:nvGrpSpPr>
        <p:grpSpPr>
          <a:xfrm>
            <a:off x="287805" y="5172690"/>
            <a:ext cx="4591905" cy="283545"/>
            <a:chOff x="216088" y="3940509"/>
            <a:chExt cx="4591905" cy="283545"/>
          </a:xfrm>
        </p:grpSpPr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5ABEA5D1-B2D9-25F7-9BC1-C4DBF1D3C054}"/>
                </a:ext>
              </a:extLst>
            </p:cNvPr>
            <p:cNvSpPr/>
            <p:nvPr/>
          </p:nvSpPr>
          <p:spPr>
            <a:xfrm>
              <a:off x="406323" y="3940509"/>
              <a:ext cx="4401670" cy="28354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使用 </a:t>
              </a:r>
              <a:r>
                <a:rPr lang="en-US" altLang="zh-TW" sz="1400" b="1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GWmodel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的 </a:t>
              </a:r>
              <a:r>
                <a:rPr lang="en-US" altLang="zh-TW" sz="1400" b="1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bw_gwr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() 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選最佳帶寬</a:t>
              </a:r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9BDF39BE-F740-A145-2A2B-4DD22F492469}"/>
                </a:ext>
              </a:extLst>
            </p:cNvPr>
            <p:cNvSpPr/>
            <p:nvPr/>
          </p:nvSpPr>
          <p:spPr>
            <a:xfrm>
              <a:off x="216088" y="3952129"/>
              <a:ext cx="251012" cy="251012"/>
            </a:xfrm>
            <a:prstGeom prst="ellipse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4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5</a:t>
              </a:r>
              <a:endParaRPr lang="zh-TW" altLang="en-US" sz="1400" b="1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11556B80-E67F-1049-FE1C-A179DB2B1B5F}"/>
              </a:ext>
            </a:extLst>
          </p:cNvPr>
          <p:cNvGrpSpPr/>
          <p:nvPr/>
        </p:nvGrpSpPr>
        <p:grpSpPr>
          <a:xfrm>
            <a:off x="287805" y="5511393"/>
            <a:ext cx="4591905" cy="283545"/>
            <a:chOff x="216088" y="3940509"/>
            <a:chExt cx="4591905" cy="283545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1A47F5ED-FBF4-FD5E-E2A9-165CE8BAEBF1}"/>
                </a:ext>
              </a:extLst>
            </p:cNvPr>
            <p:cNvSpPr/>
            <p:nvPr/>
          </p:nvSpPr>
          <p:spPr>
            <a:xfrm>
              <a:off x="406323" y="3940509"/>
              <a:ext cx="4401670" cy="28354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使用 </a:t>
              </a:r>
              <a:r>
                <a:rPr lang="en-US" altLang="zh-TW" sz="1400" b="1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GWmodel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的 </a:t>
              </a:r>
              <a:r>
                <a:rPr lang="en-US" altLang="zh-TW" sz="1400" b="1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gwr.basic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() 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估計各點係數</a:t>
              </a: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5D21A4DD-15F9-C353-C272-2D38474F6B53}"/>
                </a:ext>
              </a:extLst>
            </p:cNvPr>
            <p:cNvSpPr/>
            <p:nvPr/>
          </p:nvSpPr>
          <p:spPr>
            <a:xfrm>
              <a:off x="216088" y="3952129"/>
              <a:ext cx="251012" cy="251012"/>
            </a:xfrm>
            <a:prstGeom prst="ellipse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4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6</a:t>
              </a:r>
              <a:endParaRPr lang="zh-TW" altLang="en-US" sz="1400" b="1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69D533D9-0DF4-E473-D0DE-5FF68874AC39}"/>
              </a:ext>
            </a:extLst>
          </p:cNvPr>
          <p:cNvGrpSpPr/>
          <p:nvPr/>
        </p:nvGrpSpPr>
        <p:grpSpPr>
          <a:xfrm>
            <a:off x="287805" y="5856475"/>
            <a:ext cx="4591905" cy="283545"/>
            <a:chOff x="216088" y="3940509"/>
            <a:chExt cx="4591905" cy="283545"/>
          </a:xfrm>
        </p:grpSpPr>
        <p:sp>
          <p:nvSpPr>
            <p:cNvPr id="40" name="矩形: 圓角 39">
              <a:extLst>
                <a:ext uri="{FF2B5EF4-FFF2-40B4-BE49-F238E27FC236}">
                  <a16:creationId xmlns:a16="http://schemas.microsoft.com/office/drawing/2014/main" id="{EACEBD16-B196-B791-02F8-67BEBA985238}"/>
                </a:ext>
              </a:extLst>
            </p:cNvPr>
            <p:cNvSpPr/>
            <p:nvPr/>
          </p:nvSpPr>
          <p:spPr>
            <a:xfrm>
              <a:off x="406323" y="3940509"/>
              <a:ext cx="4401670" cy="28354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計算係數標準誤並建立 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95%</a:t>
              </a:r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CI</a:t>
              </a:r>
              <a:endParaRPr lang="zh-TW" altLang="en-US" sz="1400" b="1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BE3B175A-57BD-4210-A9CD-A2924D50BA6F}"/>
                </a:ext>
              </a:extLst>
            </p:cNvPr>
            <p:cNvSpPr/>
            <p:nvPr/>
          </p:nvSpPr>
          <p:spPr>
            <a:xfrm>
              <a:off x="216088" y="3952129"/>
              <a:ext cx="251012" cy="251012"/>
            </a:xfrm>
            <a:prstGeom prst="ellipse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4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7</a:t>
              </a:r>
              <a:endParaRPr lang="zh-TW" altLang="en-US" sz="1400" b="1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CAB33592-ADFC-8E42-9D11-E955965D8120}"/>
              </a:ext>
            </a:extLst>
          </p:cNvPr>
          <p:cNvGrpSpPr/>
          <p:nvPr/>
        </p:nvGrpSpPr>
        <p:grpSpPr>
          <a:xfrm>
            <a:off x="287805" y="6201557"/>
            <a:ext cx="4591905" cy="283545"/>
            <a:chOff x="216088" y="3940509"/>
            <a:chExt cx="4591905" cy="283545"/>
          </a:xfrm>
        </p:grpSpPr>
        <p:sp>
          <p:nvSpPr>
            <p:cNvPr id="43" name="矩形: 圓角 42">
              <a:extLst>
                <a:ext uri="{FF2B5EF4-FFF2-40B4-BE49-F238E27FC236}">
                  <a16:creationId xmlns:a16="http://schemas.microsoft.com/office/drawing/2014/main" id="{ADDB71C3-8A4C-6502-7FA7-77DC8721A0A1}"/>
                </a:ext>
              </a:extLst>
            </p:cNvPr>
            <p:cNvSpPr/>
            <p:nvPr/>
          </p:nvSpPr>
          <p:spPr>
            <a:xfrm>
              <a:off x="406323" y="3940509"/>
              <a:ext cx="4401670" cy="28354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3333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計算信賴區間涵蓋率與 </a:t>
              </a:r>
              <a:r>
                <a:rPr lang="en-US" altLang="zh-TW" sz="1400" b="1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RMSE</a:t>
              </a:r>
              <a:endParaRPr lang="zh-TW" altLang="en-US" sz="1400" b="1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6B14BD12-EE1B-AB24-A80C-33F1ECABA918}"/>
                </a:ext>
              </a:extLst>
            </p:cNvPr>
            <p:cNvSpPr/>
            <p:nvPr/>
          </p:nvSpPr>
          <p:spPr>
            <a:xfrm>
              <a:off x="216088" y="3952129"/>
              <a:ext cx="251012" cy="251012"/>
            </a:xfrm>
            <a:prstGeom prst="ellipse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4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8</a:t>
              </a:r>
              <a:endParaRPr lang="zh-TW" altLang="en-US" sz="1400" b="1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A9DFA031-0E9E-3DE2-1ABD-77D43667848D}"/>
              </a:ext>
            </a:extLst>
          </p:cNvPr>
          <p:cNvGrpSpPr/>
          <p:nvPr/>
        </p:nvGrpSpPr>
        <p:grpSpPr>
          <a:xfrm>
            <a:off x="5454807" y="3380932"/>
            <a:ext cx="4401670" cy="336176"/>
            <a:chOff x="2376723" y="1192307"/>
            <a:chExt cx="4401670" cy="336176"/>
          </a:xfrm>
        </p:grpSpPr>
        <p:sp>
          <p:nvSpPr>
            <p:cNvPr id="46" name="矩形: 圓角 45">
              <a:extLst>
                <a:ext uri="{FF2B5EF4-FFF2-40B4-BE49-F238E27FC236}">
                  <a16:creationId xmlns:a16="http://schemas.microsoft.com/office/drawing/2014/main" id="{76BEFB19-4D6F-026F-3E43-A8EB13F3A5D7}"/>
                </a:ext>
              </a:extLst>
            </p:cNvPr>
            <p:cNvSpPr/>
            <p:nvPr/>
          </p:nvSpPr>
          <p:spPr>
            <a:xfrm>
              <a:off x="2376723" y="1192307"/>
              <a:ext cx="4401670" cy="336176"/>
            </a:xfrm>
            <a:prstGeom prst="roundRect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模擬重點與輸出指標</a:t>
              </a: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7D319414-3A63-D708-90CB-61B1CDAB909B}"/>
                </a:ext>
              </a:extLst>
            </p:cNvPr>
            <p:cNvSpPr/>
            <p:nvPr/>
          </p:nvSpPr>
          <p:spPr>
            <a:xfrm>
              <a:off x="2462414" y="1234889"/>
              <a:ext cx="251012" cy="25101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CMU Serif" panose="02000603000000000000" pitchFamily="2" charset="0"/>
                </a:rPr>
                <a:t>3</a:t>
              </a:r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MU Serif" panose="02000603000000000000" pitchFamily="2" charset="0"/>
              </a:endParaRPr>
            </a:p>
          </p:txBody>
        </p:sp>
      </p:grp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CDACBFD6-FA42-A292-F8CD-511D8C033CF7}"/>
              </a:ext>
            </a:extLst>
          </p:cNvPr>
          <p:cNvSpPr/>
          <p:nvPr/>
        </p:nvSpPr>
        <p:spPr>
          <a:xfrm>
            <a:off x="5540498" y="3799175"/>
            <a:ext cx="3324022" cy="1743996"/>
          </a:xfrm>
          <a:prstGeom prst="roundRect">
            <a:avLst>
              <a:gd name="adj" fmla="val 5731"/>
            </a:avLst>
          </a:prstGeom>
          <a:solidFill>
            <a:schemeClr val="bg1"/>
          </a:solidFill>
          <a:ln w="19050"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300"/>
              </a:spcBef>
            </a:pPr>
            <a:r>
              <a:rPr lang="en-US" altLang="zh-TW" sz="16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 .  </a:t>
            </a:r>
            <a:r>
              <a:rPr lang="zh-TW" altLang="en-US" sz="16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模擬目的</a:t>
            </a:r>
            <a:endParaRPr lang="en-US" altLang="zh-TW" sz="1600" b="1" spc="-50" dirty="0">
              <a:solidFill>
                <a:srgbClr val="3333B3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"/>
            </a:pPr>
            <a:r>
              <a:rPr lang="zh-TW" altLang="en-US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解釋變數無明顯共線性情況下，</a:t>
            </a:r>
            <a:r>
              <a:rPr lang="en-US" altLang="zh-TW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GWR</a:t>
            </a:r>
            <a:r>
              <a:rPr lang="zh-TW" altLang="en-US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推論是否可靠</a:t>
            </a:r>
            <a:endParaRPr lang="en-US" altLang="zh-TW" sz="14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"/>
            </a:pPr>
            <a:r>
              <a:rPr lang="en-US" altLang="zh-TW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GWR</a:t>
            </a:r>
            <a:r>
              <a:rPr lang="zh-TW" altLang="en-US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是否能準確還原空間變動係數</a:t>
            </a:r>
            <a:endParaRPr lang="en-US" altLang="zh-TW" sz="14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"/>
            </a:pPr>
            <a:r>
              <a:rPr lang="en-US" altLang="zh-TW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95%</a:t>
            </a:r>
            <a:r>
              <a:rPr lang="zh-TW" altLang="en-US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CI</a:t>
            </a:r>
            <a:r>
              <a:rPr lang="zh-TW" altLang="en-US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是否能涵蓋真實係數</a:t>
            </a:r>
            <a:endParaRPr lang="en-US" altLang="zh-TW" sz="14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"/>
            </a:pPr>
            <a:r>
              <a:rPr lang="zh-TW" altLang="en-US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結果是否受誤差大小影響</a:t>
            </a:r>
            <a:endParaRPr lang="en-US" altLang="zh-TW" sz="1400" b="1" spc="-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419BA65A-84DB-D2EC-E34D-BB668E5DE71B}"/>
              </a:ext>
            </a:extLst>
          </p:cNvPr>
          <p:cNvSpPr/>
          <p:nvPr/>
        </p:nvSpPr>
        <p:spPr>
          <a:xfrm>
            <a:off x="8960007" y="3801564"/>
            <a:ext cx="2466210" cy="1743996"/>
          </a:xfrm>
          <a:prstGeom prst="roundRect">
            <a:avLst>
              <a:gd name="adj" fmla="val 5731"/>
            </a:avLst>
          </a:prstGeom>
          <a:solidFill>
            <a:schemeClr val="bg1"/>
          </a:solidFill>
          <a:ln w="19050">
            <a:solidFill>
              <a:srgbClr val="3333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300"/>
              </a:spcBef>
            </a:pPr>
            <a:r>
              <a:rPr lang="en-US" altLang="zh-TW" sz="16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 .  </a:t>
            </a:r>
            <a:r>
              <a:rPr lang="zh-TW" altLang="en-US" sz="1600" b="1" spc="-50" dirty="0">
                <a:solidFill>
                  <a:srgbClr val="3333B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主要評估指標</a:t>
            </a:r>
            <a:endParaRPr lang="en-US" altLang="zh-TW" sz="1600" b="1" spc="-50" dirty="0">
              <a:solidFill>
                <a:srgbClr val="3333B3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"/>
            </a:pPr>
            <a:r>
              <a:rPr lang="en-US" altLang="zh-TW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RMSE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"/>
            </a:pPr>
            <a:r>
              <a:rPr lang="en-US" altLang="zh-TW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Mean CP (   </a:t>
            </a:r>
            <a:r>
              <a:rPr lang="zh-TW" altLang="en-US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</a:t>
            </a:r>
            <a:r>
              <a:rPr lang="en-US" altLang="zh-TW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)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"/>
            </a:pPr>
            <a:r>
              <a:rPr lang="en-US" altLang="zh-TW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Mean CP (   </a:t>
            </a:r>
            <a:r>
              <a:rPr lang="zh-TW" altLang="en-US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</a:t>
            </a:r>
            <a:r>
              <a:rPr lang="en-US" altLang="zh-TW" sz="1400" b="1" spc="-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)</a:t>
            </a: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34811DBD-6F37-B103-4CE4-5E9DBE45CD49}"/>
              </a:ext>
            </a:extLst>
          </p:cNvPr>
          <p:cNvCxnSpPr/>
          <p:nvPr/>
        </p:nvCxnSpPr>
        <p:spPr>
          <a:xfrm flipH="1">
            <a:off x="4670612" y="2429435"/>
            <a:ext cx="3514164" cy="9485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圖片 64" descr="\documentclass{article}&#10;\usepackage{amsmath}&#10;\pagestyle{empty}&#10;\begin{document}&#10;&#10;\[Z_i\sim N_{10}(\textbf{0}, \textbf{I}_{10})\]&#10;&#10;&#10;\end{document}" title="IguanaTex Picture Display">
            <a:extLst>
              <a:ext uri="{FF2B5EF4-FFF2-40B4-BE49-F238E27FC236}">
                <a16:creationId xmlns:a16="http://schemas.microsoft.com/office/drawing/2014/main" id="{1BB610C2-F159-C3C3-87C5-194B785ACD4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293" y="3792966"/>
            <a:ext cx="1226667" cy="178133"/>
          </a:xfrm>
          <a:prstGeom prst="rect">
            <a:avLst/>
          </a:prstGeom>
        </p:spPr>
      </p:pic>
      <p:pic>
        <p:nvPicPr>
          <p:cNvPr id="69" name="圖片 68" descr="\documentclass{article}&#10;\usepackage{amsmath}&#10;\pagestyle{empty}&#10;\begin{document}&#10;&#10;\[x_1, x_2\]&#10;&#10;&#10;\end{document}" title="IguanaTex Picture Display">
            <a:extLst>
              <a:ext uri="{FF2B5EF4-FFF2-40B4-BE49-F238E27FC236}">
                <a16:creationId xmlns:a16="http://schemas.microsoft.com/office/drawing/2014/main" id="{A18D3FB7-AE8E-9F18-FD6F-AB27C82D077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315" y="4201755"/>
            <a:ext cx="420267" cy="112000"/>
          </a:xfrm>
          <a:prstGeom prst="rect">
            <a:avLst/>
          </a:prstGeom>
        </p:spPr>
      </p:pic>
      <p:pic>
        <p:nvPicPr>
          <p:cNvPr id="75" name="圖片 74" descr="\documentclass{article}&#10;\usepackage{amsmath}&#10;\pagestyle{empty}&#10;\begin{document}&#10;&#10;\[\epsilon(s_i)\overset{ind.}{\sim}N(0,\tau^{2*})\]&#10;&#10;&#10;\end{document}" title="IguanaTex Picture Display">
            <a:extLst>
              <a:ext uri="{FF2B5EF4-FFF2-40B4-BE49-F238E27FC236}">
                <a16:creationId xmlns:a16="http://schemas.microsoft.com/office/drawing/2014/main" id="{23B27D86-75D7-A480-B190-768E988C9FD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491" y="4479269"/>
            <a:ext cx="1219860" cy="202533"/>
          </a:xfrm>
          <a:prstGeom prst="rect">
            <a:avLst/>
          </a:prstGeom>
        </p:spPr>
      </p:pic>
      <p:pic>
        <p:nvPicPr>
          <p:cNvPr id="79" name="圖片 78" descr="\documentclass{article}&#10;\usepackage{amsmath}&#10;\pagestyle{empty}&#10;\begin{document}&#10;&#10;&#10;\[y(s_i)=\beta_1^*(s_i)x_1(s_i)+\beta_2^*(s_i)x_2(x)+\epsilon(s_i)\]&#10;&#10;\end{document}" title="IguanaTex Picture Display">
            <a:extLst>
              <a:ext uri="{FF2B5EF4-FFF2-40B4-BE49-F238E27FC236}">
                <a16:creationId xmlns:a16="http://schemas.microsoft.com/office/drawing/2014/main" id="{9F0C6AC3-6AC6-152B-F00C-3A709858D48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18" y="4886975"/>
            <a:ext cx="2717308" cy="151617"/>
          </a:xfrm>
          <a:prstGeom prst="rect">
            <a:avLst/>
          </a:prstGeom>
        </p:spPr>
      </p:pic>
      <p:pic>
        <p:nvPicPr>
          <p:cNvPr id="81" name="圖片 80" descr="\documentclass{article}&#10;\usepackage{amsmath}&#10;\pagestyle{empty}&#10;\begin{document}&#10;&#10;\[\beta_1\]&#10;&#10;&#10;\end{document}" title="IguanaTex Picture Display">
            <a:extLst>
              <a:ext uri="{FF2B5EF4-FFF2-40B4-BE49-F238E27FC236}">
                <a16:creationId xmlns:a16="http://schemas.microsoft.com/office/drawing/2014/main" id="{365B61F6-0A62-A369-DC91-00C606E1F4A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427" y="4448627"/>
            <a:ext cx="154667" cy="160000"/>
          </a:xfrm>
          <a:prstGeom prst="rect">
            <a:avLst/>
          </a:prstGeom>
        </p:spPr>
      </p:pic>
      <p:pic>
        <p:nvPicPr>
          <p:cNvPr id="84" name="圖片 83" descr="\documentclass{article}&#10;\usepackage{amsmath}&#10;\pagestyle{empty}&#10;\begin{document}&#10;&#10;\[\beta_2\]&#10;&#10;&#10;\end{document}" title="IguanaTex Picture Display">
            <a:extLst>
              <a:ext uri="{FF2B5EF4-FFF2-40B4-BE49-F238E27FC236}">
                <a16:creationId xmlns:a16="http://schemas.microsoft.com/office/drawing/2014/main" id="{CDE012DD-D0CA-04C1-2B46-451FCE55416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426" y="4702048"/>
            <a:ext cx="158934" cy="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410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5107-2881-44C0-03B3-73EBA68F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96099D4-5C25-A742-1833-194D364A4E3A}"/>
              </a:ext>
            </a:extLst>
          </p:cNvPr>
          <p:cNvSpPr/>
          <p:nvPr/>
        </p:nvSpPr>
        <p:spPr>
          <a:xfrm>
            <a:off x="0" y="6642846"/>
            <a:ext cx="12192000" cy="2151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F1FD09-32B2-FC80-3D94-5F69DF075D87}"/>
              </a:ext>
            </a:extLst>
          </p:cNvPr>
          <p:cNvSpPr/>
          <p:nvPr/>
        </p:nvSpPr>
        <p:spPr>
          <a:xfrm>
            <a:off x="0" y="0"/>
            <a:ext cx="12192000" cy="520766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網格模擬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結果比較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94A2E3F-ADE9-75F0-2057-CF5A73D43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7" b="9668"/>
          <a:stretch>
            <a:fillRect/>
          </a:stretch>
        </p:blipFill>
        <p:spPr>
          <a:xfrm>
            <a:off x="0" y="7173759"/>
            <a:ext cx="12192000" cy="6119533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7CF6CDCC-D315-3952-78AC-38F6462ED0B4}"/>
              </a:ext>
            </a:extLst>
          </p:cNvPr>
          <p:cNvGrpSpPr/>
          <p:nvPr/>
        </p:nvGrpSpPr>
        <p:grpSpPr>
          <a:xfrm>
            <a:off x="3895165" y="828986"/>
            <a:ext cx="4401670" cy="336176"/>
            <a:chOff x="2376723" y="1192307"/>
            <a:chExt cx="4401670" cy="336176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A6FC970E-80CF-262C-9653-2C980819A8F1}"/>
                </a:ext>
              </a:extLst>
            </p:cNvPr>
            <p:cNvSpPr/>
            <p:nvPr/>
          </p:nvSpPr>
          <p:spPr>
            <a:xfrm>
              <a:off x="2376723" y="1192307"/>
              <a:ext cx="4401670" cy="336176"/>
            </a:xfrm>
            <a:prstGeom prst="roundRect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論文模擬實驗結果</a:t>
              </a:r>
            </a:p>
          </p:txBody>
        </p:sp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57EA3D58-2DCA-7E23-5508-5BEF8884C67A}"/>
                </a:ext>
              </a:extLst>
            </p:cNvPr>
            <p:cNvSpPr/>
            <p:nvPr/>
          </p:nvSpPr>
          <p:spPr>
            <a:xfrm>
              <a:off x="2462414" y="1234889"/>
              <a:ext cx="251012" cy="25101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CMU Serif" panose="02000603000000000000" pitchFamily="2" charset="0"/>
                </a:rPr>
                <a:t>1</a:t>
              </a:r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MU Serif" panose="02000603000000000000" pitchFamily="2" charset="0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1423C766-8AF8-CBD1-CD12-580C6311B3AC}"/>
              </a:ext>
            </a:extLst>
          </p:cNvPr>
          <p:cNvGrpSpPr/>
          <p:nvPr/>
        </p:nvGrpSpPr>
        <p:grpSpPr>
          <a:xfrm>
            <a:off x="3895165" y="4748818"/>
            <a:ext cx="4401670" cy="336176"/>
            <a:chOff x="2376723" y="1192307"/>
            <a:chExt cx="4401670" cy="336176"/>
          </a:xfrm>
        </p:grpSpPr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E43D8506-C69A-6064-92A3-E5994524BC82}"/>
                </a:ext>
              </a:extLst>
            </p:cNvPr>
            <p:cNvSpPr/>
            <p:nvPr/>
          </p:nvSpPr>
          <p:spPr>
            <a:xfrm>
              <a:off x="2376723" y="1192307"/>
              <a:ext cx="4401670" cy="336176"/>
            </a:xfrm>
            <a:prstGeom prst="roundRect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復刻模擬實驗結果</a:t>
              </a: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42040123-7FFA-3603-04E1-2F04EF5312C4}"/>
                </a:ext>
              </a:extLst>
            </p:cNvPr>
            <p:cNvSpPr/>
            <p:nvPr/>
          </p:nvSpPr>
          <p:spPr>
            <a:xfrm>
              <a:off x="2462414" y="1234889"/>
              <a:ext cx="251012" cy="25101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CMU Serif" panose="02000603000000000000" pitchFamily="2" charset="0"/>
                </a:rPr>
                <a:t>2</a:t>
              </a:r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B8402CE7-7CB3-61C9-486E-20799FB18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44" y="1258583"/>
            <a:ext cx="6595913" cy="1600950"/>
          </a:xfrm>
          <a:prstGeom prst="rect">
            <a:avLst/>
          </a:prstGeom>
          <a:ln w="19050">
            <a:noFill/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A823BB8-179E-F6B1-0461-E2E3DCD4F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44" y="2980998"/>
            <a:ext cx="6595913" cy="1573083"/>
          </a:xfrm>
          <a:prstGeom prst="rect">
            <a:avLst/>
          </a:prstGeom>
          <a:ln w="19050">
            <a:noFill/>
          </a:ln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8E79165B-339E-33ED-AF52-DB27683119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453"/>
          <a:stretch>
            <a:fillRect/>
          </a:stretch>
        </p:blipFill>
        <p:spPr>
          <a:xfrm>
            <a:off x="2650797" y="5235827"/>
            <a:ext cx="6890405" cy="1140986"/>
          </a:xfrm>
          <a:prstGeom prst="rect">
            <a:avLst/>
          </a:prstGeom>
          <a:ln w="28575">
            <a:noFill/>
          </a:ln>
        </p:spPr>
      </p:pic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145A3260-D618-3C4D-8EC5-DE88DFD2974A}"/>
              </a:ext>
            </a:extLst>
          </p:cNvPr>
          <p:cNvSpPr/>
          <p:nvPr/>
        </p:nvSpPr>
        <p:spPr>
          <a:xfrm>
            <a:off x="2798043" y="2465679"/>
            <a:ext cx="6454584" cy="2932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A027BDDC-4F9C-1BE5-9BC5-10BC9632DF06}"/>
              </a:ext>
            </a:extLst>
          </p:cNvPr>
          <p:cNvSpPr/>
          <p:nvPr/>
        </p:nvSpPr>
        <p:spPr>
          <a:xfrm>
            <a:off x="2798043" y="4188954"/>
            <a:ext cx="6454584" cy="2932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692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3.9857"/>
  <p:tag name="ORIGINALWIDTH" val=" 4077.99"/>
  <p:tag name="OUTPUTTYPE" val="PNG"/>
  <p:tag name="IGUANATEXVERSION" val="162"/>
  <p:tag name="LATEXADDIN" val="\documentclass{article}&#10;\usepackage{amsmath}&#10;\pagestyle{empty}&#10;\begin{document}&#10;\[&#10;\text{housing prices = $\beta_0$ + $\beta_1$ building age + $\beta_2$ area + $\beta_3$ unemployment + ...}&#10;\]&#10;&#10;&#10;&#10;\end{document}"/>
  <p:tag name="IGUANATEXSIZE" val="20"/>
  <p:tag name="IGUANATEXCURSOR" val="1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96.25"/>
  <p:tag name="ORIGINALWIDTH" val=" 3482.565"/>
  <p:tag name="OUTPUTTYPE" val="PNG"/>
  <p:tag name="IGUANATEXVERSION" val="162"/>
  <p:tag name="LATEXADDIN" val="\documentclass{article}&#10;\usepackage{amsmath}&#10;\pagestyle{empty}&#10;&#10;\begin{document}&#10;&#10;\[&#10;\mathbf{y}&#10;=&#10;\left(&#10;\boldsymbol{\beta}&#10;\odot&#10;\mathbf{X}&#10;\right)&#10;\mathbf{1}&#10;+&#10;\boldsymbol{\varepsilon}&#10;\]&#10;&#10;where&#10;&#10;\[&#10;\boldsymbol{\beta}&#10;=&#10;\begin{bmatrix}&#10;\beta_0(u_1,v_1) &amp; \beta_1(u_1,v_1) &amp; \cdots &amp; \beta_k(u_1,v_1) \\&#10;\beta_0(u_2,v_2) &amp; \beta_1(u_2,v_2) &amp; \cdots &amp; \beta_k(u_2,v_2) \\&#10;\vdots &amp; \vdots &amp; \ddots &amp; \vdots \\&#10;\beta_0(u_n,v_n) &amp; \beta_1(u_n,v_n) &amp; \cdots &amp; \beta_k(u_n,v_n)&#10;\end{bmatrix}_{n\times(k+1)},&#10;\]&#10;&#10;\[&#10;\mathbf{X}&#10;=&#10;\begin{bmatrix}&#10;1 &amp; x_{11} &amp; \cdots &amp; x_{1k} \\&#10;1 &amp; x_{21} &amp; \cdots &amp; x_{2k} \\&#10;\vdots &amp; \vdots &amp; \ddots &amp; \vdots \\&#10;1 &amp; x_{n1} &amp; \cdots &amp; x_{nk}&#10;\end{bmatrix}_{n\times(k+1)},&#10;\qquad&#10;\mathbf{1}&#10;=&#10;\begin{bmatrix}&#10;1\\&#10;1\\&#10;\vdots\\&#10;1&#10;\end{bmatrix}_{(k+1)\times 1}.&#10;\]&#10;&#10;\end{document}"/>
  <p:tag name="IGUANATEXSIZE" val="20"/>
  <p:tag name="IGUANATEXCURSOR" val="21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62.955"/>
  <p:tag name="ORIGINALWIDTH" val=" 5749.531"/>
  <p:tag name="OUTPUTTYPE" val="PNG"/>
  <p:tag name="IGUANATEXVERSION" val="162"/>
  <p:tag name="LATEXADDIN" val="\documentclass{article}&#10;\usepackage{amsmath}&#10;\pagestyle{empty}&#10;&#10;\begin{document}&#10;&#10;\[&#10;\hat{\boldsymbol{\beta}}(u_i,v_i)&#10;=&#10;\left(&#10;\mathbf{X}^{T}\mathbf{W}(u_i,v_i)\mathbf{X}&#10;\right)^{-1}&#10;\mathbf{X}^{T}\mathbf{W}(u_i,v_i)\mathbf{y},&#10;\]&#10;&#10;where&#10;&#10;\[&#10;\hat{\boldsymbol{\beta}}(u_i,v_i)&#10;=&#10;\begin{bmatrix}&#10;\hat{\beta}_0(u_i,v_i) \\&#10;\hat{\beta}_1(u_i,v_i) \\&#10;\vdots \\&#10;\hat{\beta}_k(u_i,v_i)&#10;\end{bmatrix}_{(k+1)\times 1},&#10;\quad&#10;\text{the vector of estimated local regression coefficients at location }(u_i,v_i),&#10;\]&#10;&#10;\[&#10;\mathbf{W}(u_i,v_i)&#10;=&#10;\begin{bmatrix}&#10;w_{i1} &amp; 0 &amp; \cdots &amp; 0 \\&#10;0 &amp; w_{i2} &amp; \cdots &amp; 0 \\&#10;\vdots &amp; \vdots &amp; \ddots &amp; \vdots \\&#10;0 &amp; 0 &amp; \cdots &amp; w_{in}&#10;\end{bmatrix}_{n\times n},\quad&#10;w_{ij}:&#10;\text{ the weight assigned to the }j\text{-th observation at location }i.&#10;\]&#10;&#10;\end{document}"/>
  <p:tag name="IGUANATEXSIZE" val="18"/>
  <p:tag name="IGUANATEXCURSOR" val="52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1.4773"/>
  <p:tag name="ORIGINALWIDTH" val=" 1073.116"/>
  <p:tag name="OUTPUTTYPE" val="PNG"/>
  <p:tag name="IGUANATEXVERSION" val="162"/>
  <p:tag name="LATEXADDIN" val="\documentclass{article}&#10;\usepackage{amsmath}&#10;\pagestyle{empty}&#10;&#10;\begin{document}&#10;&#10;\[&#10;\hat{\boldsymbol{\beta}}&#10;=&#10;\left(&#10;\mathbf{X}^{T}\mathbf{X}&#10;\right)^{-1}&#10;\mathbf{X}^{T}\mathbf{y}&#10;\]&#10;&#10;\end{document}"/>
  <p:tag name="IGUANATEXSIZE" val="18"/>
  <p:tag name="IGUANATEXCURSOR" val="20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2.9846"/>
  <p:tag name="ORIGINALWIDTH" val=" 687.664"/>
  <p:tag name="OUTPUTTYPE" val="PNG"/>
  <p:tag name="IGUANATEXVERSION" val="162"/>
  <p:tag name="LATEXADDIN" val="\documentclass{article}&#10;\usepackage{amsmath}&#10;\pagestyle{empty}&#10;\begin{document}&#10;\[&#10;w_{ij}=1 \;\forall\;i,j&#10;\]&#10;&#10;&#10;\end{document}"/>
  <p:tag name="IGUANATEXSIZE" val="18"/>
  <p:tag name="IGUANATEXCURSOR" val="10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73.4533"/>
  <p:tag name="ORIGINALWIDTH" val=" 975.6281"/>
  <p:tag name="OUTPUTTYPE" val="PNG"/>
  <p:tag name="IGUANATEXVERSION" val="162"/>
  <p:tag name="LATEXADDIN" val="\documentclass{article}&#10;\usepackage{amsmath}&#10;\pagestyle{empty}&#10;\begin{document}&#10;&#10;\[&#10;w_{ij}=\left\{  &#10;\begin{aligned}  &#10;&amp;1,\;d_{ij}&lt;d \\  &#10;&amp;0,\; o.w.&#10;\end{aligned}  &#10;\right. &#10;\]&#10;&#10;&#10;\end{document}"/>
  <p:tag name="IGUANATEXSIZE" val="20"/>
  <p:tag name="IGUANATEXCURSOR" val="17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87.964"/>
  <p:tag name="ORIGINALWIDTH" val=" 884.8893"/>
  <p:tag name="OUTPUTTYPE" val="PNG"/>
  <p:tag name="IGUANATEXVERSION" val="162"/>
  <p:tag name="LATEXADDIN" val="\documentclass{article}&#10;\usepackage{amsmath}&#10;\pagestyle{empty}&#10;\begin{document}&#10;\[&#10;w_{ij}=exp[{-\frac{d_{ij}^2}{2b^2}}]&#10;\]&#10;&#10;\end{document}"/>
  <p:tag name="IGUANATEXSIZE" val="18"/>
  <p:tag name="IGUANATEXCURSOR" val="12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50.6936"/>
  <p:tag name="ORIGINALWIDTH" val=" 1584.552"/>
  <p:tag name="OUTPUTTYPE" val="PNG"/>
  <p:tag name="IGUANATEXVERSION" val="162"/>
  <p:tag name="LATEXADDIN" val="\documentclass{article}&#10;\usepackage{amsmath}&#10;\pagestyle{empty}&#10;\begin{document}&#10;\[&#10;w_{ij}=\left\{  &#10;\begin{aligned}  &#10;&amp;[1-(\frac{d_{ij}}{b})^2]^2,\;d_{ij}&lt;b \\  &#10;&amp;0,\; o.w.&#10;\end{aligned}  &#10;\right. &#10;\]&#10;&#10;&#10;&#10;\end{document}"/>
  <p:tag name="IGUANATEXSIZE" val="20"/>
  <p:tag name="IGUANATEXCURSOR" val="19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5.718"/>
  <p:tag name="ORIGINALWIDTH" val=" 4129.733"/>
  <p:tag name="OUTPUTTYPE" val="PNG"/>
  <p:tag name="IGUANATEXVERSION" val="162"/>
  <p:tag name="LATEXADDIN" val="\documentclass{article}&#10;\usepackage{amsmath}&#10;\pagestyle{empty}&#10;\begin{document}&#10;\[&#10;w_{ij}=exp(\frac{-R_{ij}}{b})&#10;\text{, where $R_{ij}$ : the rank of data point j at regression point i.}&#10;\]&#10;&#10;\end{document}"/>
  <p:tag name="IGUANATEXSIZE" val="18"/>
  <p:tag name="IGUANATEXCURSOR" val="12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83.4646"/>
  <p:tag name="ORIGINALWIDTH" val=" 809.8987"/>
  <p:tag name="OUTPUTTYPE" val="PNG"/>
  <p:tag name="IGUANATEXVERSION" val="162"/>
  <p:tag name="LATEXADDIN" val="\documentclass{article}&#10;\usepackage{amsmath}&#10;\pagestyle{empty}&#10;\begin{document}&#10;\[&#10;\sum_jw_{ij}=C \; \forall \;i&#10;\]&#10;&#10;\end{document}"/>
  <p:tag name="IGUANATEXSIZE" val="18"/>
  <p:tag name="IGUANATEXCURSOR" val="11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73.4533"/>
  <p:tag name="ORIGINALWIDTH" val=" 3612.299"/>
  <p:tag name="OUTPUTTYPE" val="PNG"/>
  <p:tag name="IGUANATEXVERSION" val="162"/>
  <p:tag name="LATEXADDIN" val="\documentclass{article}&#10;\usepackage{amsmath}&#10;\pagestyle{empty}&#10;\begin{document}&#10;\[&#10;w_{ij}=\left\{  &#10;\begin{aligned}  &#10;&amp;1,\;\text{j is one of the N points closest to the regression point i.} \\  &#10;&amp;0,\; o.w.&#10;\end{aligned}  &#10;\right. &#10;\]&#10;&#10;\end{document}"/>
  <p:tag name="IGUANATEXSIZE" val="18"/>
  <p:tag name="IGUANATEXCURSOR" val="23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09.599"/>
  <p:tag name="ORIGINALWIDTH" val=" 4249.719"/>
  <p:tag name="OUTPUTTYPE" val="PNG"/>
  <p:tag name="IGUANATEXVERSION" val="162"/>
  <p:tag name="LATEXADDIN" val="\documentclass{article}&#10;\usepackage{amsmath}&#10;\pagestyle{empty}&#10;\begin{document}&#10;\[&#10;w_{ij}=\left\{  &#10;\begin{aligned}  &#10;&amp;1,\;\text{j is one of the N points closest to the regression point i.} \\  &#10;&amp;0,\; o.w.&#10;\end{aligned}  &#10;\right. &#10;\]&#10;\text{combine with bi-square:}&#10;\[&#10;w_{ij}=\left\{  &#10;\begin{aligned}  &#10;&amp;[1-(\frac{d_{ij}}{b})^2]^2,\;\text{j is one of the N points closest to the regression point i.} \\  &#10;&amp;0,\; o.w.&#10;\end{aligned}  &#10;\right.&#10;\]&#10;\end{document}"/>
  <p:tag name="IGUANATEXSIZE" val="18"/>
  <p:tag name="IGUANATEXCURSOR" val="44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1.2073"/>
  <p:tag name="ORIGINALWIDTH" val=" 1235.845"/>
  <p:tag name="OUTPUTTYPE" val="PNG"/>
  <p:tag name="IGUANATEXVERSION" val="162"/>
  <p:tag name="LATEXADDIN" val="\documentclass{article}&#10;\usepackage{amsmath}&#10;\pagestyle{empty}&#10;\begin{document}&#10;&#10;\[&#10;CV=\sum_{i=1}^n[y_i-\hat{y}_{\neq i}(b)]^2&#10;\]&#10;&#10;&#10;\end{document}"/>
  <p:tag name="IGUANATEXSIZE" val="20"/>
  <p:tag name="IGUANATEXCURSOR" val="12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1.2073"/>
  <p:tag name="ORIGINALWIDTH" val=" 3426.322"/>
  <p:tag name="OUTPUTTYPE" val="PNG"/>
  <p:tag name="IGUANATEXVERSION" val="162"/>
  <p:tag name="LATEXADDIN" val="\documentclass{article}&#10;\usepackage{amsmath}&#10;\pagestyle{empty}&#10;\begin{document}&#10;&#10;\[&#10;GCV=n\sum_{i=1}^n[y_i-\hat{y}_i(b)]^2/(n-v_1)^2,\text{where $v_1$=tr(hat matrix S)}&#10;\]&#10;&#10;&#10;\end{document}"/>
  <p:tag name="IGUANATEXSIZE" val="20"/>
  <p:tag name="IGUANATEXCURSOR" val="16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2664.417"/>
  <p:tag name="OUTPUTTYPE" val="PNG"/>
  <p:tag name="IGUANATEXVERSION" val="162"/>
  <p:tag name="LATEXADDIN" val="\documentclass{article}&#10;\usepackage{amsmath}&#10;\pagestyle{empty}&#10;\begin{document}&#10;&#10;\[&#10;AIC_c=2n\;log(\hat{\sigma})+n\;log(2\pi)+n[\frac{n+tr(S)}{n-2-tr(S)}]&#10;\]&#10;&#10;&#10;\end{document}"/>
  <p:tag name="IGUANATEXSIZE" val="20"/>
  <p:tag name="IGUANATEXCURSOR" val="15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3036.37"/>
  <p:tag name="OUTPUTTYPE" val="PNG"/>
  <p:tag name="IGUANATEXVERSION" val="162"/>
  <p:tag name="LATEXADDIN" val="\documentclass{article}&#10;\usepackage{amsmath}&#10;\pagestyle{empty}&#10;\begin{document}&#10;&#10;\[&#10;BIC=-2\;log(L)+k\;log(n),\text{where $L$: model likelihood}&#10;\]&#10;&#10;&#10;\end{document}"/>
  <p:tag name="IGUANATEXSIZE" val="20"/>
  <p:tag name="IGUANATEXCURSOR" val="14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7157.855"/>
  <p:tag name="ORIGINALWIDTH" val=" 4848.894"/>
  <p:tag name="OUTPUTTYPE" val="PNG"/>
  <p:tag name="IGUANATEXVERSION" val="162"/>
  <p:tag name="LATEXADDIN" val="\documentclass[12pt]{article}&#10;&#10;\usepackage{amsmath}&#10;\usepackage{amssymb}&#10;\usepackage{bm}&#10;&#10;\begin{document}&#10;&#10;The Akaike Information Criterion is defined as&#10;\[&#10;\mathrm{AIC}&#10;=&#10;-2\left(\max_{\bm{\mu},\sigma^2}\log L\right)+2k,&#10;\]&#10;where \(L\) is the likelihood function and \(k\) is the number of&#10;estimated parameters.&#10;&#10;\subsection*{1. Maximum likelihood estimation}&#10;&#10;Let&#10;\[&#10;\bm{y}\sim N_n\left(\bm{\mu},\sigma^2 I_n\right).&#10;\]&#10;&#10;The likelihood function is&#10;\[&#10;L(\bm{\mu},\sigma^2)&#10;=&#10;(2\pi\sigma^2)^{-n/2}&#10;\exp\left(&#10;-\frac{\lVert \bm{y}-\bm{\mu}\rVert^2}{2\sigma^2}&#10;\right).&#10;\]&#10;&#10;Therefore, the log-likelihood function is&#10;\[&#10;\log L(\bm{\mu},\sigma^2)&#10;=&#10;-\frac{n}{2}\log(2\pi)&#10;-\frac{n}{2}\log(\sigma^2)&#10;-\frac{1}{2\sigma^2}&#10;\lVert \bm{y}-\bm{\mu}\rVert^2.&#10;\]&#10;&#10;Differentiating with respect to \(\sigma^2\), we obtain&#10;\[&#10;\frac{\partial \log L}{\partial \sigma^2}&#10;=&#10;-\frac{n}{2\sigma^2}&#10;+&#10;\frac{1}{2(\sigma^2)^2}&#10;\lVert \bm{y}-\bm{\mu}\rVert^2&#10;=&#10;0.&#10;\]&#10;&#10;Hence,&#10;\[&#10;\widehat{\sigma}^2&#10;=&#10;\frac{\lVert \bm{y}-\widehat{\bm{\mu}}\rVert^2}{n}&#10;=&#10;\frac{\mathrm{RSS}}{n}.&#10;\]&#10;&#10;Substituting the maximum likelihood estimator into the log-likelihood&#10;function gives&#10;\begin{align*}&#10;\max_{\bm{\mu},\sigma^2}\log L&#10;&amp;=&#10;-\frac{n}{2}\log(2\pi)&#10;-\frac{n}{2}\log\left(\widehat{\sigma}^2\right)&#10;-\frac{1}{2}\frac{n}{\mathrm{RSS}}\mathrm{RSS} \\&#10;&amp;=&#10;-\frac{n}{2}\log(2\pi)&#10;-n\log\widehat{\sigma}&#10;-\frac{n}{2}.&#10;\end{align*}&#10;&#10;&#10;\end{document}"/>
  <p:tag name="IGUANATEXSIZE" val="20"/>
  <p:tag name="IGUANATEXCURSOR" val="13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7176.603"/>
  <p:tag name="ORIGINALWIDTH" val=" 4849.644"/>
  <p:tag name="OUTPUTTYPE" val="PNG"/>
  <p:tag name="IGUANATEXVERSION" val="162"/>
  <p:tag name="LATEXADDIN" val="\documentclass[12pt]{article}&#10;&#10;\usepackage{amsmath}&#10;\usepackage{amssymb}&#10;\usepackage{bm}&#10;&#10;\begin{document}&#10;\subsection*{2. Number of parameters}&#10;&#10;The number of estimated parameters is&#10;\[&#10;k=d+1,&#10;\]&#10;where \(d\) is the number of effective parameters and the additional&#10;parameter corresponds to \(\sigma^2\).&#10;&#10;For a linear smoother with smoothing matrix \(S\),&#10;\[&#10;d=\operatorname{tr}(S).&#10;\]&#10;&#10;Combining the results above, we obtain&#10;\[&#10;\mathrm{AIC}&#10;=&#10;2n\log\widehat{\sigma}&#10;+n\log(2\pi)&#10;+n&#10;+2\left(\operatorname{tr}(S)+1\right).&#10;\]&#10;&#10;The corrected Akaike Information Criterion is&#10;\[&#10;\mathrm{AICc}&#10;=&#10;\mathrm{AIC}&#10;+&#10;\frac{2k(k+1)}{n-k-1}.&#10;\]&#10;&#10;Thus,&#10;\begin{align*}&#10;\mathrm{AICc}&#10;&amp;=&#10;2n\log\widehat{\sigma}&#10;+n\log(2\pi)&#10;+n&#10;+2\left(\operatorname{tr}(S)+1\right) \\&#10;&amp;\quad&#10;+&#10;\frac{&#10;2\left(\operatorname{tr}(S)+1\right)&#10;\left(\operatorname{tr}(S)+2\right)&#10;}{&#10;n-\operatorname{tr}(S)-2&#10;}.&#10;\end{align*}&#10;&#10;After simplification,&#10;\[&#10;\boxed{&#10;\mathrm{AICc}&#10;=&#10;2n\log\widehat{\sigma}&#10;+n\log(2\pi)&#10;+&#10;n\frac{n+\operatorname{tr}(S)}&#10;{n-2-\operatorname{tr}(S)}&#10;}.&#10;\]&#10;&#10;&#10;&#10;\end{document}"/>
  <p:tag name="IGUANATEXSIZE" val="20"/>
  <p:tag name="IGUANATEXCURSOR" val="10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9.2126"/>
  <p:tag name="ORIGINALWIDTH" val=" 1580.802"/>
  <p:tag name="OUTPUTTYPE" val="PNG"/>
  <p:tag name="IGUANATEXVERSION" val="162"/>
  <p:tag name="LATEXADDIN" val="\documentclass{article}&#10;\usepackage{amsmath}&#10;\usepackage{amsmath}&#10;\usepackage{amssymb}&#10;\usepackage{bm}&#10;\pagestyle{empty}&#10;\begin{document}&#10;&#10;\[&#10;\mathrm{AIC}&#10;=&#10;-2\left(\max_{\bm{\mu},\sigma^2}\log L\right)+2k,&#10;\]&#10;&#10;&#10;\end{document}"/>
  <p:tag name="IGUANATEXSIZE" val="20"/>
  <p:tag name="IGUANATEXCURSOR" val="209"/>
  <p:tag name="TRANSPARENCY" val="True"/>
  <p:tag name="CHOOSECOLOR" val="False"/>
  <p:tag name="COLORHEX" val="000000"/>
  <p:tag name="LATEXENGINEID" val="0"/>
  <p:tag name="TEMPFOLDER" val="c:\temp\"/>
  <p:tag name="LATEXFORMHEIGHT" val=" 308.4"/>
  <p:tag name="LATEXFORMWIDTH" val=" 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56.318"/>
  <p:tag name="ORIGINALWIDTH" val=" 1676.041"/>
  <p:tag name="OUTPUTTYPE" val="PNG"/>
  <p:tag name="IGUANATEXVERSION" val="162"/>
  <p:tag name="LATEXADDIN" val="\documentclass{article}&#10;\usepackage{amsmath}&#10;\pagestyle{empty}&#10;\begin{document}&#10;\[&#10;\begin{aligned}&#10;PctBach_i&#10;&amp;= \beta_0(i) \\&#10;&amp;+ \beta_1(i)PctRural_i \\&#10;&amp;+ \beta_2(i)PctEld_i \\&#10;&amp;+ \beta_3(i)PctFB_i \\&#10;&amp;+ \beta_4(i)PctPov_i \\&#10;&amp;+ \beta_5(i)PctBlack_i \\&#10;&amp;+ \epsilon_i&#10;\end{aligned}&#10;\]&#10;\[&#10;\text{where i: ith point in the space.}&#10;\]&#10;\end{document}"/>
  <p:tag name="IGUANATEXSIZE" val="20"/>
  <p:tag name="IGUANATEXCURSOR" val="2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06.787"/>
  <p:tag name="ORIGINALWIDTH" val=" 5204.349"/>
  <p:tag name="OUTPUTTYPE" val="PNG"/>
  <p:tag name="IGUANATEXVERSION" val="162"/>
  <p:tag name="LATEXADDIN" val="\documentclass{article}&#10;\usepackage{amsmath}&#10;\pagestyle{empty}&#10;\begin{document}&#10;\begin{itemize}&#10;    \item \mbox{Test method: Monte Carlo permutation test}&#10;&#10;    \item \mbox{$H_0$: Spatial stationarity&#10;    $\left(\beta_{ij}=\beta_j,\ \forall i\right)$&#10;    vs. $H_1$: Spatial nonstationarity&#10;    $\left(\beta_{ij}\text{ are not all equal}\right)$}&#10;&#10;    \item \mbox{Test statistic: the standard deviation $s_k$ of all local coefficients for a variable,}\\ where the $k$th coefficient measures spatial variation.&#10;&#10;    \begin{itemize}&#10;        \item \mbox{Small $s_k$: little variation across locations.}&#10;        \item \mbox{Large $s_k$: substantial variation across locations.}&#10;    \end{itemize}&#10;&#10;    \item \mbox{Limitation: GWR must be rerun for every permutation, which is computationally expensive.}&#10;    &#10;    \mbox{Possible solutions are reducing the number of simulations or using representative subsamples.}&#10;\end{itemize}&#10;&#10;&#10;&#10;&#10;&#10;\end{document}"/>
  <p:tag name="IGUANATEXSIZE" val="12"/>
  <p:tag name="IGUANATEXCURSOR" val="451"/>
  <p:tag name="TRANSPARENCY" val="True"/>
  <p:tag name="CHOOSECOLOR" val="False"/>
  <p:tag name="COLORHEX" val="000000"/>
  <p:tag name="LATEXENGINEID" val="0"/>
  <p:tag name="TEMPFOLDER" val="c:\temp\"/>
  <p:tag name="LATEXFORMHEIGHT" val=" 388.2"/>
  <p:tag name="LATEXFORMWIDTH" val=" 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31.196"/>
  <p:tag name="ORIGINALWIDTH" val=" 3094.113"/>
  <p:tag name="OUTPUTTYPE" val="PNG"/>
  <p:tag name="IGUANATEXVERSION" val="162"/>
  <p:tag name="LATEXADDIN" val="\documentclass{article}&#10;\usepackage{amsmath}&#10;\pagestyle{empty}&#10;\begin{document}&#10;&#10;\[&#10;\widehat{\mathbf{y}}=\mathbf{L}\mathbf{y},&#10;\qquad&#10;\widehat{\boldsymbol{\varepsilon}}&#10;=&#10;\mathbf{y}-\widehat{\mathbf{y}}&#10;=&#10;(\mathbf{I}-\mathbf{L})\mathbf{y},&#10;\]&#10;&#10;where&#10;&#10;\[&#10;\mathbf{L}&#10;=&#10;\begin{bmatrix}&#10;\mathbf{x}_1^{\mathsf T}&#10;\left(\mathbf{X}^{\mathsf T}\mathbf{W}(1)\mathbf{X}\right)^{-1}&#10;\mathbf{X}^{\mathsf T}\mathbf{W}(1)&#10;\\[2mm]&#10;\mathbf{x}_2^{\mathsf T}&#10;\left(\mathbf{X}^{\mathsf T}\mathbf{W}(2)\mathbf{X}\right)^{-1}&#10;\mathbf{X}^{\mathsf T}\mathbf{W}(2)&#10;\\&#10;\vdots&#10;\\&#10;\mathbf{x}_n^{\mathsf T}&#10;\left(\mathbf{X}^{\mathsf T}\mathbf{W}(n)\mathbf{X}\right)^{-1}&#10;\mathbf{X}^{\mathsf T}\mathbf{W}(n)&#10;\end{bmatrix}.&#10;\]&#10;&#10;\[&#10;RSS_g&#10;=&#10;\widehat{\boldsymbol{\varepsilon}}^{\mathsf T}&#10;\widehat{\boldsymbol{\varepsilon}}&#10;=&#10;\mathbf{y}^{\mathsf T}&#10;(\mathbf{I}-\mathbf{L})^{\mathsf T}&#10;(\mathbf{I}-\mathbf{L})&#10;\mathbf{y}.&#10;\]&#10;&#10;\[&#10;\delta_i&#10;=&#10;\operatorname{tr}&#10;\left\{&#10;\left[&#10;(\mathbf{I}-\mathbf{L})^{\mathsf T}&#10;(\mathbf{I}-\mathbf{L})&#10;\right]^i&#10;\right\},&#10;\qquad i=1,2,&#10;\]&#10;&#10;\[&#10;\widehat{\sigma}^{2}&#10;=&#10;\frac{RSS_g}{\delta_1}.&#10;\]&#10;&#10;&#10;\end{document}"/>
  <p:tag name="IGUANATEXSIZE" val="15"/>
  <p:tag name="IGUANATEXCURSOR" val="90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17.773"/>
  <p:tag name="ORIGINALWIDTH" val=" 3468.317"/>
  <p:tag name="OUTPUTTYPE" val="PNG"/>
  <p:tag name="IGUANATEXVERSION" val="162"/>
  <p:tag name="LATEXADDIN" val="\documentclass{article}&#10;\usepackage{amsmath}&#10;\pagestyle{empty}&#10;\begin{document}&#10;&#10;\[&#10;V_k^2&#10;=&#10;\frac{1}{n}&#10;\sum_{i=1}^{n}&#10;\left(&#10;\widehat{\beta}_{ik}&#10;-&#10;\frac{1}{n}\sum_{j=1}^{n}\widehat{\beta}_{jk}&#10;\right)^2.&#10;\]&#10;&#10;Equivalently,&#10;&#10;\[&#10;V_k^2&#10;=&#10;\frac{1}{n}&#10;\widehat{\boldsymbol{\beta}}_k^{\mathsf T}&#10;\left(&#10;\mathbf{I}-\frac{1}{n}\mathbf{J}&#10;\right)&#10;\widehat{\boldsymbol{\beta}}_k,&#10;\]&#10;&#10;where \(\mathbf{J}\) is an \(n\times n\) matrix whose elements are all equal to one.&#10;&#10;\[&#10;\gamma_i&#10;=&#10;\operatorname{tr}&#10;\left\{&#10;\left[&#10;\frac{1}{n}&#10;\mathbf{B}_k^{\mathsf T}&#10;\left(&#10;\mathbf{I}-\frac{1}{n}\mathbf{J}&#10;\right)&#10;\mathbf{B}_k&#10;\right]^i&#10;\right\},&#10;\qquad i=1,2.&#10;\]&#10;&#10;&#10;\end{document}"/>
  <p:tag name="IGUANATEXSIZE" val="15"/>
  <p:tag name="IGUANATEXCURSOR" val="64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8.823"/>
  <p:tag name="ORIGINALWIDTH" val=" 2989.126"/>
  <p:tag name="OUTPUTTYPE" val="PNG"/>
  <p:tag name="IGUANATEXVERSION" val="162"/>
  <p:tag name="LATEXADDIN" val="\documentclass{article}&#10;\usepackage{amsmath}&#10;\pagestyle{empty}&#10;\begin{document}&#10;&#10;\[&#10;\widehat{\boldsymbol{\beta}}_k&#10;=&#10;\begin{bmatrix}&#10;\widehat{\beta}_{1k} &amp;&#10;\widehat{\beta}_{2k} &amp;&#10;\cdots &amp;&#10;\widehat{\beta}_{nk}&#10;\end{bmatrix}^{\mathsf T}&#10;=&#10;\mathbf{B}_k\mathbf{y},&#10;\]&#10;&#10;where&#10;&#10;\[&#10;\mathbf{B}_k&#10;=&#10;\begin{bmatrix}&#10;\mathbf{e}_k^{\mathsf T}&#10;\left(\mathbf{X}^{\mathsf T}\mathbf{W}(1)\mathbf{X}\right)^{-1}&#10;\mathbf{X}^{\mathsf T}\mathbf{W}(1)&#10;\\[2mm]&#10;\mathbf{e}_k^{\mathsf T}&#10;\left(\mathbf{X}^{\mathsf T}\mathbf{W}(2)\mathbf{X}\right)^{-1}&#10;\mathbf{X}^{\mathsf T}\mathbf{W}(2)&#10;\\&#10;\vdots&#10;\\&#10;\mathbf{e}_k^{\mathsf T}&#10;\left(\mathbf{X}^{\mathsf T}\mathbf{W}(n)\mathbf{X}\right)^{-1}&#10;\mathbf{X}^{\mathsf T}\mathbf{W}(n)&#10;\end{bmatrix}.&#10;\]&#10;&#10;&#10;\end{document}"/>
  <p:tag name="IGUANATEXSIZE" val="15"/>
  <p:tag name="IGUANATEXCURSOR" val="71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69.104"/>
  <p:tag name="ORIGINALWIDTH" val=" 2363.705"/>
  <p:tag name="OUTPUTTYPE" val="PNG"/>
  <p:tag name="IGUANATEXVERSION" val="162"/>
  <p:tag name="LATEXADDIN" val="\documentclass{article}&#10;\usepackage{amsmath}&#10;\pagestyle{empty}&#10;\begin{document}&#10;\begin{flushleft}&#10;\[&#10;\begin{aligned}&#10;&amp;H_0:\quad&#10;\beta_{1k}=\beta_{2k}=\cdots=\beta_{nk},&#10;\\[1mm]&#10;&amp;H_1:\quad&#10;\text{not all }&#10;\beta_{ik},\quad i=1,\ldots,n,&#10;\text{ are equal},&#10;\\[3mm]&#10;&amp;F_3(k)&#10;=&#10;\frac{V_k^2/\gamma_1}&#10;{\widehat{\sigma}^{2}}\overset{H_0}{\sim}&#10;F\left(&#10;\frac{\gamma_1^2}{\gamma_2},&#10;\frac{d_1^2}{d_2}&#10;\right)&#10;\\&#10;&amp;\text{Reject }H_0&#10;\; \text{if}\;&#10;F_3(k)&#10;\geq&#10;F_{\alpha}&#10;\left(&#10;\frac{\gamma_1^2}{\gamma_2},&#10;\frac{d_1^2}{d_2}&#10;\right).&#10;\end{aligned}&#10;\]&#10;\end{flushleft}&#10;&#10;\end{document}"/>
  <p:tag name="IGUANATEXSIZE" val="20"/>
  <p:tag name="IGUANATEXCURSOR" val="40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274.4657"/>
  <p:tag name="OUTPUTTYPE" val="PNG"/>
  <p:tag name="IGUANATEXVERSION" val="162"/>
  <p:tag name="LATEXADDIN" val="\documentclass{article}&#10;\usepackage{amsmath}&#10;\pagestyle{empty}&#10;\begin{document}&#10;\[\beta_1^{*}(s)&#10;\]&#10;&#10;&#10;\end{document}"/>
  <p:tag name="IGUANATEXSIZE" val="20"/>
  <p:tag name="IGUANATEXCURSOR" val="9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274.4657"/>
  <p:tag name="OUTPUTTYPE" val="PNG"/>
  <p:tag name="IGUANATEXVERSION" val="162"/>
  <p:tag name="LATEXADDIN" val="\documentclass{article}&#10;\usepackage{amsmath}&#10;\pagestyle{empty}&#10;\begin{document}&#10;\[\beta_2^{*}(s)&#10;\]&#10;&#10;&#10;\end{document}"/>
  <p:tag name="IGUANATEXSIZE" val="20"/>
  <p:tag name="IGUANATEXCURSOR" val="8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862.3922"/>
  <p:tag name="OUTPUTTYPE" val="PNG"/>
  <p:tag name="IGUANATEXVERSION" val="162"/>
  <p:tag name="LATEXADDIN" val="\documentclass{article}&#10;\usepackage{amsmath}&#10;\pagestyle{empty}&#10;\begin{document}&#10;&#10;\[Z_i\sim N_{10}(\textbf{0}, \textbf{I}_{10})\]&#10;&#10;&#10;\end{document}"/>
  <p:tag name="IGUANATEXSIZE" val="20"/>
  <p:tag name="IGUANATEXCURSOR" val="12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78.74016"/>
  <p:tag name="ORIGINALWIDTH" val=" 295.4631"/>
  <p:tag name="OUTPUTTYPE" val="PNG"/>
  <p:tag name="IGUANATEXVERSION" val="162"/>
  <p:tag name="LATEXADDIN" val="\documentclass{article}&#10;\usepackage{amsmath}&#10;\pagestyle{empty}&#10;\begin{document}&#10;&#10;\[x_1, x_2\]&#10;&#10;&#10;\end{document}"/>
  <p:tag name="IGUANATEXSIZE" val="20"/>
  <p:tag name="IGUANATEXCURSOR" val="9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5.48929"/>
  <p:tag name="ORIGINALWIDTH" val=" 1041.62"/>
  <p:tag name="OUTPUTTYPE" val="PNG"/>
  <p:tag name="IGUANATEXVERSION" val="162"/>
  <p:tag name="LATEXADDIN" val="\documentclass{article}&#10;\usepackage{amsmath}&#10;\pagestyle{empty}&#10;\begin{document}&#10;&#10;\[100\times 10\rightarrow100 \times 2\]&#10;&#10;&#10;\end{document}"/>
  <p:tag name="IGUANATEXSIZE" val="20"/>
  <p:tag name="IGUANATEXCURSOR" val="12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2.7297"/>
  <p:tag name="ORIGINALWIDTH" val=" 980.1275"/>
  <p:tag name="OUTPUTTYPE" val="PNG"/>
  <p:tag name="IGUANATEXVERSION" val="162"/>
  <p:tag name="LATEXADDIN" val="\documentclass{article}&#10;\usepackage{amsmath}&#10;\pagestyle{empty}&#10;\begin{document}&#10;&#10;\[\epsilon(s_i)\overset{ind.}{\sim}N(0,\tau^{2*})\]&#10;&#10;&#10;\end{document}"/>
  <p:tag name="IGUANATEXSIZE" val="20"/>
  <p:tag name="IGUANATEXCURSOR" val="13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.4859"/>
  <p:tag name="ORIGINALWIDTH" val=" 611.9235"/>
  <p:tag name="OUTPUTTYPE" val="PNG"/>
  <p:tag name="IGUANATEXVERSION" val="162"/>
  <p:tag name="LATEXADDIN" val="\documentclass{article}&#10;\usepackage{amsmath}&#10;\pagestyle{empty}&#10;\begin{document}&#10;&#10;&#10;\[\tau^{2*}=0.001\]&#10;&#10;\end{document}"/>
  <p:tag name="IGUANATEXSIZE" val="20"/>
  <p:tag name="IGUANATEXCURSOR" val="9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0.9861"/>
  <p:tag name="ORIGINALWIDTH" val=" 390.7012"/>
  <p:tag name="OUTPUTTYPE" val="PNG"/>
  <p:tag name="IGUANATEXVERSION" val="162"/>
  <p:tag name="LATEXADDIN" val="\documentclass{article}&#10;\usepackage{amsmath}&#10;\pagestyle{empty}&#10;\begin{document}&#10;&#10;&#10;\[\tau^{2*}=1\]&#10;&#10;\end{document}"/>
  <p:tag name="IGUANATEXSIZE" val="20"/>
  <p:tag name="IGUANATEXCURSOR" val="9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2244.469"/>
  <p:tag name="OUTPUTTYPE" val="PNG"/>
  <p:tag name="IGUANATEXVERSION" val="162"/>
  <p:tag name="LATEXADDIN" val="\documentclass{article}&#10;\usepackage{amsmath}&#10;\pagestyle{empty}&#10;\begin{document}&#10;&#10;\[y(s_i)=\beta_1^*(s_i)x_1(s_i)+\beta_2^*(s_i)x_2(x)+\epsilon(s_i)\]&#10;&#10;&#10;\end{document}"/>
  <p:tag name="IGUANATEXSIZE" val="20"/>
  <p:tag name="IGUANATEXCURSOR" val="14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7.2179"/>
  <p:tag name="ORIGINALWIDTH" val=" 1026.622"/>
  <p:tag name="OUTPUTTYPE" val="PNG"/>
  <p:tag name="IGUANATEXVERSION" val="162"/>
  <p:tag name="LATEXADDIN" val="\documentclass{article}&#10;\usepackage{amsmath}&#10;\pagestyle{empty}&#10;\begin{document}&#10;&#10;&#10;\[w_j(s)=exp(-\frac{d_{sj}}{b})\]&#10;&#10;\end{document}"/>
  <p:tag name="IGUANATEXSIZE" val="20"/>
  <p:tag name="IGUANATEXCURSOR" val="11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2.9846"/>
  <p:tag name="ORIGINALWIDTH" val=" 145.4818"/>
  <p:tag name="OUTPUTTYPE" val="PNG"/>
  <p:tag name="IGUANATEXVERSION" val="162"/>
  <p:tag name="LATEXADDIN" val="\documentclass{article}&#10;\usepackage{amsmath}&#10;\pagestyle{empty}&#10;\begin{document}&#10;\[d_{sj}\]&#10;&#10;&#10;&#10;\end{document}"/>
  <p:tag name="IGUANATEXSIZE" val="20"/>
  <p:tag name="IGUANATEXCURSOR" val="8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.4859"/>
  <p:tag name="ORIGINALWIDTH" val=" 611.9235"/>
  <p:tag name="OUTPUTTYPE" val="PNG"/>
  <p:tag name="IGUANATEXVERSION" val="162"/>
  <p:tag name="LATEXADDIN" val="\documentclass{article}&#10;\usepackage{amsmath}&#10;\pagestyle{empty}&#10;\begin{document}&#10;&#10;&#10;\[\tau^{2*}=0.001\]&#10;&#10;\end{document}"/>
  <p:tag name="IGUANATEXSIZE" val="20"/>
  <p:tag name="IGUANATEXCURSOR" val="9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0.9861"/>
  <p:tag name="ORIGINALWIDTH" val=" 390.7012"/>
  <p:tag name="OUTPUTTYPE" val="PNG"/>
  <p:tag name="IGUANATEXVERSION" val="162"/>
  <p:tag name="LATEXADDIN" val="\documentclass{article}&#10;\usepackage{amsmath}&#10;\pagestyle{empty}&#10;\begin{document}&#10;&#10;&#10;\[\tau^{2*}=1\]&#10;&#10;\end{document}"/>
  <p:tag name="IGUANATEXSIZE" val="20"/>
  <p:tag name="IGUANATEXCURSOR" val="9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74.24071"/>
  <p:tag name="ORIGINALWIDTH" val=" 83.23961"/>
  <p:tag name="OUTPUTTYPE" val="PNG"/>
  <p:tag name="IGUANATEXVERSION" val="162"/>
  <p:tag name="LATEXADDIN" val="\documentclass{article}&#10;\usepackage{amsmath}&#10;\pagestyle{empty}&#10;\begin{document}&#10;\[s_i\]&#10;&#10;&#10;&#10;\end{document}"/>
  <p:tag name="IGUANATEXSIZE" val="20"/>
  <p:tag name="IGUANATEXCURSOR" val="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315.7105"/>
  <p:tag name="OUTPUTTYPE" val="PNG"/>
  <p:tag name="IGUANATEXVERSION" val="162"/>
  <p:tag name="LATEXADDIN" val="\documentclass{article}&#10;\usepackage{amsmath}&#10;\pagestyle{empty}&#10;\begin{document}&#10;&#10;\[\beta_k^*(s_i)\]&#10;&#10;&#10;\end{document}"/>
  <p:tag name="IGUANATEXSIZE" val="20"/>
  <p:tag name="IGUANATEXCURSOR" val="9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73.4533"/>
  <p:tag name="ORIGINALWIDTH" val=" 1400.075"/>
  <p:tag name="OUTPUTTYPE" val="PNG"/>
  <p:tag name="IGUANATEXVERSION" val="162"/>
  <p:tag name="LATEXADDIN" val="\documentclass{article}&#10;\usepackage{amsmath}&#10;\pagestyle{empty}&#10;\begin{document}&#10;&#10;\[I_{ikr}= \begin{cases}&#10;1,\beta_k^*(s_i)\in CI_{ikr}^{95\%}\\&#10;0, ow&#10;\end{cases}\]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59.2051"/>
  <p:tag name="ORIGINALWIDTH" val=" 1061.867"/>
  <p:tag name="OUTPUTTYPE" val="PNG"/>
  <p:tag name="IGUANATEXVERSION" val="162"/>
  <p:tag name="LATEXADDIN" val="\documentclass{article}&#10;\usepackage{amsmath}&#10;\pagestyle{empty}&#10;\begin{document}&#10;&#10;\[CP_{ik}=\frac{1}{200}\sum_{r=1}^{200}I_{ikr}\]&#10;&#10;&#10;\end{document}"/>
  <p:tag name="IGUANATEXSIZE" val="20"/>
  <p:tag name="IGUANATEXCURSOR" val="12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739.4075"/>
  <p:tag name="OUTPUTTYPE" val="PNG"/>
  <p:tag name="IGUANATEXVERSION" val="162"/>
  <p:tag name="LATEXADDIN" val="\documentclass{article}&#10;\usepackage{amsmath}&#10;\pagestyle{empty}&#10;\begin{document}&#10;\[MeanCP(\beta_k)\]&#10;&#10;\end{document}"/>
  <p:tag name="IGUANATEXSIZE" val="20"/>
  <p:tag name="IGUANATEXCURSOR" val="9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48.4439"/>
  <p:tag name="ORIGINALWIDTH" val=" 2387.701"/>
  <p:tag name="OUTPUTTYPE" val="PNG"/>
  <p:tag name="IGUANATEXVERSION" val="162"/>
  <p:tag name="LATEXADDIN" val="\documentclass{article}&#10;\usepackage{amsmath}&#10;\pagestyle{empty}&#10;\begin{document}&#10;&#10;\[RMSE_r=\sqrt{\frac{1}{200}\sum_{i=1}^{100}\sum_{k=1}^2[\hat{\beta}_{k,r}(s_i)-\beta_k^*(s_i)]^2}\]&#10;&#10;&#10;\end{document}"/>
  <p:tag name="IGUANATEXSIZE" val="20"/>
  <p:tag name="IGUANATEXCURSOR" val="17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5.718"/>
  <p:tag name="ORIGINALWIDTH" val=" 1245.594"/>
  <p:tag name="OUTPUTTYPE" val="PNG"/>
  <p:tag name="IGUANATEXVERSION" val="162"/>
  <p:tag name="LATEXADDIN" val="\documentclass{article}&#10;\usepackage{amsmath}&#10;\pagestyle{empty}&#10;\begin{document}&#10;&#10;\[\overline{RMSE}=\frac{1}{200}RMSE_r\]&#10;&#10;&#10;\end{document}"/>
  <p:tag name="IGUANATEXSIZE" val="20"/>
  <p:tag name="IGUANATEXCURSOR" val="9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862.3922"/>
  <p:tag name="OUTPUTTYPE" val="PNG"/>
  <p:tag name="IGUANATEXVERSION" val="162"/>
  <p:tag name="LATEXADDIN" val="\documentclass{article}&#10;\usepackage{amsmath}&#10;\pagestyle{empty}&#10;\begin{document}&#10;&#10;\[Z_i\sim N_{10}(\textbf{0}, \textbf{I}_{10})\]&#10;&#10;&#10;\end{document}"/>
  <p:tag name="IGUANATEXSIZE" val="14"/>
  <p:tag name="IGUANATEXCURSOR" val="12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78.74016"/>
  <p:tag name="ORIGINALWIDTH" val=" 295.4631"/>
  <p:tag name="OUTPUTTYPE" val="PNG"/>
  <p:tag name="IGUANATEXVERSION" val="162"/>
  <p:tag name="LATEXADDIN" val="\documentclass{article}&#10;\usepackage{amsmath}&#10;\pagestyle{empty}&#10;\begin{document}&#10;&#10;\[x_1, x_2\]&#10;&#10;&#10;\end{document}"/>
  <p:tag name="IGUANATEXSIZE" val="14"/>
  <p:tag name="IGUANATEXCURSOR" val="9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2.7297"/>
  <p:tag name="ORIGINALWIDTH" val=" 980.1275"/>
  <p:tag name="OUTPUTTYPE" val="PNG"/>
  <p:tag name="IGUANATEXVERSION" val="162"/>
  <p:tag name="LATEXADDIN" val="\documentclass{article}&#10;\usepackage{amsmath}&#10;\pagestyle{empty}&#10;\begin{document}&#10;&#10;\[\epsilon(s_i)\overset{ind.}{\sim}N(0,\tau^{2*})\]&#10;&#10;&#10;\end{document}"/>
  <p:tag name="IGUANATEXSIZE" val="14"/>
  <p:tag name="IGUANATEXCURSOR" val="13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2244.469"/>
  <p:tag name="OUTPUTTYPE" val="PNG"/>
  <p:tag name="IGUANATEXVERSION" val="162"/>
  <p:tag name="LATEXADDIN" val="\documentclass{article}&#10;\usepackage{amsmath}&#10;\pagestyle{empty}&#10;\begin{document}&#10;&#10;&#10;\[y(s_i)=\beta_1^*(s_i)x_1(s_i)+\beta_2^*(s_i)x_2(x)+\epsilon(s_i)\]&#10;&#10;\end{document}"/>
  <p:tag name="IGUANATEXSIZE" val="14"/>
  <p:tag name="IGUANATEXCURSOR" val="15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.4859"/>
  <p:tag name="ORIGINALWIDTH" val=" 108.7364"/>
  <p:tag name="OUTPUTTYPE" val="PNG"/>
  <p:tag name="IGUANATEXVERSION" val="162"/>
  <p:tag name="LATEXADDIN" val="\documentclass{article}&#10;\usepackage{amsmath}&#10;\pagestyle{empty}&#10;\begin{document}&#10;&#10;\[\beta_1\]&#10;&#10;&#10;\end{document}"/>
  <p:tag name="IGUANATEXSIZE" val="14"/>
  <p:tag name="IGUANATEXCURSOR" val="9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.4859"/>
  <p:tag name="ORIGINALWIDTH" val=" 111.7361"/>
  <p:tag name="OUTPUTTYPE" val="PNG"/>
  <p:tag name="IGUANATEXVERSION" val="162"/>
  <p:tag name="LATEXADDIN" val="\documentclass{article}&#10;\usepackage{amsmath}&#10;\pagestyle{empty}&#10;\begin{document}&#10;&#10;\[\beta_2\]&#10;&#10;&#10;\end{document}"/>
  <p:tag name="IGUANATEXSIZE" val="14"/>
  <p:tag name="IGUANATEXCURSOR" val="9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4427</TotalTime>
  <Words>3640</Words>
  <Application>Microsoft Office PowerPoint</Application>
  <PresentationFormat>寬螢幕</PresentationFormat>
  <Paragraphs>686</Paragraphs>
  <Slides>46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5" baseType="lpstr">
      <vt:lpstr>微軟正黑體</vt:lpstr>
      <vt:lpstr>標楷體</vt:lpstr>
      <vt:lpstr>Arial</vt:lpstr>
      <vt:lpstr>Calibri</vt:lpstr>
      <vt:lpstr>Calibri Light</vt:lpstr>
      <vt:lpstr>CMU Serif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ricki len</dc:creator>
  <cp:lastModifiedBy>ricki len</cp:lastModifiedBy>
  <cp:revision>41</cp:revision>
  <dcterms:created xsi:type="dcterms:W3CDTF">2026-02-06T08:38:10Z</dcterms:created>
  <dcterms:modified xsi:type="dcterms:W3CDTF">2026-07-25T13:39:35Z</dcterms:modified>
</cp:coreProperties>
</file>