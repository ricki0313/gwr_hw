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59" r:id="rId4"/>
    <p:sldId id="258" r:id="rId5"/>
    <p:sldId id="278" r:id="rId6"/>
    <p:sldId id="280" r:id="rId7"/>
    <p:sldId id="279" r:id="rId8"/>
    <p:sldId id="26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9" r:id="rId17"/>
    <p:sldId id="291" r:id="rId18"/>
    <p:sldId id="292" r:id="rId19"/>
    <p:sldId id="293" r:id="rId20"/>
    <p:sldId id="294" r:id="rId21"/>
    <p:sldId id="295" r:id="rId22"/>
    <p:sldId id="296" r:id="rId23"/>
    <p:sldId id="297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BEEC"/>
    <a:srgbClr val="333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54" autoAdjust="0"/>
    <p:restoredTop sz="95184" autoAdjust="0"/>
  </p:normalViewPr>
  <p:slideViewPr>
    <p:cSldViewPr snapToGrid="0">
      <p:cViewPr varScale="1">
        <p:scale>
          <a:sx n="85" d="100"/>
          <a:sy n="85" d="100"/>
        </p:scale>
        <p:origin x="634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F26E95-540F-6A67-2877-0B9F1739A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E222F1A-E08D-4C1C-F8CA-591F190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A33349-2780-F1DE-877F-03BB6D254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33BD3D-261A-8ADE-B11E-72D37ECA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2AB320-4EDA-25CB-56AE-BB31BF25B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464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211F6C-5C17-1FAE-B4E3-E078E78A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5557E4-CB46-CF64-B8BD-153F54443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F61226-E078-333C-E7D4-F1E6B76AB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F9B423-FCD7-629C-5B4E-D590DE94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077F8A-1E3F-21A0-942F-1A52A58C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845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33BD06-0FDE-D5B8-42EC-740BDEC1F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F3DC64-B25B-03CD-28CA-4DFA19955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495616-066C-8740-8A65-9B3C26AA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AC7D99-8BD0-C3B3-DE8E-A415DFDA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DDF187-28A3-3851-C904-6813A969B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4070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CD396B-EDFC-705C-2F3B-0407E0D0D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09E43B-0A44-2F0A-BB3C-2F9362E86C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D443EE-530F-90D8-E2FC-6047B3E4D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1822C6C-A13F-E709-543E-0F6F0A4B8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673E542-CEFA-B78D-A2E6-E791F487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9C2518-6C34-7810-FC0D-94B499325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037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31AA3-5327-62F8-A4FA-4D2E1DBA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CD321CC-70C6-7764-FC92-A16B905F7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B52C95A-F0C6-240C-44F8-18A813DC8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361842E-E182-8B6A-A89F-AA7A1407A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23E197F-E0DE-4E3E-E23F-066BC4C75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D0CD9D-2133-3947-AF69-2A49C9883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922621C-59F0-CFC9-82CA-A6D337D3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5897ABC-D3BD-AFEE-5799-C1510A3E3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0255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BFC434-0D3F-DF78-0169-73656466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0166A15-E36D-5637-8DF7-ED416E5DE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2FF5426-2361-3F3C-B14D-24D9409B4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47CD0D9-DAD0-0200-9B7E-E84CDD2A5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6814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CAFBC21-3231-1C39-FC11-926EC4FFF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B812E6B-3661-7435-7A81-77B00A8F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A3FD86-F33B-517B-74EC-4E9E53050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351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3171F-75F0-A63D-7DD5-152E5D93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656AC8-8BD4-A46D-12D6-BFC5D0C1F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D8B0F5A-DBC7-3B30-F76C-9AF6959B4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88E2D67-0C57-0687-61AC-ABABE020F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64CB42-89CF-7935-3998-59BA6375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E4B7B5-0C46-FB95-287C-3A6E5D790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034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243C97-1E6B-A362-92C1-4C0B4C2AF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C7D2458-AC1B-0BC9-3ADE-FF671642A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69E334D-C736-FDB6-CF05-DB7CCFDCB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F5891D9-135E-7EC7-19AA-CEA9F2628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DF7F3F-8EC0-C5C8-B762-A75C9D76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2F98B1D-F893-263B-ACAB-84A2DA72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375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476F06-C35A-2407-A105-46583C142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70C96A1-2F64-5CAD-3C0E-C4B722B89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D5715E-594B-DE9D-2B2F-707EBE3DF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83F906-E7C7-F692-C39A-49A3309E8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1B1C4B-E16F-A8C4-9455-72D4E9F0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7646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81CB110-D20D-EE44-8F17-2AD6EF1DD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E98B36C-525B-40FB-0616-E10ED90A2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2FE02B-6573-2A34-C181-0CA2B46A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56AFA2-0EE0-A258-77F9-61D82A9F4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D799FB-2AA0-1A14-8FDC-4E41F161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9742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AA68FDE-F45F-5C35-0D4F-54B089D9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FFE46C-AEA8-5791-8702-D8303FC8F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21DB7A-A06C-9A02-569E-D551F1C5EA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45493-35B4-4159-803A-59E339B62678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77FC9B-F999-EC99-2D8A-E7BF42323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C2D60D-376B-EBF4-5696-54F1EAD84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495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microsoft.com/office/2007/relationships/hdphoto" Target="../media/hdphoto2.wdp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microsoft.com/office/2007/relationships/hdphoto" Target="../media/hdphoto4.wdp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9.png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microsoft.com/office/2007/relationships/hdphoto" Target="../media/hdphoto6.wdp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1.png"/><Relationship Id="rId5" Type="http://schemas.microsoft.com/office/2007/relationships/hdphoto" Target="../media/hdphoto5.wdp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microsoft.com/office/2007/relationships/hdphoto" Target="../media/hdphoto8.wdp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3.png"/><Relationship Id="rId5" Type="http://schemas.microsoft.com/office/2007/relationships/hdphoto" Target="../media/hdphoto7.wdp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microsoft.com/office/2007/relationships/hdphoto" Target="../media/hdphoto12.wdp"/><Relationship Id="rId3" Type="http://schemas.openxmlformats.org/officeDocument/2006/relationships/tags" Target="../tags/tag15.xml"/><Relationship Id="rId7" Type="http://schemas.microsoft.com/office/2007/relationships/hdphoto" Target="../media/hdphoto9.wdp"/><Relationship Id="rId12" Type="http://schemas.openxmlformats.org/officeDocument/2006/relationships/image" Target="../media/image17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4.png"/><Relationship Id="rId11" Type="http://schemas.microsoft.com/office/2007/relationships/hdphoto" Target="../media/hdphoto11.wdp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6.png"/><Relationship Id="rId4" Type="http://schemas.openxmlformats.org/officeDocument/2006/relationships/tags" Target="../tags/tag16.xml"/><Relationship Id="rId9" Type="http://schemas.microsoft.com/office/2007/relationships/hdphoto" Target="../media/hdphoto10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23849D50-B317-EA3F-5CF1-7FEA3DDEFDE4}"/>
              </a:ext>
            </a:extLst>
          </p:cNvPr>
          <p:cNvSpPr/>
          <p:nvPr/>
        </p:nvSpPr>
        <p:spPr>
          <a:xfrm>
            <a:off x="1223963" y="2332831"/>
            <a:ext cx="9744075" cy="1468438"/>
          </a:xfrm>
          <a:prstGeom prst="roundRect">
            <a:avLst/>
          </a:prstGeom>
          <a:solidFill>
            <a:srgbClr val="3333B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地理加權迴歸GWR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</a:rPr>
              <a:t>: </a:t>
            </a:r>
          </a:p>
          <a:p>
            <a:pPr algn="ctr"/>
            <a:r>
              <a:rPr lang="en-US" altLang="zh-TW" sz="36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基本理論、Package操作、手刻實作</a:t>
            </a:r>
            <a:endParaRPr lang="zh-TW" altLang="en-US" sz="3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215BB4B-36FE-3544-1992-EDFEB580BDFC}"/>
              </a:ext>
            </a:extLst>
          </p:cNvPr>
          <p:cNvSpPr txBox="1"/>
          <p:nvPr/>
        </p:nvSpPr>
        <p:spPr>
          <a:xfrm>
            <a:off x="3048000" y="395356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YUNG-CHUN LAN</a:t>
            </a:r>
            <a:endParaRPr lang="zh-TW" altLang="en-US" sz="28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E03FDF-0205-5835-F8DE-290AAD717C52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131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3EA48-86C3-E9EA-11D6-D6D433721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5F7EBFF-5F23-BC0B-4DB4-14C4B03D194D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C97516-C8FF-864E-544E-265BAAA1F9A2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Outline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5445E56-2DFC-8B66-384F-943E2BBDA3DD}"/>
              </a:ext>
            </a:extLst>
          </p:cNvPr>
          <p:cNvSpPr txBox="1"/>
          <p:nvPr/>
        </p:nvSpPr>
        <p:spPr>
          <a:xfrm>
            <a:off x="1278101" y="1860411"/>
            <a:ext cx="651608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GWR </a:t>
            </a:r>
            <a:r>
              <a:rPr lang="zh-TW" altLang="en-US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理論背景</a:t>
            </a:r>
            <a:endParaRPr lang="en-US" altLang="zh-TW" sz="2800" b="1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GWR</a:t>
            </a:r>
            <a:r>
              <a:rPr lang="zh-TW" altLang="en-US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 估計流程</a:t>
            </a:r>
            <a:endParaRPr lang="en-US" altLang="zh-TW" sz="2800" b="1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Georgia </a:t>
            </a:r>
            <a:r>
              <a:rPr lang="zh-TW" altLang="en-US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縣級資料實作</a:t>
            </a:r>
            <a:endParaRPr lang="en-US" altLang="zh-TW" sz="2800" b="1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R Package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復刻分析流程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手刻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GWR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核心內容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套件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vs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手刻結果比較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結果視覺化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73152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BF3F5-159C-5B4C-1F7B-93BE2377E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FC46CB3-7A9E-F1C3-BD6C-AB876346C120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269C20-42DF-83D4-2264-6AA8FD50C95D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研究背景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4B307AD-AF99-46E8-3BC7-D0AFA3149CC3}"/>
              </a:ext>
            </a:extLst>
          </p:cNvPr>
          <p:cNvSpPr txBox="1"/>
          <p:nvPr/>
        </p:nvSpPr>
        <p:spPr>
          <a:xfrm>
            <a:off x="817048" y="1301817"/>
            <a:ext cx="9366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400" b="1" dirty="0">
                <a:latin typeface="CMU Serif" panose="02000603000000000000" pitchFamily="2" charset="0"/>
                <a:ea typeface="標楷體" panose="03000509000000000000" pitchFamily="65" charset="-120"/>
              </a:rPr>
              <a:t>空間資料具地區差異性，不同變數間的關係可能隨地區改變</a:t>
            </a:r>
            <a:endParaRPr lang="en-US" altLang="zh-TW" sz="2400" b="1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7B606E5-6EAD-74E4-7444-396A43AE5610}"/>
              </a:ext>
            </a:extLst>
          </p:cNvPr>
          <p:cNvSpPr txBox="1"/>
          <p:nvPr/>
        </p:nvSpPr>
        <p:spPr>
          <a:xfrm>
            <a:off x="817048" y="3051439"/>
            <a:ext cx="851906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傳統全域迴歸模型</a:t>
            </a:r>
            <a:endParaRPr lang="en-US" altLang="zh-TW" sz="2800" b="1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r>
              <a:rPr lang="zh-TW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共享同一組參數，較難呈現空間局部差異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31F15D1-B059-F673-351D-8D72F206C226}"/>
              </a:ext>
            </a:extLst>
          </p:cNvPr>
          <p:cNvSpPr txBox="1"/>
          <p:nvPr/>
        </p:nvSpPr>
        <p:spPr>
          <a:xfrm>
            <a:off x="817047" y="4261111"/>
            <a:ext cx="700914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CMU Serif" panose="02000603000000000000" pitchFamily="2" charset="0"/>
                <a:ea typeface="標楷體" panose="03000509000000000000" pitchFamily="65" charset="-120"/>
              </a:rPr>
              <a:t>GWR</a:t>
            </a:r>
          </a:p>
          <a:p>
            <a:r>
              <a:rPr lang="zh-TW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引入距離加權觀念，在不同位置估計局部迴歸係數，使模型能夠描述變數關係的空間差異。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C3AE7D-7B83-8231-1E21-6A045A0B8E84}"/>
              </a:ext>
            </a:extLst>
          </p:cNvPr>
          <p:cNvSpPr txBox="1"/>
          <p:nvPr/>
        </p:nvSpPr>
        <p:spPr>
          <a:xfrm>
            <a:off x="817048" y="1718657"/>
            <a:ext cx="61228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範例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屋齡與房價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“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鄉村地區老房子有特色，可能越老越貴；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都市地區老房子品質差，可能越老越便宜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”</a:t>
            </a:r>
            <a:endParaRPr lang="zh-TW" altLang="en-US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3253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0ABA75F-FD9E-3ACE-C3BC-8B9954CFCE29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39D13C-5521-5E63-2B78-C688667C80A2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理論背景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空間非平穩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B0DB634-2D3A-C500-1ADD-8B57EB6DF27C}"/>
              </a:ext>
            </a:extLst>
          </p:cNvPr>
          <p:cNvSpPr txBox="1"/>
          <p:nvPr/>
        </p:nvSpPr>
        <p:spPr>
          <a:xfrm>
            <a:off x="1516298" y="1857018"/>
            <a:ext cx="65160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dirty="0">
                <a:latin typeface="CMU Serif" panose="02000603000000000000" pitchFamily="2" charset="0"/>
                <a:ea typeface="標楷體" panose="03000509000000000000" pitchFamily="65" charset="-120"/>
              </a:rPr>
              <a:t>空間資料特性</a:t>
            </a:r>
            <a:endParaRPr lang="en-US" altLang="zh-TW" sz="2400" b="1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不同地區可能具不同社會、經濟、地理條件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相同解釋變數在不同位置可能呈現不同關係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05A50E7-080D-2020-298F-F33B21A91DC1}"/>
              </a:ext>
            </a:extLst>
          </p:cNvPr>
          <p:cNvSpPr txBox="1"/>
          <p:nvPr/>
        </p:nvSpPr>
        <p:spPr>
          <a:xfrm>
            <a:off x="1516298" y="4356794"/>
            <a:ext cx="65160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造成空間非平穩可能原因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</a:p>
          <a:p>
            <a:pPr marL="342900" indent="-342900"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抽樣誤差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變數關係確實存在地區差異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8E1D9325-C3DD-E18B-FAB1-5E2F2175EE66}"/>
              </a:ext>
            </a:extLst>
          </p:cNvPr>
          <p:cNvGrpSpPr/>
          <p:nvPr/>
        </p:nvGrpSpPr>
        <p:grpSpPr>
          <a:xfrm>
            <a:off x="1516298" y="3097681"/>
            <a:ext cx="8270384" cy="1099335"/>
            <a:chOff x="481011" y="1537038"/>
            <a:chExt cx="5623200" cy="847467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DE164692-A9F3-E5B7-8412-1E9FC2B92DEF}"/>
                </a:ext>
              </a:extLst>
            </p:cNvPr>
            <p:cNvSpPr/>
            <p:nvPr/>
          </p:nvSpPr>
          <p:spPr>
            <a:xfrm>
              <a:off x="481012" y="1559496"/>
              <a:ext cx="5614988" cy="825009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9" name="矩形: 圓角化同側角落 8">
              <a:extLst>
                <a:ext uri="{FF2B5EF4-FFF2-40B4-BE49-F238E27FC236}">
                  <a16:creationId xmlns:a16="http://schemas.microsoft.com/office/drawing/2014/main" id="{506523F1-5BC4-3826-2F88-9A73D3D8BFF8}"/>
                </a:ext>
              </a:extLst>
            </p:cNvPr>
            <p:cNvSpPr/>
            <p:nvPr/>
          </p:nvSpPr>
          <p:spPr>
            <a:xfrm>
              <a:off x="481011" y="1537038"/>
              <a:ext cx="5623200" cy="35624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定義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: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空間非平穩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Spatial Non-Stationary</a:t>
              </a:r>
            </a:p>
          </p:txBody>
        </p:sp>
      </p:grp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D13A2CC-9964-5895-3BB0-A8EC7B442B52}"/>
              </a:ext>
            </a:extLst>
          </p:cNvPr>
          <p:cNvSpPr txBox="1"/>
          <p:nvPr/>
        </p:nvSpPr>
        <p:spPr>
          <a:xfrm>
            <a:off x="1604684" y="3679845"/>
            <a:ext cx="5333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變數之間的關係會隨空間位置改變</a:t>
            </a:r>
            <a:endParaRPr lang="en-US" altLang="zh-TW" sz="2000" dirty="0">
              <a:solidFill>
                <a:schemeClr val="bg1"/>
              </a:solidFill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729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CCC71-8378-C9EC-3704-581F0879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84BCB4F-7AD0-C2A3-7A65-E5CD26064A9C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87EB07-9521-6DE7-1CB0-CB2FF708B8B5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理論背景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傳統全域迴歸模型的限制</a:t>
            </a:r>
          </a:p>
        </p:txBody>
      </p:sp>
      <p:pic>
        <p:nvPicPr>
          <p:cNvPr id="33" name="圖片 32" descr="\documentclass{article}&#10;\usepackage{amsmath}&#10;\pagestyle{empty}&#10;\begin{document}&#10;\[&#10;\text{housing prices = $\beta_0$ + $\beta_1$ building age + $\beta_2$ area + $\beta_3$ unemployment + ...}&#10;\]&#10;&#10;&#10;&#10;\end{document}" title="IguanaTex Picture Display">
            <a:extLst>
              <a:ext uri="{FF2B5EF4-FFF2-40B4-BE49-F238E27FC236}">
                <a16:creationId xmlns:a16="http://schemas.microsoft.com/office/drawing/2014/main" id="{9416A8E9-12F9-0AC3-97F2-1C006A5B549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87" y="1616435"/>
            <a:ext cx="8951666" cy="250212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78A5803D-AE5D-71F7-B766-8C3157B9D961}"/>
              </a:ext>
            </a:extLst>
          </p:cNvPr>
          <p:cNvSpPr txBox="1"/>
          <p:nvPr/>
        </p:nvSpPr>
        <p:spPr>
          <a:xfrm>
            <a:off x="201706" y="1151076"/>
            <a:ext cx="61228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全域迴歸模型</a:t>
            </a:r>
            <a:endParaRPr lang="zh-TW" altLang="en-US" sz="2400" b="1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94294E8-EDA8-66AB-90B2-0E7FAD34CBD2}"/>
              </a:ext>
            </a:extLst>
          </p:cNvPr>
          <p:cNvSpPr txBox="1"/>
          <p:nvPr/>
        </p:nvSpPr>
        <p:spPr>
          <a:xfrm>
            <a:off x="201706" y="2254822"/>
            <a:ext cx="532951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問題</a:t>
            </a:r>
            <a:endParaRPr lang="en-US" altLang="zh-TW" sz="2400" b="1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使用同一組係數估計整個國家，得到的模型只是整個國家的平均關係，不一定適用所有地區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87C3FA1C-89B1-28A0-A08F-377C34A412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63" b="3821"/>
          <a:stretch>
            <a:fillRect/>
          </a:stretch>
        </p:blipFill>
        <p:spPr>
          <a:xfrm>
            <a:off x="6660777" y="2236892"/>
            <a:ext cx="4244788" cy="3412078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F1F6897F-F709-6250-1ADE-D97F96E76F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565" b="81174"/>
          <a:stretch>
            <a:fillRect/>
          </a:stretch>
        </p:blipFill>
        <p:spPr>
          <a:xfrm>
            <a:off x="10243870" y="4594482"/>
            <a:ext cx="911013" cy="796879"/>
          </a:xfrm>
          <a:prstGeom prst="rect">
            <a:avLst/>
          </a:prstGeom>
        </p:spPr>
      </p:pic>
      <p:sp>
        <p:nvSpPr>
          <p:cNvPr id="31" name="文字方塊 30">
            <a:extLst>
              <a:ext uri="{FF2B5EF4-FFF2-40B4-BE49-F238E27FC236}">
                <a16:creationId xmlns:a16="http://schemas.microsoft.com/office/drawing/2014/main" id="{80C5B630-3F71-03E0-1A89-AAEBE99DB1FF}"/>
              </a:ext>
            </a:extLst>
          </p:cNvPr>
          <p:cNvSpPr txBox="1"/>
          <p:nvPr/>
        </p:nvSpPr>
        <p:spPr>
          <a:xfrm>
            <a:off x="6660777" y="5674413"/>
            <a:ext cx="4814047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全域模型殘差圖 </a:t>
            </a:r>
            <a:r>
              <a:rPr lang="en-US" altLang="zh-TW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 </a:t>
            </a:r>
            <a:r>
              <a:rPr lang="zh-TW" altLang="en-US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估計倫敦房價</a:t>
            </a:r>
            <a:endParaRPr lang="en-US" altLang="zh-TW" sz="16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r>
              <a:rPr lang="en-US" altLang="zh-TW" sz="105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Source: Fotheringham et al. (2012). Geographically Weighted Regression. p.37</a:t>
            </a:r>
            <a:endParaRPr lang="zh-TW" altLang="en-US" sz="105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040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43424-41C2-F80B-9F62-FEDF3EB84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B94CB8F-687A-8D2C-ECE1-C68DB312275D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FF8BB2-7728-F772-7EEE-D11CF85F8293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基本觀念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868CF74-532C-6285-09C7-2AADC5D681B5}"/>
              </a:ext>
            </a:extLst>
          </p:cNvPr>
          <p:cNvSpPr txBox="1"/>
          <p:nvPr/>
        </p:nvSpPr>
        <p:spPr>
          <a:xfrm>
            <a:off x="983876" y="2483658"/>
            <a:ext cx="10224248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共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n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個觀測點，每個點都建構一組迴歸模型，共建構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n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組迴歸模型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使用其他觀測點的資料訓練模型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距迴歸點越近的觀測點，權重越大；距迴歸點越遠的觀測點，權重越小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迴歸點不一定要在觀測點上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024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31206-A09C-333B-36DA-72D53208F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3D3FCB1-FC14-2A64-4C9C-99624AB9D656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7569EE-85EC-A8A1-B0C5-2AF4164FBF48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模型形式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BDEE776-FC3A-A9D6-4C70-787E0F2FE652}"/>
              </a:ext>
            </a:extLst>
          </p:cNvPr>
          <p:cNvSpPr txBox="1"/>
          <p:nvPr/>
        </p:nvSpPr>
        <p:spPr>
          <a:xfrm>
            <a:off x="1196788" y="1839564"/>
            <a:ext cx="87898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</a:t>
            </a:r>
            <a:r>
              <a:rPr lang="zh-TW" altLang="en-US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</a:t>
            </a:r>
            <a:r>
              <a:rPr lang="en-US" altLang="zh-TW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每個點都是一組迴歸模型，共</a:t>
            </a:r>
            <a:r>
              <a:rPr lang="en-US" altLang="zh-TW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n </a:t>
            </a:r>
            <a:r>
              <a:rPr lang="zh-TW" altLang="en-US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組迴歸模型</a:t>
            </a:r>
            <a:endParaRPr lang="zh-TW" altLang="en-US" sz="2400" b="1" dirty="0"/>
          </a:p>
        </p:txBody>
      </p:sp>
      <p:pic>
        <p:nvPicPr>
          <p:cNvPr id="7" name="圖片 6" descr="\documentclass{article}&#10;\usepackage{amsmath}&#10;\pagestyle{empty}&#10;\begin{document}&#10;&#10;\[&#10;\mathbf{y}&#10;=&#10;(\mathbf{B}\otimes \mathbf{X})\,\mathbf{1}&#10;+&#10;\boldsymbol{\varepsilon}&#10;\]&#10;&#10;where&#10;&#10;\[&#10;\mathbf{B}&#10;=&#10;\begin{bmatrix}&#10;\beta_0(u_1,v_1) &amp; \beta_1(u_1,v_1) &amp; \cdots &amp; \beta_k(u_1,v_1) \\&#10;\beta_0(u_2,v_2) &amp; \beta_1(u_2,v_2) &amp; \cdots &amp; \beta_k(u_2,v_2) \\&#10;\vdots &amp; \vdots &amp; \ddots &amp; \vdots \\&#10;\beta_0(u_n,v_n) &amp; \beta_1(u_n,v_n) &amp; \cdots &amp; \beta_k(u_n,v_n)&#10;\end{bmatrix},\;&#10;\mathbf{1}&#10;=&#10;\begin{bmatrix}&#10;1\\&#10;1\\&#10;\vdots\\&#10;1&#10;\end{bmatrix}&#10;\]&#10;&#10;&#10;&#10;&#10;\end{document}" title="IguanaTex Picture Display">
            <a:extLst>
              <a:ext uri="{FF2B5EF4-FFF2-40B4-BE49-F238E27FC236}">
                <a16:creationId xmlns:a16="http://schemas.microsoft.com/office/drawing/2014/main" id="{11B28DAD-421B-2936-B223-41F964F714F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71" y="2398729"/>
            <a:ext cx="9097774" cy="299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9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2D33-155F-7EED-0FD4-46DF9DF0F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D79C492-30D9-FE12-D774-B089F6430840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2C6802-9BBB-2BEA-27C8-CC7279933566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係數解</a:t>
            </a:r>
          </a:p>
        </p:txBody>
      </p:sp>
      <p:pic>
        <p:nvPicPr>
          <p:cNvPr id="21" name="圖片 20" descr="\documentclass{article}&#10;\usepackage{amsmath}&#10;\pagestyle{empty}&#10;\begin{document}&#10;&#10;\[&#10;\hat{\beta}(u_i,v_i)&#10;=&#10;\left(&#10;X^{T}W(u_i,v_i)X&#10;\right)^{-1}&#10;X^{T}W(u_i,v_i)\mathbf{y}&#10;\]&#10;where&#10;\[&#10;W(u_i,v_i)&#10;=&#10;\begin{bmatrix}&#10;w_{i1} &amp; 0 &amp; \cdots &amp; 0 \\&#10;0 &amp; w_{i2} &amp; \cdots &amp; 0 \\&#10;\vdots &amp; \vdots &amp; \ddots &amp; \vdots \\&#10;0 &amp; 0 &amp; \cdots &amp; w_{in}&#10;\end{bmatrix},w_{ik}:\text{the weight of kth data at location i}&#10;\]&#10;&#10;\end{document}" title="IguanaTex Picture Display">
            <a:extLst>
              <a:ext uri="{FF2B5EF4-FFF2-40B4-BE49-F238E27FC236}">
                <a16:creationId xmlns:a16="http://schemas.microsoft.com/office/drawing/2014/main" id="{DF0D685D-4799-EF62-4E94-80B8B07AF6D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800" y="3344704"/>
            <a:ext cx="7766400" cy="2149028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3ED778A2-96FD-0089-B7F6-31B1AB9B6AC7}"/>
              </a:ext>
            </a:extLst>
          </p:cNvPr>
          <p:cNvSpPr txBox="1"/>
          <p:nvPr/>
        </p:nvSpPr>
        <p:spPr>
          <a:xfrm>
            <a:off x="2122273" y="2896400"/>
            <a:ext cx="6122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模型係數解 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局部加權最小平方法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):</a:t>
            </a:r>
            <a:endParaRPr lang="zh-TW" altLang="en-US" sz="20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B2907A-CEBA-BC9F-A691-6C39A7C6CBF6}"/>
              </a:ext>
            </a:extLst>
          </p:cNvPr>
          <p:cNvSpPr txBox="1"/>
          <p:nvPr/>
        </p:nvSpPr>
        <p:spPr>
          <a:xfrm>
            <a:off x="2105220" y="1672989"/>
            <a:ext cx="6122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一般迴歸模型係數解 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最小平方法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):</a:t>
            </a:r>
          </a:p>
        </p:txBody>
      </p:sp>
      <p:pic>
        <p:nvPicPr>
          <p:cNvPr id="14" name="圖片 13" descr="\documentclass{article}&#10;\usepackage{amsmath}&#10;\pagestyle{empty}&#10;\begin{document}&#10;&#10;\[&#10;\hat{\beta}&#10;=&#10;\left(&#10;X^{T}X&#10;\right)^{-1}&#10;X^{T}\mathbf{y}&#10;\]&#10;&#10;&#10;\end{document}" title="IguanaTex Picture Display">
            <a:extLst>
              <a:ext uri="{FF2B5EF4-FFF2-40B4-BE49-F238E27FC236}">
                <a16:creationId xmlns:a16="http://schemas.microsoft.com/office/drawing/2014/main" id="{28D7CBAF-DEC8-D04D-4CFD-A1E950EF51E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000" y="2149387"/>
            <a:ext cx="1968000" cy="33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882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0FC9F-638B-AE00-F178-EE2A0BFED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919E31E-4763-F3F4-E5A6-FB9061CBD1F0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BD31D2-3175-4EAC-0B3F-49518606B8B0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權重函數選擇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634744C9-265F-D12A-1FD9-70F84DB7914A}"/>
              </a:ext>
            </a:extLst>
          </p:cNvPr>
          <p:cNvGrpSpPr/>
          <p:nvPr/>
        </p:nvGrpSpPr>
        <p:grpSpPr>
          <a:xfrm>
            <a:off x="2539029" y="1976248"/>
            <a:ext cx="6701563" cy="1102470"/>
            <a:chOff x="481011" y="1537038"/>
            <a:chExt cx="5623200" cy="1050325"/>
          </a:xfrm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74595C55-38FF-9A9E-EB7E-2B2C201D0C27}"/>
                </a:ext>
              </a:extLst>
            </p:cNvPr>
            <p:cNvSpPr/>
            <p:nvPr/>
          </p:nvSpPr>
          <p:spPr>
            <a:xfrm>
              <a:off x="481012" y="1559495"/>
              <a:ext cx="5614988" cy="1027868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8" name="矩形: 圓角化同側角落 7">
              <a:extLst>
                <a:ext uri="{FF2B5EF4-FFF2-40B4-BE49-F238E27FC236}">
                  <a16:creationId xmlns:a16="http://schemas.microsoft.com/office/drawing/2014/main" id="{73658726-AF70-14B6-1B6A-D6C40F76D0C6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全域迴歸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: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不管資料點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j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離迴歸點 </a:t>
              </a:r>
              <a:r>
                <a:rPr lang="en-US" altLang="zh-TW" sz="2000" b="1" dirty="0" err="1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i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多遠，權重都是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1</a:t>
              </a:r>
            </a:p>
          </p:txBody>
        </p:sp>
      </p:grpSp>
      <p:pic>
        <p:nvPicPr>
          <p:cNvPr id="10" name="圖片 9" descr="\documentclass{article}&#10;\usepackage{amsmath}&#10;\pagestyle{empty}&#10;\begin{document}&#10;\[&#10;w_{ij}=1 \;\forall\;i,j&#10;\]&#10;&#10;&#10;\end{document}" title="IguanaTex Picture Display">
            <a:extLst>
              <a:ext uri="{FF2B5EF4-FFF2-40B4-BE49-F238E27FC236}">
                <a16:creationId xmlns:a16="http://schemas.microsoft.com/office/drawing/2014/main" id="{9E3EBA22-E94C-892B-2A01-30856527BBB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601" y="2622051"/>
            <a:ext cx="1490419" cy="266552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FE636403-FEAE-89AB-65D7-B713FD89A995}"/>
              </a:ext>
            </a:extLst>
          </p:cNvPr>
          <p:cNvGrpSpPr/>
          <p:nvPr/>
        </p:nvGrpSpPr>
        <p:grpSpPr>
          <a:xfrm>
            <a:off x="2539029" y="3482173"/>
            <a:ext cx="6701562" cy="1378993"/>
            <a:chOff x="481011" y="1537038"/>
            <a:chExt cx="5623200" cy="1362511"/>
          </a:xfrm>
        </p:grpSpPr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3D1775D8-9D7D-AD46-0A79-EBA0A55C27B5}"/>
                </a:ext>
              </a:extLst>
            </p:cNvPr>
            <p:cNvSpPr/>
            <p:nvPr/>
          </p:nvSpPr>
          <p:spPr>
            <a:xfrm>
              <a:off x="481012" y="1559495"/>
              <a:ext cx="5614988" cy="1340054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3" name="矩形: 圓角化同側角落 12">
              <a:extLst>
                <a:ext uri="{FF2B5EF4-FFF2-40B4-BE49-F238E27FC236}">
                  <a16:creationId xmlns:a16="http://schemas.microsoft.com/office/drawing/2014/main" id="{37DE142B-1FD7-C5B0-6733-050848FD7765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最簡單局部方法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: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距離內算，距離外不算</a:t>
              </a:r>
              <a:endParaRPr lang="en-US" altLang="zh-TW" sz="20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</p:grpSp>
      <p:pic>
        <p:nvPicPr>
          <p:cNvPr id="16" name="圖片 15" descr="\documentclass{article}&#10;\usepackage{amsmath}&#10;\pagestyle{empty}&#10;\begin{document}&#10;&#10;\[&#10;w_{ij}=\left\{  &#10;\begin{aligned}  &#10;&amp;1,\;d_{ij}&lt;d \\  &#10;&amp;0,\; o.w.&#10;\end{aligned}  &#10;\right. &#10;\]&#10;&#10;&#10;\end{document}" title="IguanaTex Picture Display">
            <a:extLst>
              <a:ext uri="{FF2B5EF4-FFF2-40B4-BE49-F238E27FC236}">
                <a16:creationId xmlns:a16="http://schemas.microsoft.com/office/drawing/2014/main" id="{CE2751C7-7CA7-5204-B1E9-9661A2AE14E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973" y="4066314"/>
            <a:ext cx="1699675" cy="650606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E30F3D1C-78E8-9C17-0760-4A537D5D515F}"/>
              </a:ext>
            </a:extLst>
          </p:cNvPr>
          <p:cNvSpPr txBox="1"/>
          <p:nvPr/>
        </p:nvSpPr>
        <p:spPr>
          <a:xfrm>
            <a:off x="2391111" y="4883895"/>
            <a:ext cx="6997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問題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不連續且視窗內權重都是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1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，本質上只是範圍較小的全域迴歸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1620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7E3EA-3EAE-DC5D-AF7D-284BDC1E0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6A9220E-1667-573C-2544-2C859F38F49C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3BE9FC-0127-A5CD-76EE-671CBCAE3597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權重函數選擇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D4C10024-DD01-CEE6-355B-73728D496C84}"/>
              </a:ext>
            </a:extLst>
          </p:cNvPr>
          <p:cNvGrpSpPr/>
          <p:nvPr/>
        </p:nvGrpSpPr>
        <p:grpSpPr>
          <a:xfrm>
            <a:off x="3010864" y="1607857"/>
            <a:ext cx="6534070" cy="1117212"/>
            <a:chOff x="481011" y="1537038"/>
            <a:chExt cx="5623200" cy="1263112"/>
          </a:xfrm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3BD27317-A982-80F4-1266-AB9205CCE310}"/>
                </a:ext>
              </a:extLst>
            </p:cNvPr>
            <p:cNvSpPr/>
            <p:nvPr/>
          </p:nvSpPr>
          <p:spPr>
            <a:xfrm>
              <a:off x="481012" y="1559495"/>
              <a:ext cx="5614988" cy="1240655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8" name="矩形: 圓角化同側角落 7">
              <a:extLst>
                <a:ext uri="{FF2B5EF4-FFF2-40B4-BE49-F238E27FC236}">
                  <a16:creationId xmlns:a16="http://schemas.microsoft.com/office/drawing/2014/main" id="{CA7FBB4B-5CEA-5404-2BAD-0B04B0BFA16D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較好的方法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: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讓權重隨距離平滑下降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(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高斯權重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)</a:t>
              </a: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D780F3E5-FAB2-521A-977D-7ED0FACB919A}"/>
              </a:ext>
            </a:extLst>
          </p:cNvPr>
          <p:cNvGrpSpPr/>
          <p:nvPr/>
        </p:nvGrpSpPr>
        <p:grpSpPr>
          <a:xfrm>
            <a:off x="3010864" y="3565627"/>
            <a:ext cx="6534071" cy="1433551"/>
            <a:chOff x="481011" y="1537038"/>
            <a:chExt cx="5623200" cy="1362511"/>
          </a:xfrm>
        </p:grpSpPr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4FCB02F2-3D31-6839-EE8D-46845A2698EC}"/>
                </a:ext>
              </a:extLst>
            </p:cNvPr>
            <p:cNvSpPr/>
            <p:nvPr/>
          </p:nvSpPr>
          <p:spPr>
            <a:xfrm>
              <a:off x="481012" y="1559495"/>
              <a:ext cx="5614988" cy="1340054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3" name="矩形: 圓角化同側角落 12">
              <a:extLst>
                <a:ext uri="{FF2B5EF4-FFF2-40B4-BE49-F238E27FC236}">
                  <a16:creationId xmlns:a16="http://schemas.microsoft.com/office/drawing/2014/main" id="{CAFFDB0F-EAB5-4F1F-8F1B-6629A51094DC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bi-square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權重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: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平滑下降，但超過範圍直接歸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0</a:t>
              </a:r>
            </a:p>
          </p:txBody>
        </p:sp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D1E6F38-C64C-2529-5509-C9C1A3C0F7C8}"/>
              </a:ext>
            </a:extLst>
          </p:cNvPr>
          <p:cNvSpPr txBox="1"/>
          <p:nvPr/>
        </p:nvSpPr>
        <p:spPr>
          <a:xfrm>
            <a:off x="3214211" y="5116165"/>
            <a:ext cx="6127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不像應切的移動視窗，內部權重都是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1</a:t>
            </a:r>
          </a:p>
          <a:p>
            <a:pPr marL="342900" indent="-342900">
              <a:buAutoNum type="arabicPeriod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明確排除太遠的資料點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buAutoNum type="arabicPeriod"/>
            </a:pP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常用權重函數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pic>
        <p:nvPicPr>
          <p:cNvPr id="6" name="圖片 5" descr="\documentclass{article}&#10;\usepackage{amsmath}&#10;\pagestyle{empty}&#10;\begin{document}&#10;\[&#10;w_{ij}=exp[{-\frac{d_{ij}^2}{2b^2}}]&#10;\]&#10;&#10;\end{document}" title="IguanaTex Picture Display">
            <a:extLst>
              <a:ext uri="{FF2B5EF4-FFF2-40B4-BE49-F238E27FC236}">
                <a16:creationId xmlns:a16="http://schemas.microsoft.com/office/drawing/2014/main" id="{E8181D2D-5203-76D2-0D02-1004127A0A3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756" y="2084421"/>
            <a:ext cx="1618286" cy="526629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3FC356E4-C87F-7F8A-F35F-3B646D28A3C0}"/>
              </a:ext>
            </a:extLst>
          </p:cNvPr>
          <p:cNvSpPr txBox="1"/>
          <p:nvPr/>
        </p:nvSpPr>
        <p:spPr>
          <a:xfrm>
            <a:off x="3214211" y="2822344"/>
            <a:ext cx="6127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問題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即使很遠的資料點，也會被乘上權重</a:t>
            </a:r>
            <a:endParaRPr lang="zh-TW" altLang="en-US" dirty="0"/>
          </a:p>
        </p:txBody>
      </p:sp>
      <p:pic>
        <p:nvPicPr>
          <p:cNvPr id="15" name="圖片 14" descr="\documentclass{article}&#10;\usepackage{amsmath}&#10;\pagestyle{empty}&#10;\begin{document}&#10;\[&#10;w_{ij}=\left\{  &#10;\begin{aligned}  &#10;&amp;[1-(\frac{d_{ij}}{b})^2]^2,\;d_{ij}&lt;b \\  &#10;&amp;0,\; o.w.&#10;\end{aligned}  &#10;\right. &#10;\]&#10;&#10;&#10;&#10;\end{document}" title="IguanaTex Picture Display">
            <a:extLst>
              <a:ext uri="{FF2B5EF4-FFF2-40B4-BE49-F238E27FC236}">
                <a16:creationId xmlns:a16="http://schemas.microsoft.com/office/drawing/2014/main" id="{4E1577EB-9EB0-8F77-2895-356E07273B8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097" y="4037570"/>
            <a:ext cx="2831604" cy="80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747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3F378-C3CD-549E-820B-4CA618055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E9EB818-B91B-EF96-BE4D-7AC800F842EE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A0D539-D867-5827-0BD9-1EE4BAE19F12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觀念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帶寬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Bandwidth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65437016-0756-9803-A4D7-BCBBBAA22F8A}"/>
              </a:ext>
            </a:extLst>
          </p:cNvPr>
          <p:cNvGrpSpPr/>
          <p:nvPr/>
        </p:nvGrpSpPr>
        <p:grpSpPr>
          <a:xfrm>
            <a:off x="1960808" y="1727173"/>
            <a:ext cx="8270384" cy="1582708"/>
            <a:chOff x="481011" y="1537038"/>
            <a:chExt cx="5623200" cy="1220095"/>
          </a:xfrm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E85FA806-F051-CBA8-20F9-95608D4FA3EA}"/>
                </a:ext>
              </a:extLst>
            </p:cNvPr>
            <p:cNvSpPr/>
            <p:nvPr/>
          </p:nvSpPr>
          <p:spPr>
            <a:xfrm>
              <a:off x="481012" y="1559495"/>
              <a:ext cx="5614988" cy="1197638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8" name="矩形: 圓角化同側角落 7">
              <a:extLst>
                <a:ext uri="{FF2B5EF4-FFF2-40B4-BE49-F238E27FC236}">
                  <a16:creationId xmlns:a16="http://schemas.microsoft.com/office/drawing/2014/main" id="{27F1304A-AD8D-AC1D-E885-CFD26F198517}"/>
                </a:ext>
              </a:extLst>
            </p:cNvPr>
            <p:cNvSpPr/>
            <p:nvPr/>
          </p:nvSpPr>
          <p:spPr>
            <a:xfrm>
              <a:off x="481011" y="1537038"/>
              <a:ext cx="5623200" cy="35624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定義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: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帶寬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bandwidth</a:t>
              </a:r>
            </a:p>
          </p:txBody>
        </p:sp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762DB0B-F922-3BA7-8605-FEE6665A4A2F}"/>
              </a:ext>
            </a:extLst>
          </p:cNvPr>
          <p:cNvSpPr txBox="1"/>
          <p:nvPr/>
        </p:nvSpPr>
        <p:spPr>
          <a:xfrm>
            <a:off x="1960808" y="3506553"/>
            <a:ext cx="82703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固定帶寬 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(fixed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bandwidth):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endParaRPr lang="en-US" altLang="zh-TW" sz="2000" b="1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每個迴歸點採用相同範圍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b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空間資料密度不均時易導致估計偏誤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</a:t>
            </a:r>
          </a:p>
          <a:p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可變帶寬 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(adaptive bandwidth)</a:t>
            </a:r>
          </a:p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資料點多的地方採用小範圍，資料點多的地方採用大範圍，保證每個迴歸點模型都使用合理資料量訓練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3402E2-9E32-32FB-9CA3-B71E94D93D7C}"/>
              </a:ext>
            </a:extLst>
          </p:cNvPr>
          <p:cNvSpPr txBox="1"/>
          <p:nvPr/>
        </p:nvSpPr>
        <p:spPr>
          <a:xfrm>
            <a:off x="2032636" y="2171376"/>
            <a:ext cx="81267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GWR </a:t>
            </a:r>
            <a:r>
              <a:rPr lang="zh-TW" altLang="en-US" dirty="0">
                <a:solidFill>
                  <a:schemeClr val="bg1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權重函數中的尺度參數，控制距離對空間權重的影響範圍。</a:t>
            </a:r>
            <a:endParaRPr lang="en-US" altLang="zh-TW" dirty="0">
              <a:solidFill>
                <a:schemeClr val="bg1"/>
              </a:solidFill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r>
              <a:rPr lang="zh-TW" altLang="en-US" dirty="0">
                <a:solidFill>
                  <a:schemeClr val="bg1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帶寬越小，局部迴歸主要受鄰近觀測點影響，模型較能反映局部差異；</a:t>
            </a:r>
            <a:endParaRPr lang="en-US" altLang="zh-TW" dirty="0">
              <a:solidFill>
                <a:schemeClr val="bg1"/>
              </a:solidFill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r>
              <a:rPr lang="zh-TW" altLang="en-US" dirty="0">
                <a:solidFill>
                  <a:schemeClr val="bg1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帶寬越大，較多觀測點參與估計，係數曲面較平滑，模型結果越接近全域迴歸。</a:t>
            </a:r>
            <a:endParaRPr lang="en-US" altLang="zh-TW" dirty="0">
              <a:solidFill>
                <a:schemeClr val="bg1"/>
              </a:solidFill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020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8F96B-EE17-6557-76EB-6D78DBE37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679796D-D8F1-1E67-C875-CEF448CECB2F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B39FB2-3A73-6273-956D-E4A726D67325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可變帶寬形式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A91C97FE-B3F5-D97D-60A7-2A91B0F8F5C5}"/>
              </a:ext>
            </a:extLst>
          </p:cNvPr>
          <p:cNvGrpSpPr/>
          <p:nvPr/>
        </p:nvGrpSpPr>
        <p:grpSpPr>
          <a:xfrm>
            <a:off x="1995246" y="2289864"/>
            <a:ext cx="8201507" cy="1139136"/>
            <a:chOff x="481011" y="1537038"/>
            <a:chExt cx="5623200" cy="1287899"/>
          </a:xfrm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AF8BFE7E-6C13-7A87-6BC8-1EA63BACDCC3}"/>
                </a:ext>
              </a:extLst>
            </p:cNvPr>
            <p:cNvSpPr/>
            <p:nvPr/>
          </p:nvSpPr>
          <p:spPr>
            <a:xfrm>
              <a:off x="481012" y="1559495"/>
              <a:ext cx="5614988" cy="1265442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8" name="矩形: 圓角化同側角落 7">
              <a:extLst>
                <a:ext uri="{FF2B5EF4-FFF2-40B4-BE49-F238E27FC236}">
                  <a16:creationId xmlns:a16="http://schemas.microsoft.com/office/drawing/2014/main" id="{F52608F5-A18F-98E9-BB5B-E2406B1153A2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可變帶寬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1 :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用距離排序決定權重</a:t>
              </a:r>
              <a:endParaRPr lang="en-US" altLang="zh-TW" sz="20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</p:grpSp>
      <p:pic>
        <p:nvPicPr>
          <p:cNvPr id="21" name="圖片 20" descr="\documentclass{article}&#10;\usepackage{amsmath}&#10;\pagestyle{empty}&#10;\begin{document}&#10;\[&#10;w_{ij}=exp(\frac{-R_{ij}}{b})&#10;\text{, where $R_{ij}$ : the rank of data point j at regression point i.}&#10;\]&#10;&#10;\end{document}" title="IguanaTex Picture Display">
            <a:extLst>
              <a:ext uri="{FF2B5EF4-FFF2-40B4-BE49-F238E27FC236}">
                <a16:creationId xmlns:a16="http://schemas.microsoft.com/office/drawing/2014/main" id="{C25639AD-6BB8-E3AE-E936-A16ED4E54A4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039" y="2799514"/>
            <a:ext cx="7761604" cy="480608"/>
          </a:xfrm>
          <a:prstGeom prst="rect">
            <a:avLst/>
          </a:prstGeom>
        </p:spPr>
      </p:pic>
      <p:grpSp>
        <p:nvGrpSpPr>
          <p:cNvPr id="22" name="群組 21">
            <a:extLst>
              <a:ext uri="{FF2B5EF4-FFF2-40B4-BE49-F238E27FC236}">
                <a16:creationId xmlns:a16="http://schemas.microsoft.com/office/drawing/2014/main" id="{E04AB25D-2515-2968-E661-EB3C6F2608E6}"/>
              </a:ext>
            </a:extLst>
          </p:cNvPr>
          <p:cNvGrpSpPr/>
          <p:nvPr/>
        </p:nvGrpSpPr>
        <p:grpSpPr>
          <a:xfrm>
            <a:off x="1995246" y="3749803"/>
            <a:ext cx="8201507" cy="1175119"/>
            <a:chOff x="481011" y="1537038"/>
            <a:chExt cx="5623200" cy="1328581"/>
          </a:xfrm>
        </p:grpSpPr>
        <p:sp>
          <p:nvSpPr>
            <p:cNvPr id="23" name="矩形: 圓角 22">
              <a:extLst>
                <a:ext uri="{FF2B5EF4-FFF2-40B4-BE49-F238E27FC236}">
                  <a16:creationId xmlns:a16="http://schemas.microsoft.com/office/drawing/2014/main" id="{C8E64A01-70A9-E89C-B293-197E71CFB236}"/>
                </a:ext>
              </a:extLst>
            </p:cNvPr>
            <p:cNvSpPr/>
            <p:nvPr/>
          </p:nvSpPr>
          <p:spPr>
            <a:xfrm>
              <a:off x="481012" y="1559495"/>
              <a:ext cx="5614988" cy="1306124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24" name="矩形: 圓角化同側角落 23">
              <a:extLst>
                <a:ext uri="{FF2B5EF4-FFF2-40B4-BE49-F238E27FC236}">
                  <a16:creationId xmlns:a16="http://schemas.microsoft.com/office/drawing/2014/main" id="{49C4E6A7-EDD9-0113-D74A-7EB80AF348EA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可變帶寬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2 :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讓每個點權重總和相同</a:t>
              </a:r>
              <a:endParaRPr lang="en-US" altLang="zh-TW" sz="20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</p:grpSp>
      <p:pic>
        <p:nvPicPr>
          <p:cNvPr id="27" name="圖片 26" descr="\documentclass{article}&#10;\usepackage{amsmath}&#10;\pagestyle{empty}&#10;\begin{document}&#10;\[&#10;\sum_jw_{ij}=C \; \forall \;i&#10;\]&#10;&#10;\end{document}" title="IguanaTex Picture Display">
            <a:extLst>
              <a:ext uri="{FF2B5EF4-FFF2-40B4-BE49-F238E27FC236}">
                <a16:creationId xmlns:a16="http://schemas.microsoft.com/office/drawing/2014/main" id="{1C506964-C5DD-34B2-EDDA-7ABB5F791DE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647" y="4365054"/>
            <a:ext cx="1404729" cy="49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90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90214-09D3-296F-A1E5-514A2037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CC20235-CC9D-5C10-EDB0-70DE039ECDE0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E9925-5C18-9DAD-D6FE-09D306E61406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可變帶寬形式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7DCA6906-8BF2-2A74-1200-08B1387D4D62}"/>
              </a:ext>
            </a:extLst>
          </p:cNvPr>
          <p:cNvGrpSpPr/>
          <p:nvPr/>
        </p:nvGrpSpPr>
        <p:grpSpPr>
          <a:xfrm>
            <a:off x="1466924" y="1498987"/>
            <a:ext cx="9258152" cy="3860026"/>
            <a:chOff x="1309295" y="1498987"/>
            <a:chExt cx="9258152" cy="3860026"/>
          </a:xfrm>
        </p:grpSpPr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8ECD984D-B268-0ACD-2C5A-042644DB8450}"/>
                </a:ext>
              </a:extLst>
            </p:cNvPr>
            <p:cNvGrpSpPr/>
            <p:nvPr/>
          </p:nvGrpSpPr>
          <p:grpSpPr>
            <a:xfrm>
              <a:off x="1309295" y="1498987"/>
              <a:ext cx="9258152" cy="3860026"/>
              <a:chOff x="481011" y="1537038"/>
              <a:chExt cx="5623200" cy="4364119"/>
            </a:xfrm>
          </p:grpSpPr>
          <p:sp>
            <p:nvSpPr>
              <p:cNvPr id="29" name="矩形: 圓角 28">
                <a:extLst>
                  <a:ext uri="{FF2B5EF4-FFF2-40B4-BE49-F238E27FC236}">
                    <a16:creationId xmlns:a16="http://schemas.microsoft.com/office/drawing/2014/main" id="{638206D0-4DD6-72D5-B565-2C34530C2787}"/>
                  </a:ext>
                </a:extLst>
              </p:cNvPr>
              <p:cNvSpPr/>
              <p:nvPr/>
            </p:nvSpPr>
            <p:spPr>
              <a:xfrm>
                <a:off x="481012" y="1559494"/>
                <a:ext cx="5614988" cy="4341663"/>
              </a:xfrm>
              <a:prstGeom prst="roundRect">
                <a:avLst>
                  <a:gd name="adj" fmla="val 5607"/>
                </a:avLst>
              </a:prstGeom>
              <a:solidFill>
                <a:srgbClr val="3333B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  <p:sp>
            <p:nvSpPr>
              <p:cNvPr id="30" name="矩形: 圓角化同側角落 29">
                <a:extLst>
                  <a:ext uri="{FF2B5EF4-FFF2-40B4-BE49-F238E27FC236}">
                    <a16:creationId xmlns:a16="http://schemas.microsoft.com/office/drawing/2014/main" id="{48F6A1DB-DC5A-D061-ABFA-1C26DAB8D3A6}"/>
                  </a:ext>
                </a:extLst>
              </p:cNvPr>
              <p:cNvSpPr/>
              <p:nvPr/>
            </p:nvSpPr>
            <p:spPr>
              <a:xfrm>
                <a:off x="481011" y="1537038"/>
                <a:ext cx="5623200" cy="43463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BEBEE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TW" altLang="en-US" sz="20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可變帶寬</a:t>
                </a:r>
                <a:r>
                  <a:rPr lang="en-US" altLang="zh-TW" sz="20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 3 :</a:t>
                </a:r>
                <a:r>
                  <a:rPr lang="zh-TW" altLang="en-US" sz="20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固定使用最近的 </a:t>
                </a:r>
                <a:r>
                  <a:rPr lang="en-US" altLang="zh-TW" sz="20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N </a:t>
                </a:r>
                <a:r>
                  <a:rPr lang="zh-TW" altLang="en-US" sz="20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個鄰居 </a:t>
                </a:r>
                <a:r>
                  <a:rPr lang="en-US" altLang="zh-TW" sz="20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(</a:t>
                </a:r>
                <a:r>
                  <a:rPr lang="zh-TW" altLang="en-US" sz="20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最常見</a:t>
                </a:r>
                <a:r>
                  <a:rPr lang="en-US" altLang="zh-TW" sz="2000" b="1" dirty="0">
                    <a:solidFill>
                      <a:srgbClr val="3333B3"/>
                    </a:solidFill>
                    <a:latin typeface="CMU Serif" panose="02000603000000000000" pitchFamily="2" charset="0"/>
                    <a:ea typeface="標楷體" panose="03000509000000000000" pitchFamily="65" charset="-120"/>
                    <a:cs typeface="CMU Serif" panose="02000603000000000000" pitchFamily="2" charset="0"/>
                  </a:rPr>
                  <a:t>)</a:t>
                </a:r>
              </a:p>
            </p:txBody>
          </p:sp>
        </p:grpSp>
        <p:pic>
          <p:nvPicPr>
            <p:cNvPr id="11" name="圖片 10" descr="\documentclass{article}&#10;\usepackage{amsmath}&#10;\pagestyle{empty}&#10;\begin{document}&#10;\[&#10;w_{ij}=\left\{  &#10;\begin{aligned}  &#10;&amp;1,\;\text{j is one of the N points closest to the regression point i.} \\  &#10;&amp;0,\; o.w.&#10;\end{aligned}  &#10;\right. &#10;\]&#10;&#10;\end{document}" title="IguanaTex Picture Display">
              <a:extLst>
                <a:ext uri="{FF2B5EF4-FFF2-40B4-BE49-F238E27FC236}">
                  <a16:creationId xmlns:a16="http://schemas.microsoft.com/office/drawing/2014/main" id="{5E314E7A-5DB2-C8DA-45C1-374AEEDBE644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6002" y="2307895"/>
              <a:ext cx="7531285" cy="778614"/>
            </a:xfrm>
            <a:prstGeom prst="rect">
              <a:avLst/>
            </a:prstGeom>
          </p:spPr>
        </p:pic>
        <p:pic>
          <p:nvPicPr>
            <p:cNvPr id="9" name="圖片 8" descr="\documentclass{article}&#10;\usepackage{amsmath}&#10;\pagestyle{empty}&#10;\begin{document}&#10;\[&#10;w_{ij}=\left\{  &#10;\begin{aligned}  &#10;&amp;1,\;\text{j is one of the N points closest to the regression point i.} \\  &#10;&amp;0,\; o.w.&#10;\end{aligned}  &#10;\right. &#10;\]&#10;\text{combine with bi-square:}&#10;\[&#10;w_{ij}=\left\{  &#10;\begin{aligned}  &#10;&amp;[1-(\frac{d_{ij}}{b})^2]^2,\;\text{j is one of the N points closest to the regression point i.} \\  &#10;&amp;0,\; o.w.&#10;\end{aligned}  &#10;\right.&#10;\]&#10;\end{document}" title="IguanaTex Picture Display">
              <a:extLst>
                <a:ext uri="{FF2B5EF4-FFF2-40B4-BE49-F238E27FC236}">
                  <a16:creationId xmlns:a16="http://schemas.microsoft.com/office/drawing/2014/main" id="{7D55B007-379C-E0B6-A601-ADC7D34BF68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278"/>
            <a:stretch>
              <a:fillRect/>
            </a:stretch>
          </p:blipFill>
          <p:spPr>
            <a:xfrm>
              <a:off x="1530392" y="3302298"/>
              <a:ext cx="8860243" cy="1632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4328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C02CD-CA50-BA65-416A-BA304B694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F32DA39-B29F-ECED-F4B0-D60C2C89CD63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233A0D-FD5D-6D09-8A81-8133D0B157CA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帶寬選擇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EF264AE8-65E4-5F57-6762-4252D93564C7}"/>
              </a:ext>
            </a:extLst>
          </p:cNvPr>
          <p:cNvGrpSpPr/>
          <p:nvPr/>
        </p:nvGrpSpPr>
        <p:grpSpPr>
          <a:xfrm>
            <a:off x="1501313" y="987410"/>
            <a:ext cx="9845192" cy="1139136"/>
            <a:chOff x="481011" y="1537038"/>
            <a:chExt cx="5623200" cy="1287899"/>
          </a:xfrm>
        </p:grpSpPr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AFAC10EC-4FF0-CBA5-E685-3CAEEC132762}"/>
                </a:ext>
              </a:extLst>
            </p:cNvPr>
            <p:cNvSpPr/>
            <p:nvPr/>
          </p:nvSpPr>
          <p:spPr>
            <a:xfrm>
              <a:off x="481012" y="1559495"/>
              <a:ext cx="5614988" cy="1265442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6" name="矩形: 圓角化同側角落 5">
              <a:extLst>
                <a:ext uri="{FF2B5EF4-FFF2-40B4-BE49-F238E27FC236}">
                  <a16:creationId xmlns:a16="http://schemas.microsoft.com/office/drawing/2014/main" id="{F7CC56B0-FDFD-6918-20AD-D7DDCB685CFB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交叉驗證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CV: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預測 </a:t>
              </a:r>
              <a:r>
                <a:rPr lang="en-US" altLang="zh-TW" sz="2000" b="1" dirty="0" err="1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i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點時，不拿 </a:t>
              </a:r>
              <a:r>
                <a:rPr lang="en-US" altLang="zh-TW" sz="2000" b="1" dirty="0" err="1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i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點訓練</a:t>
              </a:r>
              <a:endParaRPr lang="en-US" altLang="zh-TW" sz="20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</p:grpSp>
      <p:pic>
        <p:nvPicPr>
          <p:cNvPr id="10" name="圖片 9" descr="\documentclass{article}&#10;\usepackage{amsmath}&#10;\pagestyle{empty}&#10;\begin{document}&#10;&#10;\[&#10;CV=\sum_{i=1}^n[y_i-\hat{y}_{\neq i}(b)]^2&#10;\]&#10;&#10;&#10;\end{document}" title="IguanaTex Picture Display">
            <a:extLst>
              <a:ext uri="{FF2B5EF4-FFF2-40B4-BE49-F238E27FC236}">
                <a16:creationId xmlns:a16="http://schemas.microsoft.com/office/drawing/2014/main" id="{DC318C7A-B795-7F8A-9614-178D6798852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889" y="1485971"/>
            <a:ext cx="2194041" cy="605757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D7029058-758D-33E4-C75A-DB9EC2F42110}"/>
              </a:ext>
            </a:extLst>
          </p:cNvPr>
          <p:cNvGrpSpPr/>
          <p:nvPr/>
        </p:nvGrpSpPr>
        <p:grpSpPr>
          <a:xfrm>
            <a:off x="1494115" y="2359250"/>
            <a:ext cx="9859589" cy="1139136"/>
            <a:chOff x="481011" y="1537038"/>
            <a:chExt cx="5623200" cy="1287899"/>
          </a:xfrm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9126E18B-1A4B-739B-12CE-B61A4D613872}"/>
                </a:ext>
              </a:extLst>
            </p:cNvPr>
            <p:cNvSpPr/>
            <p:nvPr/>
          </p:nvSpPr>
          <p:spPr>
            <a:xfrm>
              <a:off x="481012" y="1559495"/>
              <a:ext cx="5614988" cy="1265442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5" name="矩形: 圓角化同側角落 14">
              <a:extLst>
                <a:ext uri="{FF2B5EF4-FFF2-40B4-BE49-F238E27FC236}">
                  <a16:creationId xmlns:a16="http://schemas.microsoft.com/office/drawing/2014/main" id="{C1A67530-81E3-84BB-23D1-6548AC340539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廣義交叉驗證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GCV: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預測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i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點時，不拿掉 </a:t>
              </a:r>
              <a:r>
                <a:rPr lang="en-US" altLang="zh-TW" sz="2000" b="1" dirty="0" err="1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i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點，而是用複雜度懲罰模型</a:t>
              </a:r>
              <a:endParaRPr lang="en-US" altLang="zh-TW" sz="20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</p:grpSp>
      <p:pic>
        <p:nvPicPr>
          <p:cNvPr id="18" name="圖片 17" descr="\documentclass{article}&#10;\usepackage{amsmath}&#10;\pagestyle{empty}&#10;\begin{document}&#10;&#10;\[&#10;GCV=n\sum_{i=1}^n[y_i-\hat{y}_i(b)]^2/(n-v_1)^2,\text{where $v_1$=tr(hat matrix S)}&#10;\]&#10;&#10;&#10;\end{document}" title="IguanaTex Picture Display">
            <a:extLst>
              <a:ext uri="{FF2B5EF4-FFF2-40B4-BE49-F238E27FC236}">
                <a16:creationId xmlns:a16="http://schemas.microsoft.com/office/drawing/2014/main" id="{97D07147-6269-DC24-83B8-FB31BA9E564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831" y="2784540"/>
            <a:ext cx="6780157" cy="675196"/>
          </a:xfrm>
          <a:prstGeom prst="rect">
            <a:avLst/>
          </a:prstGeom>
        </p:spPr>
      </p:pic>
      <p:grpSp>
        <p:nvGrpSpPr>
          <p:cNvPr id="19" name="群組 18">
            <a:extLst>
              <a:ext uri="{FF2B5EF4-FFF2-40B4-BE49-F238E27FC236}">
                <a16:creationId xmlns:a16="http://schemas.microsoft.com/office/drawing/2014/main" id="{7CD2D5EF-4A53-66B8-3626-7710F093261F}"/>
              </a:ext>
            </a:extLst>
          </p:cNvPr>
          <p:cNvGrpSpPr/>
          <p:nvPr/>
        </p:nvGrpSpPr>
        <p:grpSpPr>
          <a:xfrm>
            <a:off x="1480572" y="3731090"/>
            <a:ext cx="9886675" cy="1139136"/>
            <a:chOff x="481011" y="1537038"/>
            <a:chExt cx="5623200" cy="1287899"/>
          </a:xfrm>
        </p:grpSpPr>
        <p:sp>
          <p:nvSpPr>
            <p:cNvPr id="20" name="矩形: 圓角 19">
              <a:extLst>
                <a:ext uri="{FF2B5EF4-FFF2-40B4-BE49-F238E27FC236}">
                  <a16:creationId xmlns:a16="http://schemas.microsoft.com/office/drawing/2014/main" id="{A005F00D-F129-7BF9-0010-16B622A24DEB}"/>
                </a:ext>
              </a:extLst>
            </p:cNvPr>
            <p:cNvSpPr/>
            <p:nvPr/>
          </p:nvSpPr>
          <p:spPr>
            <a:xfrm>
              <a:off x="481012" y="1559495"/>
              <a:ext cx="5614988" cy="1265442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21" name="矩形: 圓角化同側角落 20">
              <a:extLst>
                <a:ext uri="{FF2B5EF4-FFF2-40B4-BE49-F238E27FC236}">
                  <a16:creationId xmlns:a16="http://schemas.microsoft.com/office/drawing/2014/main" id="{96D42FF5-5155-9695-010D-79B6CD5782AD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2000" b="1" dirty="0" err="1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AICc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: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同時考慮模型配適度與複雜度，也可用在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Poisson GWR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、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Logistic GWR</a:t>
              </a:r>
            </a:p>
          </p:txBody>
        </p:sp>
      </p:grpSp>
      <p:pic>
        <p:nvPicPr>
          <p:cNvPr id="24" name="圖片 23" descr="\documentclass{article}&#10;\usepackage{amsmath}&#10;\pagestyle{empty}&#10;\begin{document}&#10;&#10;\[&#10;AIC_c=2n\;log(\hat{\sigma})+n\;log(2\pi)+n[\frac{n+tr(S)}{n-2-tr(S)}]&#10;\]&#10;&#10;&#10;\end{document}" title="IguanaTex Picture Display">
            <a:extLst>
              <a:ext uri="{FF2B5EF4-FFF2-40B4-BE49-F238E27FC236}">
                <a16:creationId xmlns:a16="http://schemas.microsoft.com/office/drawing/2014/main" id="{DFC0933F-860D-5468-2897-668B3F97B21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861" y="4209983"/>
            <a:ext cx="5414097" cy="598857"/>
          </a:xfrm>
          <a:prstGeom prst="rect">
            <a:avLst/>
          </a:prstGeom>
        </p:spPr>
      </p:pic>
      <p:grpSp>
        <p:nvGrpSpPr>
          <p:cNvPr id="25" name="群組 24">
            <a:extLst>
              <a:ext uri="{FF2B5EF4-FFF2-40B4-BE49-F238E27FC236}">
                <a16:creationId xmlns:a16="http://schemas.microsoft.com/office/drawing/2014/main" id="{A61587D2-BE54-7AAE-21D7-15E8AA0D268E}"/>
              </a:ext>
            </a:extLst>
          </p:cNvPr>
          <p:cNvGrpSpPr/>
          <p:nvPr/>
        </p:nvGrpSpPr>
        <p:grpSpPr>
          <a:xfrm>
            <a:off x="1508501" y="5102930"/>
            <a:ext cx="9830816" cy="1139136"/>
            <a:chOff x="481011" y="1537038"/>
            <a:chExt cx="5623200" cy="1287899"/>
          </a:xfrm>
        </p:grpSpPr>
        <p:sp>
          <p:nvSpPr>
            <p:cNvPr id="26" name="矩形: 圓角 25">
              <a:extLst>
                <a:ext uri="{FF2B5EF4-FFF2-40B4-BE49-F238E27FC236}">
                  <a16:creationId xmlns:a16="http://schemas.microsoft.com/office/drawing/2014/main" id="{0088A861-518A-2DB2-AA7F-C8DD3FE5709D}"/>
                </a:ext>
              </a:extLst>
            </p:cNvPr>
            <p:cNvSpPr/>
            <p:nvPr/>
          </p:nvSpPr>
          <p:spPr>
            <a:xfrm>
              <a:off x="481012" y="1559495"/>
              <a:ext cx="5614988" cy="1265442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27" name="矩形: 圓角化同側角落 26">
              <a:extLst>
                <a:ext uri="{FF2B5EF4-FFF2-40B4-BE49-F238E27FC236}">
                  <a16:creationId xmlns:a16="http://schemas.microsoft.com/office/drawing/2014/main" id="{17373E42-F5BF-EBCD-42B7-153E21F030EE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BIC: 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比 </a:t>
              </a:r>
              <a:r>
                <a:rPr lang="en-US" altLang="zh-TW" sz="2000" b="1" dirty="0" err="1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AICc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對模型複雜度施加更多懲罰，更傾向選擇簡單 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(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大帶寬</a:t>
              </a:r>
              <a:r>
                <a:rPr lang="en-US" altLang="zh-TW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)</a:t>
              </a:r>
              <a:r>
                <a:rPr lang="zh-TW" altLang="en-US" sz="2000" b="1" dirty="0">
                  <a:solidFill>
                    <a:srgbClr val="3333B3"/>
                  </a:solidFill>
                  <a:latin typeface="CMU Serif" panose="02000603000000000000" pitchFamily="2" charset="0"/>
                  <a:ea typeface="標楷體" panose="03000509000000000000" pitchFamily="65" charset="-120"/>
                  <a:cs typeface="CMU Serif" panose="02000603000000000000" pitchFamily="2" charset="0"/>
                </a:rPr>
                <a:t> 模型</a:t>
              </a:r>
              <a:endParaRPr lang="en-US" altLang="zh-TW" sz="2000" b="1" dirty="0">
                <a:solidFill>
                  <a:srgbClr val="3333B3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endParaRPr>
            </a:p>
          </p:txBody>
        </p:sp>
      </p:grpSp>
      <p:pic>
        <p:nvPicPr>
          <p:cNvPr id="33" name="圖片 32" descr="\documentclass{article}&#10;\usepackage{amsmath}&#10;\pagestyle{empty}&#10;\begin{document}&#10;&#10;\[&#10;BIC=-2\;log(L)+k\;log(n),\text{where $L$: model likelihood}&#10;\]&#10;&#10;&#10;\end{document}" title="IguanaTex Picture Display">
            <a:extLst>
              <a:ext uri="{FF2B5EF4-FFF2-40B4-BE49-F238E27FC236}">
                <a16:creationId xmlns:a16="http://schemas.microsoft.com/office/drawing/2014/main" id="{707E243B-9661-38E9-FB6B-D44CE315713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956" y="5720068"/>
            <a:ext cx="6169907" cy="25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25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32696-D513-38B8-DF3D-413068D03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46E915B-71A0-975A-AADC-9F0D9CD524C6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A4EF66-3E27-1DBF-2D73-2C1F4D1FFB29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概述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5ED2D9E-CDD1-068D-4F58-FA01553312CA}"/>
              </a:ext>
            </a:extLst>
          </p:cNvPr>
          <p:cNvSpPr txBox="1"/>
          <p:nvPr/>
        </p:nvSpPr>
        <p:spPr>
          <a:xfrm>
            <a:off x="871258" y="1971980"/>
            <a:ext cx="10449485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參考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Fotheringham et al. (2012). Geographically Weighted Regression. pp.97-102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估計流程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使用資料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喬治亞州縣級資料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使用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N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近鄰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bandwidth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搭配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bi-square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權重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測試多個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bandwidth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，選擇 </a:t>
            </a:r>
            <a:r>
              <a:rPr lang="en-US" altLang="zh-TW" sz="20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AICc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表現最好的模型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於地圖範圍設置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40*40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網格作為迴歸點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於迴歸點訓練模型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將各解釋變數之局部迴歸係數視覺化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16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1DDF5-1559-B0DC-A894-688B9E8B1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9D8AB0B-45D9-9AD4-D830-66F6F7D679DC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1A0BAE-4853-3649-B564-C61CCF8576FC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資料介紹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B2ABFC7-57C1-9857-37ED-6805A3FAD798}"/>
              </a:ext>
            </a:extLst>
          </p:cNvPr>
          <p:cNvSpPr txBox="1"/>
          <p:nvPr/>
        </p:nvSpPr>
        <p:spPr>
          <a:xfrm>
            <a:off x="284441" y="871784"/>
            <a:ext cx="9926170" cy="1719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使用 </a:t>
            </a:r>
            <a:r>
              <a:rPr lang="en-US" altLang="zh-TW" sz="18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r>
              <a:rPr lang="zh-TW" altLang="en-US" sz="1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套件內建之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Georgia census data set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美國喬治亞州縣級人口普查資料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每筆觀測值代表喬治亞州的一個縣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159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筆觀測值、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13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個變數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926FD77-1250-FA98-ABBD-86DDCB356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582301"/>
              </p:ext>
            </p:extLst>
          </p:nvPr>
        </p:nvGraphicFramePr>
        <p:xfrm>
          <a:off x="5800166" y="1220820"/>
          <a:ext cx="6209178" cy="4624172"/>
        </p:xfrm>
        <a:graphic>
          <a:graphicData uri="http://schemas.openxmlformats.org/drawingml/2006/table">
            <a:tbl>
              <a:tblPr/>
              <a:tblGrid>
                <a:gridCol w="1006048">
                  <a:extLst>
                    <a:ext uri="{9D8B030D-6E8A-4147-A177-3AD203B41FA5}">
                      <a16:colId xmlns:a16="http://schemas.microsoft.com/office/drawing/2014/main" val="4182461831"/>
                    </a:ext>
                  </a:extLst>
                </a:gridCol>
                <a:gridCol w="1121495">
                  <a:extLst>
                    <a:ext uri="{9D8B030D-6E8A-4147-A177-3AD203B41FA5}">
                      <a16:colId xmlns:a16="http://schemas.microsoft.com/office/drawing/2014/main" val="2101174915"/>
                    </a:ext>
                  </a:extLst>
                </a:gridCol>
                <a:gridCol w="4081635">
                  <a:extLst>
                    <a:ext uri="{9D8B030D-6E8A-4147-A177-3AD203B41FA5}">
                      <a16:colId xmlns:a16="http://schemas.microsoft.com/office/drawing/2014/main" val="2304305079"/>
                    </a:ext>
                  </a:extLst>
                </a:gridCol>
              </a:tblGrid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變數名稱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角色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變數說明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E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637945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AreaKey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識別變數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各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的識別編號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288805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Latitude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座標變數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centroid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的緯度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604691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Longitud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座標變數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centroid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的經度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865977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TotPop90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背景變數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1990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年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總人口數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656052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PctRural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解釋變數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中被定義為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rural population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的人口比例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385668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PctBach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應變數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中具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學士學位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的人口比例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156842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PctEld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解釋變數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中 </a:t>
                      </a:r>
                      <a:r>
                        <a:rPr lang="en-US" altLang="zh-TW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65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歲以上人口比例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183123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PctFB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解釋變數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中非美國出生人口比例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844356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PctPov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解釋變數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中低於貧窮線人口比例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40065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PctBlack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解釋變數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黑人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人口比例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474209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ID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識別變數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數值型 </a:t>
                      </a: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ID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615945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空間座標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centroid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的 </a:t>
                      </a: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座標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225209"/>
                  </a:ext>
                </a:extLst>
              </a:tr>
              <a:tr h="330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空間座標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County centroid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的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Y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座標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62504"/>
                  </a:ext>
                </a:extLst>
              </a:tr>
            </a:tbl>
          </a:graphicData>
        </a:graphic>
      </p:graphicFrame>
      <p:pic>
        <p:nvPicPr>
          <p:cNvPr id="32" name="圖片 31" descr="\documentclass{article}&#10;\usepackage{amsmath}&#10;\pagestyle{empty}&#10;\begin{document}&#10;\[&#10;\begin{aligned}&#10;PctBach_i&#10;&amp;= \beta_0(i) \\&#10;&amp;+ \beta_1(i)PctRural_i \\&#10;&amp;+ \beta_2(i)PctEld_i \\&#10;&amp;+ \beta_3(i)PctFB_i \\&#10;&amp;+ \beta_4(i)PctPov_i \\&#10;&amp;+ \beta_5(i)PctBlack_i \\&#10;&amp;+ \epsilon_i&#10;\end{aligned}&#10;\]&#10;\[&#10;\text{where i: ith point in the space.}&#10;\]&#10;\end{document}" title="IguanaTex Picture Display">
            <a:extLst>
              <a:ext uri="{FF2B5EF4-FFF2-40B4-BE49-F238E27FC236}">
                <a16:creationId xmlns:a16="http://schemas.microsoft.com/office/drawing/2014/main" id="{802441B4-E88B-699D-10D3-3D01FB36A1A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98" y="3194911"/>
            <a:ext cx="3181467" cy="2764389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A86C31AB-B8A9-61D3-8AF2-B12D1D060180}"/>
              </a:ext>
            </a:extLst>
          </p:cNvPr>
          <p:cNvSpPr txBox="1"/>
          <p:nvPr/>
        </p:nvSpPr>
        <p:spPr>
          <a:xfrm>
            <a:off x="284441" y="2683824"/>
            <a:ext cx="3047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模型設定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F53213B-A7FB-B8F5-19F4-C6C3CC69B391}"/>
              </a:ext>
            </a:extLst>
          </p:cNvPr>
          <p:cNvSpPr txBox="1"/>
          <p:nvPr/>
        </p:nvSpPr>
        <p:spPr>
          <a:xfrm>
            <a:off x="8255184" y="5917029"/>
            <a:ext cx="39108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Source: package ‘</a:t>
            </a:r>
            <a:r>
              <a:rPr lang="en-US" altLang="zh-TW" sz="12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’ documentation pp.16-17</a:t>
            </a:r>
            <a:endParaRPr lang="zh-TW" altLang="en-US" sz="12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939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DA5F9-0209-64EC-49F1-46F6BE55E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D42680F-2441-E785-C800-CEF61E698367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C0B31B-CFAF-33F1-3ACA-D631F0F6066B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使用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R Package “</a:t>
            </a:r>
            <a:r>
              <a:rPr lang="en-US" altLang="zh-TW" sz="28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”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B08E4E7-125B-15D2-DA0C-3E445C229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795237"/>
              </p:ext>
            </p:extLst>
          </p:nvPr>
        </p:nvGraphicFramePr>
        <p:xfrm>
          <a:off x="1053352" y="1335343"/>
          <a:ext cx="10085296" cy="4464414"/>
        </p:xfrm>
        <a:graphic>
          <a:graphicData uri="http://schemas.openxmlformats.org/drawingml/2006/table">
            <a:tbl>
              <a:tblPr/>
              <a:tblGrid>
                <a:gridCol w="1368624">
                  <a:extLst>
                    <a:ext uri="{9D8B030D-6E8A-4147-A177-3AD203B41FA5}">
                      <a16:colId xmlns:a16="http://schemas.microsoft.com/office/drawing/2014/main" val="3513716776"/>
                    </a:ext>
                  </a:extLst>
                </a:gridCol>
                <a:gridCol w="4168843">
                  <a:extLst>
                    <a:ext uri="{9D8B030D-6E8A-4147-A177-3AD203B41FA5}">
                      <a16:colId xmlns:a16="http://schemas.microsoft.com/office/drawing/2014/main" val="853074265"/>
                    </a:ext>
                  </a:extLst>
                </a:gridCol>
                <a:gridCol w="4547829">
                  <a:extLst>
                    <a:ext uri="{9D8B030D-6E8A-4147-A177-3AD203B41FA5}">
                      <a16:colId xmlns:a16="http://schemas.microsoft.com/office/drawing/2014/main" val="67012740"/>
                    </a:ext>
                  </a:extLst>
                </a:gridCol>
              </a:tblGrid>
              <a:tr h="316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參數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意義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報告設定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826347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formula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迴歸模型公式，指定 </a:t>
                      </a: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y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和 </a:t>
                      </a: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變數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PctBach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~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PctRural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+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PctEld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+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PctFB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+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PctPov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+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PctBlack</a:t>
                      </a:r>
                      <a:endParaRPr 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139915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data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空間資料，須為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Spatial*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DataFrame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或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sf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物件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將套件原廠資料轉換為 </a:t>
                      </a: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SPDF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597776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approach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bandwidth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選擇方法，可用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CV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或 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AICc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approach = "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AICc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"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126352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kernel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空間權重函數，決定距離如何轉成權重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kernel = "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bisquare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"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175538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adaptive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是否使用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adaptive bandwidth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adaptive = TRUE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71111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Minkowski distance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次方數，</a:t>
                      </a: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 = 2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是歐式距離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 = 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622580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theta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是否旋轉座標系統，用於調整距離方向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theta = 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588577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longlat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是否使用經緯度大圓距離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FALSE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657552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dMat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事先算好的距離矩陣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省略 </a:t>
                      </a: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(p=2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已自動計算距離</a:t>
                      </a: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953139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parallel.method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是否使用平行運算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FALSE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805280"/>
                  </a:ext>
                </a:extLst>
              </a:tr>
              <a:tr h="3771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parallel.arg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平行運算的細部設定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Null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33065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D15F6E59-5053-3BFB-98FD-D79A20933A75}"/>
              </a:ext>
            </a:extLst>
          </p:cNvPr>
          <p:cNvSpPr txBox="1"/>
          <p:nvPr/>
        </p:nvSpPr>
        <p:spPr>
          <a:xfrm>
            <a:off x="741827" y="966011"/>
            <a:ext cx="39467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bw.gwr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()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參數內容 </a:t>
            </a:r>
            <a:endParaRPr lang="zh-TW" altLang="en-US" sz="2000" b="1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8006B37-2A4B-D082-9BEE-B72F06F20DF3}"/>
              </a:ext>
            </a:extLst>
          </p:cNvPr>
          <p:cNvSpPr txBox="1"/>
          <p:nvPr/>
        </p:nvSpPr>
        <p:spPr>
          <a:xfrm>
            <a:off x="8116421" y="5863355"/>
            <a:ext cx="39108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Source: package ‘</a:t>
            </a:r>
            <a:r>
              <a:rPr lang="en-US" altLang="zh-TW" sz="12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’ documentation p.10</a:t>
            </a:r>
            <a:endParaRPr lang="zh-TW" altLang="en-US" sz="12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EE81367-D3BC-19BE-02A9-2AE490267E6D}"/>
              </a:ext>
            </a:extLst>
          </p:cNvPr>
          <p:cNvSpPr txBox="1"/>
          <p:nvPr/>
        </p:nvSpPr>
        <p:spPr>
          <a:xfrm>
            <a:off x="939050" y="5894133"/>
            <a:ext cx="4753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輸出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 參數設定下最佳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bandwidth</a:t>
            </a:r>
            <a:endParaRPr lang="zh-TW" altLang="en-US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0737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C9F06-986A-14BA-CDAD-684B977E9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26E35FC-5EC1-1694-570C-D9742F5F02CD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67CF3E-0669-258D-1587-5BAC3A7A2FDD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使用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R Package “</a:t>
            </a:r>
            <a:r>
              <a:rPr lang="en-US" altLang="zh-TW" sz="28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”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F102A80-BD63-954B-5D9F-98F833B36048}"/>
              </a:ext>
            </a:extLst>
          </p:cNvPr>
          <p:cNvSpPr txBox="1"/>
          <p:nvPr/>
        </p:nvSpPr>
        <p:spPr>
          <a:xfrm>
            <a:off x="741826" y="825925"/>
            <a:ext cx="30233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gwr.basic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()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參數內容</a:t>
            </a:r>
            <a:endParaRPr lang="zh-TW" altLang="en-US" sz="2000" b="1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8F0F5AA-0142-7043-17EC-84E835AB3925}"/>
              </a:ext>
            </a:extLst>
          </p:cNvPr>
          <p:cNvSpPr txBox="1"/>
          <p:nvPr/>
        </p:nvSpPr>
        <p:spPr>
          <a:xfrm>
            <a:off x="8250891" y="6157585"/>
            <a:ext cx="3797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Source: package ‘</a:t>
            </a:r>
            <a:r>
              <a:rPr lang="en-US" altLang="zh-TW" sz="12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’ documentation p.40</a:t>
            </a:r>
            <a:endParaRPr lang="zh-TW" altLang="en-US" sz="12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C6BCDF1-5853-9F3B-DAC9-FA3BBEAD0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086323"/>
              </p:ext>
            </p:extLst>
          </p:nvPr>
        </p:nvGraphicFramePr>
        <p:xfrm>
          <a:off x="1193831" y="1262911"/>
          <a:ext cx="10263062" cy="4894674"/>
        </p:xfrm>
        <a:graphic>
          <a:graphicData uri="http://schemas.openxmlformats.org/drawingml/2006/table">
            <a:tbl>
              <a:tblPr/>
              <a:tblGrid>
                <a:gridCol w="1432827">
                  <a:extLst>
                    <a:ext uri="{9D8B030D-6E8A-4147-A177-3AD203B41FA5}">
                      <a16:colId xmlns:a16="http://schemas.microsoft.com/office/drawing/2014/main" val="1215660565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572839160"/>
                    </a:ext>
                  </a:extLst>
                </a:gridCol>
                <a:gridCol w="4867835">
                  <a:extLst>
                    <a:ext uri="{9D8B030D-6E8A-4147-A177-3AD203B41FA5}">
                      <a16:colId xmlns:a16="http://schemas.microsoft.com/office/drawing/2014/main" val="1155646927"/>
                    </a:ext>
                  </a:extLst>
                </a:gridCol>
              </a:tblGrid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參數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意義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報告設定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470424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formula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迴歸模型公式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PctBach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~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PctRural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+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PctEld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+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PctFB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+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PctPov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+ </a:t>
                      </a:r>
                      <a:r>
                        <a:rPr lang="en-US" sz="12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PctBlack</a:t>
                      </a:r>
                      <a:endParaRPr 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107393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data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空間資料，須為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Spatial*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DataFrame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或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sf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物件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educ.spdf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613446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regression.points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指定在哪些位置估計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local coefficients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40*40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網格點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410476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bw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bandwidth</a:t>
                      </a:r>
                      <a:endParaRPr lang="zh-TW" alt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bw.gwr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()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選定之最佳</a:t>
                      </a: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bandwidth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7576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kernel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空間權重函數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"bisquare"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023027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adaptive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是否使用 </a:t>
                      </a: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adaptive bandwidth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TRUE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982318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Minkowski distance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的次方，</a:t>
                      </a: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 = 2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是歐式距離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altLang="zh-TW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2</a:t>
                      </a:r>
                      <a:endParaRPr lang="zh-TW" altLang="en-US" sz="1400" b="0" i="0" u="none" strike="noStrike" baseline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137218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theta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是否旋轉座標系統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altLang="zh-TW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1400" b="0" i="0" u="none" strike="noStrike" baseline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885158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longlat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是否使用經緯度大圓距離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FALSE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023477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dMat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事先算好的距離矩陣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省略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388055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F123.test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是否進行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Leung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三個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F-tests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altLang="zh-TW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FALSE</a:t>
                      </a:r>
                      <a:endParaRPr lang="en-US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590669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cv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是否計算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cross-validation </a:t>
                      </a: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結果並放入輸出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FALSE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162473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W.vect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額外給定觀測值權重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NULL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581189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print() method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用，</a:t>
                      </a: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gwr.basic() </a:t>
                      </a: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回傳的物件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不需自己設定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88837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parallel.method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是否用平行運算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FALSE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21992"/>
                  </a:ext>
                </a:extLst>
              </a:tr>
              <a:tr h="287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parallel.arg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平行運算的細部設定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預設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NULL</a:t>
                      </a:r>
                    </a:p>
                  </a:txBody>
                  <a:tcPr marL="3402" marR="3402" marT="34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670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226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586D2-C368-D2F0-D365-1DCC11A01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F8C0C8-84C1-40CD-360B-EE31B7A9CF84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D31879-CA96-01E4-70D2-1FF71967ED73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使用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R Package “</a:t>
            </a:r>
            <a:r>
              <a:rPr lang="en-US" altLang="zh-TW" sz="28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”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FB483B1-1C52-D533-5685-89C3CF16CFE8}"/>
              </a:ext>
            </a:extLst>
          </p:cNvPr>
          <p:cNvSpPr txBox="1"/>
          <p:nvPr/>
        </p:nvSpPr>
        <p:spPr>
          <a:xfrm>
            <a:off x="1405215" y="1397983"/>
            <a:ext cx="30233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gwr.basic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()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回傳內容</a:t>
            </a:r>
            <a:endParaRPr lang="zh-TW" altLang="en-US" sz="2000" b="1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8088EE7-321C-197A-D49F-1C8A3223D8B7}"/>
              </a:ext>
            </a:extLst>
          </p:cNvPr>
          <p:cNvSpPr txBox="1"/>
          <p:nvPr/>
        </p:nvSpPr>
        <p:spPr>
          <a:xfrm>
            <a:off x="6735856" y="5540188"/>
            <a:ext cx="3797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Source: package ‘</a:t>
            </a:r>
            <a:r>
              <a:rPr lang="en-US" altLang="zh-TW" sz="12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’ documentation p.40</a:t>
            </a:r>
            <a:endParaRPr lang="zh-TW" altLang="en-US" sz="12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900EB47-CF1A-0BB8-392D-277741D5F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978920"/>
              </p:ext>
            </p:extLst>
          </p:nvPr>
        </p:nvGraphicFramePr>
        <p:xfrm>
          <a:off x="1990165" y="1859714"/>
          <a:ext cx="8211671" cy="3680474"/>
        </p:xfrm>
        <a:graphic>
          <a:graphicData uri="http://schemas.openxmlformats.org/drawingml/2006/table">
            <a:tbl>
              <a:tblPr/>
              <a:tblGrid>
                <a:gridCol w="1568856">
                  <a:extLst>
                    <a:ext uri="{9D8B030D-6E8A-4147-A177-3AD203B41FA5}">
                      <a16:colId xmlns:a16="http://schemas.microsoft.com/office/drawing/2014/main" val="3775910832"/>
                    </a:ext>
                  </a:extLst>
                </a:gridCol>
                <a:gridCol w="5381772">
                  <a:extLst>
                    <a:ext uri="{9D8B030D-6E8A-4147-A177-3AD203B41FA5}">
                      <a16:colId xmlns:a16="http://schemas.microsoft.com/office/drawing/2014/main" val="3609686065"/>
                    </a:ext>
                  </a:extLst>
                </a:gridCol>
                <a:gridCol w="1261043">
                  <a:extLst>
                    <a:ext uri="{9D8B030D-6E8A-4147-A177-3AD203B41FA5}">
                      <a16:colId xmlns:a16="http://schemas.microsoft.com/office/drawing/2014/main" val="4043273732"/>
                    </a:ext>
                  </a:extLst>
                </a:gridCol>
              </a:tblGrid>
              <a:tr h="445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回傳項目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意義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報告設定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086268"/>
                  </a:ext>
                </a:extLst>
              </a:tr>
              <a:tr h="445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GW.arguments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儲存 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GWR 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模型參數設定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V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506065"/>
                  </a:ext>
                </a:extLst>
              </a:tr>
              <a:tr h="445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GW.diagnostic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模型診斷結果，如 </a:t>
                      </a: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RSS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AICc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R²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V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576205"/>
                  </a:ext>
                </a:extLst>
              </a:tr>
              <a:tr h="445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lm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對應的 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global linear regression 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結果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V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581906"/>
                  </a:ext>
                </a:extLst>
              </a:tr>
              <a:tr h="5594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SDF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最重要的輸出，包含每個地點的 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local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coefficients、yhat、residual、standard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errors、t-values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等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V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317284"/>
                  </a:ext>
                </a:extLst>
              </a:tr>
              <a:tr h="445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timings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模型開始與結束時間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755338"/>
                  </a:ext>
                </a:extLst>
              </a:tr>
              <a:tr h="445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this.call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當初執行的 </a:t>
                      </a: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function call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5076"/>
                  </a:ext>
                </a:extLst>
              </a:tr>
              <a:tr h="445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Ftest.res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若 </a:t>
                      </a: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F123.test = TRUE，</a:t>
                      </a:r>
                      <a:r>
                        <a:rPr lang="zh-TW" alt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這裡會存 </a:t>
                      </a: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Leung’s F-tests </a:t>
                      </a:r>
                      <a:r>
                        <a:rPr lang="zh-TW" alt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結果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</a:t>
                      </a:r>
                    </a:p>
                  </a:txBody>
                  <a:tcPr marL="5262" marR="5262" marT="526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230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3102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C40E2-50FE-365F-00D9-45FC12CC2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4CC0E3E-6FC9-F6BE-9C03-FFD140EBFE1E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622523-F8CB-AD13-8111-0D9B7698EB0A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使用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R Package “</a:t>
            </a:r>
            <a:r>
              <a:rPr lang="en-US" altLang="zh-TW" sz="28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GWmodel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”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7" name="箭號: 五邊形 6">
            <a:extLst>
              <a:ext uri="{FF2B5EF4-FFF2-40B4-BE49-F238E27FC236}">
                <a16:creationId xmlns:a16="http://schemas.microsoft.com/office/drawing/2014/main" id="{FFC58CFD-3C75-6470-F716-253C4085C8A0}"/>
              </a:ext>
            </a:extLst>
          </p:cNvPr>
          <p:cNvSpPr/>
          <p:nvPr/>
        </p:nvSpPr>
        <p:spPr>
          <a:xfrm>
            <a:off x="1432674" y="3071813"/>
            <a:ext cx="1722903" cy="1085850"/>
          </a:xfrm>
          <a:prstGeom prst="homePlate">
            <a:avLst>
              <a:gd name="adj" fmla="val 425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引入</a:t>
            </a:r>
            <a:r>
              <a:rPr lang="en-US" altLang="zh-TW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 </a:t>
            </a:r>
          </a:p>
          <a:p>
            <a:pPr algn="ctr"/>
            <a:r>
              <a:rPr lang="en-US" altLang="zh-TW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Georgia</a:t>
            </a:r>
          </a:p>
          <a:p>
            <a:pPr algn="ctr"/>
            <a:r>
              <a:rPr lang="zh-TW" altLang="en-US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資料</a:t>
            </a:r>
            <a:endParaRPr lang="en-US" altLang="zh-TW" sz="2000" dirty="0">
              <a:solidFill>
                <a:sysClr val="windowText" lastClr="000000"/>
              </a:solidFill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16" name="箭號: 五邊形 15">
            <a:extLst>
              <a:ext uri="{FF2B5EF4-FFF2-40B4-BE49-F238E27FC236}">
                <a16:creationId xmlns:a16="http://schemas.microsoft.com/office/drawing/2014/main" id="{686B263C-2EB6-A471-6E2E-6D476BD4952C}"/>
              </a:ext>
            </a:extLst>
          </p:cNvPr>
          <p:cNvSpPr/>
          <p:nvPr/>
        </p:nvSpPr>
        <p:spPr>
          <a:xfrm>
            <a:off x="3288368" y="3071813"/>
            <a:ext cx="1722903" cy="1085850"/>
          </a:xfrm>
          <a:prstGeom prst="homePlate">
            <a:avLst>
              <a:gd name="adj" fmla="val 425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變數選擇</a:t>
            </a:r>
            <a:endParaRPr lang="en-US" altLang="zh-TW" sz="2000" dirty="0">
              <a:solidFill>
                <a:sysClr val="windowText" lastClr="000000"/>
              </a:solidFill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17" name="箭號: 五邊形 16">
            <a:extLst>
              <a:ext uri="{FF2B5EF4-FFF2-40B4-BE49-F238E27FC236}">
                <a16:creationId xmlns:a16="http://schemas.microsoft.com/office/drawing/2014/main" id="{E35CB248-282F-B643-E871-F213B62496BE}"/>
              </a:ext>
            </a:extLst>
          </p:cNvPr>
          <p:cNvSpPr/>
          <p:nvPr/>
        </p:nvSpPr>
        <p:spPr>
          <a:xfrm>
            <a:off x="5215780" y="3071813"/>
            <a:ext cx="1722903" cy="1085850"/>
          </a:xfrm>
          <a:prstGeom prst="homePlate">
            <a:avLst>
              <a:gd name="adj" fmla="val 425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bw.gwr</a:t>
            </a:r>
            <a:r>
              <a:rPr lang="en-US" altLang="zh-TW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()</a:t>
            </a:r>
          </a:p>
          <a:p>
            <a:pPr algn="ctr"/>
            <a:r>
              <a:rPr lang="zh-TW" altLang="en-US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帶寬選擇</a:t>
            </a:r>
            <a:endParaRPr lang="en-US" altLang="zh-TW" sz="2000" dirty="0">
              <a:solidFill>
                <a:sysClr val="windowText" lastClr="000000"/>
              </a:solidFill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18" name="箭號: 五邊形 17">
            <a:extLst>
              <a:ext uri="{FF2B5EF4-FFF2-40B4-BE49-F238E27FC236}">
                <a16:creationId xmlns:a16="http://schemas.microsoft.com/office/drawing/2014/main" id="{31E061A4-46E0-9EF3-E7A9-40B188F168F1}"/>
              </a:ext>
            </a:extLst>
          </p:cNvPr>
          <p:cNvSpPr/>
          <p:nvPr/>
        </p:nvSpPr>
        <p:spPr>
          <a:xfrm>
            <a:off x="7143192" y="3071813"/>
            <a:ext cx="1722903" cy="1085850"/>
          </a:xfrm>
          <a:prstGeom prst="homePlate">
            <a:avLst>
              <a:gd name="adj" fmla="val 425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建構 </a:t>
            </a:r>
            <a:r>
              <a:rPr lang="en-US" altLang="zh-TW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40</a:t>
            </a:r>
            <a:r>
              <a:rPr lang="zh-TW" altLang="en-US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*</a:t>
            </a:r>
            <a:r>
              <a:rPr lang="en-US" altLang="zh-TW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40</a:t>
            </a:r>
          </a:p>
          <a:p>
            <a:pPr algn="ctr"/>
            <a:r>
              <a:rPr lang="zh-TW" altLang="en-US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迴歸點</a:t>
            </a:r>
            <a:endParaRPr lang="en-US" altLang="zh-TW" sz="2000" dirty="0">
              <a:solidFill>
                <a:sysClr val="windowText" lastClr="000000"/>
              </a:solidFill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19" name="箭號: 五邊形 18">
            <a:extLst>
              <a:ext uri="{FF2B5EF4-FFF2-40B4-BE49-F238E27FC236}">
                <a16:creationId xmlns:a16="http://schemas.microsoft.com/office/drawing/2014/main" id="{F448FC09-B087-7B31-A7C7-4F875428B13A}"/>
              </a:ext>
            </a:extLst>
          </p:cNvPr>
          <p:cNvSpPr/>
          <p:nvPr/>
        </p:nvSpPr>
        <p:spPr>
          <a:xfrm>
            <a:off x="9064158" y="3071813"/>
            <a:ext cx="1722903" cy="1085850"/>
          </a:xfrm>
          <a:prstGeom prst="homePlate">
            <a:avLst>
              <a:gd name="adj" fmla="val 425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ysClr val="windowText" lastClr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配適模型</a:t>
            </a:r>
            <a:endParaRPr lang="en-US" altLang="zh-TW" sz="2000" dirty="0">
              <a:solidFill>
                <a:sysClr val="windowText" lastClr="000000"/>
              </a:solidFill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6F7D3B4-012F-5C8C-966B-E31D417BF016}"/>
              </a:ext>
            </a:extLst>
          </p:cNvPr>
          <p:cNvSpPr txBox="1"/>
          <p:nvPr/>
        </p:nvSpPr>
        <p:spPr>
          <a:xfrm>
            <a:off x="5144062" y="4157663"/>
            <a:ext cx="1987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最佳 </a:t>
            </a:r>
            <a:r>
              <a:rPr lang="en-US" altLang="zh-TW" dirty="0" err="1">
                <a:solidFill>
                  <a:srgbClr val="FF0000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bw</a:t>
            </a:r>
            <a:r>
              <a:rPr lang="en-US" altLang="zh-TW" dirty="0">
                <a:solidFill>
                  <a:srgbClr val="FF0000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: 136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7056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1EC02-40F4-89F9-03D9-1FD8B10F3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1D9C073-7412-5CFC-54FF-C1F47EFD7504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EF63F5-DD94-3B5F-C3B3-98052800AD43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手刻程式碼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1FF3621-EEC7-A476-C352-772300A8C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018781"/>
              </p:ext>
            </p:extLst>
          </p:nvPr>
        </p:nvGraphicFramePr>
        <p:xfrm>
          <a:off x="1496731" y="1512382"/>
          <a:ext cx="8597527" cy="2479530"/>
        </p:xfrm>
        <a:graphic>
          <a:graphicData uri="http://schemas.openxmlformats.org/drawingml/2006/table">
            <a:tbl>
              <a:tblPr/>
              <a:tblGrid>
                <a:gridCol w="2740141">
                  <a:extLst>
                    <a:ext uri="{9D8B030D-6E8A-4147-A177-3AD203B41FA5}">
                      <a16:colId xmlns:a16="http://schemas.microsoft.com/office/drawing/2014/main" val="1007014284"/>
                    </a:ext>
                  </a:extLst>
                </a:gridCol>
                <a:gridCol w="2065315">
                  <a:extLst>
                    <a:ext uri="{9D8B030D-6E8A-4147-A177-3AD203B41FA5}">
                      <a16:colId xmlns:a16="http://schemas.microsoft.com/office/drawing/2014/main" val="775260463"/>
                    </a:ext>
                  </a:extLst>
                </a:gridCol>
                <a:gridCol w="3792071">
                  <a:extLst>
                    <a:ext uri="{9D8B030D-6E8A-4147-A177-3AD203B41FA5}">
                      <a16:colId xmlns:a16="http://schemas.microsoft.com/office/drawing/2014/main" val="4101170215"/>
                    </a:ext>
                  </a:extLst>
                </a:gridCol>
              </a:tblGrid>
              <a:tr h="31745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函數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參數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輸出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954633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grid()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x, nrow, y, ncol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nrow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*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ncol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網格點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871412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cal_distance_matrix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()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grid, obs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所有迴歸點至所有觀測點之距離矩陣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78832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bisquare_adaptive_weight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()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d, bw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各觀測點之於單一迴歸點之權重向量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620167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local_lwr</a:t>
                      </a: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()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X, y, w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單一迴歸點之係數解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421451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gwr_grid</a:t>
                      </a: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()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X, y, obs, grid, bw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所有迴歸點之係數解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707380"/>
                  </a:ext>
                </a:extLst>
              </a:tr>
            </a:tbl>
          </a:graphicData>
        </a:graphic>
      </p:graphicFrame>
      <p:sp>
        <p:nvSpPr>
          <p:cNvPr id="7" name="左中括弧 6">
            <a:extLst>
              <a:ext uri="{FF2B5EF4-FFF2-40B4-BE49-F238E27FC236}">
                <a16:creationId xmlns:a16="http://schemas.microsoft.com/office/drawing/2014/main" id="{4181F5C5-22AF-572B-4EE0-B2179FB9EDA2}"/>
              </a:ext>
            </a:extLst>
          </p:cNvPr>
          <p:cNvSpPr/>
          <p:nvPr/>
        </p:nvSpPr>
        <p:spPr>
          <a:xfrm>
            <a:off x="1272988" y="2236676"/>
            <a:ext cx="98612" cy="1290918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左中括弧 13">
            <a:extLst>
              <a:ext uri="{FF2B5EF4-FFF2-40B4-BE49-F238E27FC236}">
                <a16:creationId xmlns:a16="http://schemas.microsoft.com/office/drawing/2014/main" id="{AC1A6489-BAF3-FBAF-38BA-965D7EA9082B}"/>
              </a:ext>
            </a:extLst>
          </p:cNvPr>
          <p:cNvSpPr/>
          <p:nvPr/>
        </p:nvSpPr>
        <p:spPr>
          <a:xfrm rot="10800000">
            <a:off x="10219389" y="2752147"/>
            <a:ext cx="103094" cy="811421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DCB316E-1A6E-08C2-5080-E31304ECCFFF}"/>
              </a:ext>
            </a:extLst>
          </p:cNvPr>
          <p:cNvSpPr txBox="1"/>
          <p:nvPr/>
        </p:nvSpPr>
        <p:spPr>
          <a:xfrm>
            <a:off x="10322483" y="2843009"/>
            <a:ext cx="14623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>
                <a:solidFill>
                  <a:srgbClr val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迴圈次數 </a:t>
            </a:r>
            <a:r>
              <a:rPr lang="en-US" altLang="zh-TW" sz="1400" dirty="0">
                <a:solidFill>
                  <a:srgbClr val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=</a:t>
            </a:r>
          </a:p>
          <a:p>
            <a:r>
              <a:rPr lang="zh-TW" altLang="en-US" sz="1400" dirty="0">
                <a:solidFill>
                  <a:srgbClr val="000000"/>
                </a:solidFill>
                <a:latin typeface="CMU Serif" panose="02000603000000000000" pitchFamily="2" charset="0"/>
                <a:ea typeface="標楷體" panose="03000509000000000000" pitchFamily="65" charset="-120"/>
              </a:rPr>
              <a:t>迴歸點個數</a:t>
            </a:r>
            <a:endParaRPr lang="zh-TW" altLang="en-US" sz="14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F6551-14A4-DD7F-FD60-9F8FB00C7DD0}"/>
              </a:ext>
            </a:extLst>
          </p:cNvPr>
          <p:cNvSpPr txBox="1"/>
          <p:nvPr/>
        </p:nvSpPr>
        <p:spPr>
          <a:xfrm>
            <a:off x="1138518" y="1016343"/>
            <a:ext cx="6127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基本估計函數設計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endParaRPr lang="zh-TW" altLang="en-US" sz="2000" b="1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069DB25-7D6C-9B2D-FCA5-848217304F82}"/>
              </a:ext>
            </a:extLst>
          </p:cNvPr>
          <p:cNvSpPr/>
          <p:nvPr/>
        </p:nvSpPr>
        <p:spPr>
          <a:xfrm>
            <a:off x="4202206" y="3527594"/>
            <a:ext cx="2144806" cy="5602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68DD2E0-A917-84D3-97FE-3215B74060CE}"/>
              </a:ext>
            </a:extLst>
          </p:cNvPr>
          <p:cNvSpPr txBox="1"/>
          <p:nvPr/>
        </p:nvSpPr>
        <p:spPr>
          <a:xfrm>
            <a:off x="5535705" y="4087841"/>
            <a:ext cx="161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初始全域變數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9DB4E75-897A-E364-66C1-72F9FF53D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37355"/>
              </p:ext>
            </p:extLst>
          </p:nvPr>
        </p:nvGraphicFramePr>
        <p:xfrm>
          <a:off x="1496731" y="4882505"/>
          <a:ext cx="8597527" cy="1330627"/>
        </p:xfrm>
        <a:graphic>
          <a:graphicData uri="http://schemas.openxmlformats.org/drawingml/2006/table">
            <a:tbl>
              <a:tblPr/>
              <a:tblGrid>
                <a:gridCol w="2564281">
                  <a:extLst>
                    <a:ext uri="{9D8B030D-6E8A-4147-A177-3AD203B41FA5}">
                      <a16:colId xmlns:a16="http://schemas.microsoft.com/office/drawing/2014/main" val="1007014284"/>
                    </a:ext>
                  </a:extLst>
                </a:gridCol>
                <a:gridCol w="2456329">
                  <a:extLst>
                    <a:ext uri="{9D8B030D-6E8A-4147-A177-3AD203B41FA5}">
                      <a16:colId xmlns:a16="http://schemas.microsoft.com/office/drawing/2014/main" val="775260463"/>
                    </a:ext>
                  </a:extLst>
                </a:gridCol>
                <a:gridCol w="3576917">
                  <a:extLst>
                    <a:ext uri="{9D8B030D-6E8A-4147-A177-3AD203B41FA5}">
                      <a16:colId xmlns:a16="http://schemas.microsoft.com/office/drawing/2014/main" val="4101170215"/>
                    </a:ext>
                  </a:extLst>
                </a:gridCol>
              </a:tblGrid>
              <a:tr h="3392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函數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參數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輸出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954633"/>
                  </a:ext>
                </a:extLst>
              </a:tr>
              <a:tr h="4620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calc_gwr_aicc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X, y,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obs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,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bw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bandwidth=</a:t>
                      </a:r>
                      <a:r>
                        <a:rPr lang="en-US" altLang="zh-TW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bw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下之 </a:t>
                      </a:r>
                      <a:r>
                        <a:rPr lang="en-US" altLang="zh-TW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AICc</a:t>
                      </a:r>
                      <a:endParaRPr lang="zh-TW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871412"/>
                  </a:ext>
                </a:extLst>
              </a:tr>
              <a:tr h="5292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select_bw_aicc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X, y,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obs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, </a:t>
                      </a:r>
                      <a:r>
                        <a:rPr lang="en-US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bw_canditates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fontAlgn="b">
                        <a:buAutoNum type="arabicPeriod"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所有候選</a:t>
                      </a: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bandwidths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 之 </a:t>
                      </a:r>
                      <a:r>
                        <a:rPr lang="en-US" altLang="zh-TW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AICc</a:t>
                      </a:r>
                      <a:endParaRPr lang="en-US" altLang="zh-TW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  <a:p>
                      <a:pPr marL="342900" indent="-342900" algn="l" fontAlgn="b">
                        <a:buAutoNum type="arabicPeriod"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最佳</a:t>
                      </a: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bandwidth (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最小</a:t>
                      </a:r>
                      <a:r>
                        <a:rPr lang="en-US" altLang="zh-TW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AICc</a:t>
                      </a: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78832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A224857E-DE3A-B3EF-7D25-9F9A1AA6E5A8}"/>
              </a:ext>
            </a:extLst>
          </p:cNvPr>
          <p:cNvSpPr txBox="1"/>
          <p:nvPr/>
        </p:nvSpPr>
        <p:spPr>
          <a:xfrm>
            <a:off x="1138518" y="4386467"/>
            <a:ext cx="6127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選擇最佳 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bandwidth (</a:t>
            </a:r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最小</a:t>
            </a:r>
            <a:r>
              <a:rPr lang="en-US" altLang="zh-TW" sz="2000" b="1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AICc</a:t>
            </a:r>
            <a:r>
              <a:rPr lang="en-US" altLang="zh-TW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):</a:t>
            </a:r>
            <a:endParaRPr lang="zh-TW" altLang="en-US" sz="2000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A7EAE03-3700-CA61-7D7A-45F99F62B172}"/>
              </a:ext>
            </a:extLst>
          </p:cNvPr>
          <p:cNvSpPr txBox="1"/>
          <p:nvPr/>
        </p:nvSpPr>
        <p:spPr>
          <a:xfrm>
            <a:off x="10473017" y="5509687"/>
            <a:ext cx="1048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loop</a:t>
            </a:r>
            <a:endParaRPr lang="zh-TW" altLang="en-US" sz="1600" dirty="0"/>
          </a:p>
        </p:txBody>
      </p:sp>
      <p:sp>
        <p:nvSpPr>
          <p:cNvPr id="13" name="箭號: 弧形左彎 12">
            <a:extLst>
              <a:ext uri="{FF2B5EF4-FFF2-40B4-BE49-F238E27FC236}">
                <a16:creationId xmlns:a16="http://schemas.microsoft.com/office/drawing/2014/main" id="{7F4B4595-A9E2-FBCC-5058-E5A27B5D15F6}"/>
              </a:ext>
            </a:extLst>
          </p:cNvPr>
          <p:cNvSpPr/>
          <p:nvPr/>
        </p:nvSpPr>
        <p:spPr>
          <a:xfrm>
            <a:off x="10171949" y="5438211"/>
            <a:ext cx="301068" cy="560178"/>
          </a:xfrm>
          <a:prstGeom prst="curved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5" name="箭號: 弧形左彎 14">
            <a:extLst>
              <a:ext uri="{FF2B5EF4-FFF2-40B4-BE49-F238E27FC236}">
                <a16:creationId xmlns:a16="http://schemas.microsoft.com/office/drawing/2014/main" id="{2430C41B-97D5-3EB0-E9D3-F71D8514829A}"/>
              </a:ext>
            </a:extLst>
          </p:cNvPr>
          <p:cNvSpPr/>
          <p:nvPr/>
        </p:nvSpPr>
        <p:spPr>
          <a:xfrm flipH="1">
            <a:off x="888999" y="2864205"/>
            <a:ext cx="383988" cy="983212"/>
          </a:xfrm>
          <a:prstGeom prst="curvedLeftArrow">
            <a:avLst>
              <a:gd name="adj1" fmla="val 25000"/>
              <a:gd name="adj2" fmla="val 50000"/>
              <a:gd name="adj3" fmla="val 2733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39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C35D7-DA38-C69B-34C1-712C2EBE8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A53126E-0931-7768-4D37-129735F778D3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543593-E412-C811-9957-4B295FE43AC6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套件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vs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手刻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56D261A-3F12-2E0C-D41C-EE20206D2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846458"/>
              </p:ext>
            </p:extLst>
          </p:nvPr>
        </p:nvGraphicFramePr>
        <p:xfrm>
          <a:off x="1882214" y="2848123"/>
          <a:ext cx="8597527" cy="1614700"/>
        </p:xfrm>
        <a:graphic>
          <a:graphicData uri="http://schemas.openxmlformats.org/drawingml/2006/table">
            <a:tbl>
              <a:tblPr/>
              <a:tblGrid>
                <a:gridCol w="2740141">
                  <a:extLst>
                    <a:ext uri="{9D8B030D-6E8A-4147-A177-3AD203B41FA5}">
                      <a16:colId xmlns:a16="http://schemas.microsoft.com/office/drawing/2014/main" val="1007014284"/>
                    </a:ext>
                  </a:extLst>
                </a:gridCol>
                <a:gridCol w="2065315">
                  <a:extLst>
                    <a:ext uri="{9D8B030D-6E8A-4147-A177-3AD203B41FA5}">
                      <a16:colId xmlns:a16="http://schemas.microsoft.com/office/drawing/2014/main" val="775260463"/>
                    </a:ext>
                  </a:extLst>
                </a:gridCol>
                <a:gridCol w="3792071">
                  <a:extLst>
                    <a:ext uri="{9D8B030D-6E8A-4147-A177-3AD203B41FA5}">
                      <a16:colId xmlns:a16="http://schemas.microsoft.com/office/drawing/2014/main" val="4101170215"/>
                    </a:ext>
                  </a:extLst>
                </a:gridCol>
              </a:tblGrid>
              <a:tr h="31745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項目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GWmodel</a:t>
                      </a:r>
                      <a:endParaRPr lang="zh-TW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手刻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B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954633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Bandwidth </a:t>
                      </a: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選擇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136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136</a:t>
                      </a:r>
                      <a:endParaRPr lang="zh-TW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78832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最小 </a:t>
                      </a:r>
                      <a:r>
                        <a:rPr lang="en-US" altLang="zh-TW" sz="16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AICc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850.8465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850.8465</a:t>
                      </a:r>
                      <a:endParaRPr lang="zh-TW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620167"/>
                  </a:ext>
                </a:extLst>
              </a:tr>
              <a:tr h="43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係數估計差距最大值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MU Serif" panose="02000603000000000000" pitchFamily="2" charset="0"/>
                          <a:ea typeface="標楷體" panose="03000509000000000000" pitchFamily="65" charset="-120"/>
                        </a:rPr>
                        <a:t>3.531e-12</a:t>
                      </a:r>
                      <a:endParaRPr 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TW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CMU Serif" panose="02000603000000000000" pitchFamily="2" charset="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421451"/>
                  </a:ext>
                </a:extLst>
              </a:tr>
            </a:tbl>
          </a:graphicData>
        </a:graphic>
      </p:graphicFrame>
      <p:sp>
        <p:nvSpPr>
          <p:cNvPr id="20" name="文字方塊 19">
            <a:extLst>
              <a:ext uri="{FF2B5EF4-FFF2-40B4-BE49-F238E27FC236}">
                <a16:creationId xmlns:a16="http://schemas.microsoft.com/office/drawing/2014/main" id="{724499E3-4E23-798F-C6A1-AA071B4A5A9C}"/>
              </a:ext>
            </a:extLst>
          </p:cNvPr>
          <p:cNvSpPr txBox="1"/>
          <p:nvPr/>
        </p:nvSpPr>
        <p:spPr>
          <a:xfrm>
            <a:off x="1524001" y="2352084"/>
            <a:ext cx="6127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套件與手刻結果比較</a:t>
            </a: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3952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E60D3-B463-935A-4A38-6C5C5F643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A4E1C29-1BF1-17A0-6ACC-BD173070870F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511EB6-98AB-8389-ACC3-BD8C3CC5DB60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GWR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實作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視覺化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CA4B0A8-EA97-E956-EBFA-94A525271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827" y="958663"/>
            <a:ext cx="6361702" cy="531215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88255FA-D1F5-A4B4-B4C0-CED96C77CE2F}"/>
              </a:ext>
            </a:extLst>
          </p:cNvPr>
          <p:cNvSpPr txBox="1"/>
          <p:nvPr/>
        </p:nvSpPr>
        <p:spPr>
          <a:xfrm>
            <a:off x="349625" y="2305615"/>
            <a:ext cx="506505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係數估計位置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40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*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40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迴歸點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顏色意義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各迴歸點估計值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州界外處理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NA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遮罩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結果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各個變數均有一定程度之空間差異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(e.g.) </a:t>
            </a:r>
            <a:r>
              <a:rPr lang="en-US" altLang="zh-TW" sz="2000" dirty="0" err="1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PctBlack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在西南部係數較高，代表其在該區域正向關係較強。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342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3.9857"/>
  <p:tag name="ORIGINALWIDTH" val=" 4077.99"/>
  <p:tag name="OUTPUTTYPE" val="PNG"/>
  <p:tag name="IGUANATEXVERSION" val="162"/>
  <p:tag name="LATEXADDIN" val="\documentclass{article}&#10;\usepackage{amsmath}&#10;\pagestyle{empty}&#10;\begin{document}&#10;\[&#10;\text{housing prices = $\beta_0$ + $\beta_1$ building age + $\beta_2$ area + $\beta_3$ unemployment + ...}&#10;\]&#10;&#10;&#10;&#10;\end{document}"/>
  <p:tag name="IGUANATEXSIZE" val="20"/>
  <p:tag name="IGUANATEXCURSOR" val="18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55.605"/>
  <p:tag name="ORIGINALWIDTH" val=" 3514.811"/>
  <p:tag name="OUTPUTTYPE" val="PNG"/>
  <p:tag name="IGUANATEXVERSION" val="162"/>
  <p:tag name="LATEXADDIN" val="\documentclass{article}&#10;\usepackage{amsmath}&#10;\pagestyle{empty}&#10;\begin{document}&#10;&#10;\[&#10;\mathbf{y}&#10;=&#10;(\mathbf{B}\otimes \mathbf{X})\,\mathbf{1}&#10;+&#10;\boldsymbol{\varepsilon}&#10;\]&#10;&#10;where&#10;&#10;\[&#10;\mathbf{B}&#10;=&#10;\begin{bmatrix}&#10;\beta_0(u_1,v_1) &amp; \beta_1(u_1,v_1) &amp; \cdots &amp; \beta_k(u_1,v_1) \\&#10;\beta_0(u_2,v_2) &amp; \beta_1(u_2,v_2) &amp; \cdots &amp; \beta_k(u_2,v_2) \\&#10;\vdots &amp; \vdots &amp; \ddots &amp; \vdots \\&#10;\beta_0(u_n,v_n) &amp; \beta_1(u_n,v_n) &amp; \cdots &amp; \beta_k(u_n,v_n)&#10;\end{bmatrix},\;&#10;\mathbf{1}&#10;=&#10;\begin{bmatrix}&#10;1\\&#10;1\\&#10;\vdots\\&#10;1&#10;\end{bmatrix}&#10;\]&#10;&#10;&#10;&#10;&#10;\end{document}"/>
  <p:tag name="IGUANATEXSIZE" val="20"/>
  <p:tag name="IGUANATEXCURSOR" val="53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75.103"/>
  <p:tag name="ORIGINALWIDTH" val=" 4246.719"/>
  <p:tag name="OUTPUTTYPE" val="PNG"/>
  <p:tag name="IGUANATEXVERSION" val="162"/>
  <p:tag name="LATEXADDIN" val="\documentclass{article}&#10;\usepackage{amsmath}&#10;\pagestyle{empty}&#10;\begin{document}&#10;&#10;\[&#10;\hat{\beta}(u_i,v_i)&#10;=&#10;\left(&#10;X^{T}W(u_i,v_i)X&#10;\right)^{-1}&#10;X^{T}W(u_i,v_i)\mathbf{y}&#10;\]&#10;where&#10;\[&#10;W(u_i,v_i)&#10;=&#10;\begin{bmatrix}&#10;w_{i1} &amp; 0 &amp; \cdots &amp; 0 \\&#10;0 &amp; w_{i2} &amp; \cdots &amp; 0 \\&#10;\vdots &amp; \vdots &amp; \ddots &amp; \vdots \\&#10;0 &amp; 0 &amp; \cdots &amp; w_{in}&#10;\end{bmatrix},w_{ik}:\text{the weight of kth data at location i}&#10;\]&#10;&#10;\end{document}"/>
  <p:tag name="IGUANATEXSIZE" val="18"/>
  <p:tag name="IGUANATEXCURSOR" val="38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1.4773"/>
  <p:tag name="ORIGINALWIDTH" val=" 1076.115"/>
  <p:tag name="OUTPUTTYPE" val="PNG"/>
  <p:tag name="IGUANATEXVERSION" val="162"/>
  <p:tag name="LATEXADDIN" val="\documentclass{article}&#10;\usepackage{amsmath}&#10;\pagestyle{empty}&#10;\begin{document}&#10;&#10;\[&#10;\hat{\beta}&#10;=&#10;\left(&#10;X^{T}X&#10;\right)^{-1}&#10;X^{T}\mathbf{y}&#10;\]&#10;&#10;&#10;\end{document}"/>
  <p:tag name="IGUANATEXSIZE" val="18"/>
  <p:tag name="IGUANATEXCURSOR" val="13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2.9846"/>
  <p:tag name="ORIGINALWIDTH" val=" 687.664"/>
  <p:tag name="OUTPUTTYPE" val="PNG"/>
  <p:tag name="IGUANATEXVERSION" val="162"/>
  <p:tag name="LATEXADDIN" val="\documentclass{article}&#10;\usepackage{amsmath}&#10;\pagestyle{empty}&#10;\begin{document}&#10;\[&#10;w_{ij}=1 \;\forall\;i,j&#10;\]&#10;&#10;&#10;\end{document}"/>
  <p:tag name="IGUANATEXSIZE" val="18"/>
  <p:tag name="IGUANATEXCURSOR" val="10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73.4533"/>
  <p:tag name="ORIGINALWIDTH" val=" 975.6281"/>
  <p:tag name="OUTPUTTYPE" val="PNG"/>
  <p:tag name="IGUANATEXVERSION" val="162"/>
  <p:tag name="LATEXADDIN" val="\documentclass{article}&#10;\usepackage{amsmath}&#10;\pagestyle{empty}&#10;\begin{document}&#10;&#10;\[&#10;w_{ij}=\left\{  &#10;\begin{aligned}  &#10;&amp;1,\;d_{ij}&lt;d \\  &#10;&amp;0,\; o.w.&#10;\end{aligned}  &#10;\right. &#10;\]&#10;&#10;&#10;\end{document}"/>
  <p:tag name="IGUANATEXSIZE" val="20"/>
  <p:tag name="IGUANATEXCURSOR" val="17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87.964"/>
  <p:tag name="ORIGINALWIDTH" val=" 884.8893"/>
  <p:tag name="OUTPUTTYPE" val="PNG"/>
  <p:tag name="IGUANATEXVERSION" val="162"/>
  <p:tag name="LATEXADDIN" val="\documentclass{article}&#10;\usepackage{amsmath}&#10;\pagestyle{empty}&#10;\begin{document}&#10;\[&#10;w_{ij}=exp[{-\frac{d_{ij}^2}{2b^2}}]&#10;\]&#10;&#10;\end{document}"/>
  <p:tag name="IGUANATEXSIZE" val="18"/>
  <p:tag name="IGUANATEXCURSOR" val="12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50.6936"/>
  <p:tag name="ORIGINALWIDTH" val=" 1584.552"/>
  <p:tag name="OUTPUTTYPE" val="PNG"/>
  <p:tag name="IGUANATEXVERSION" val="162"/>
  <p:tag name="LATEXADDIN" val="\documentclass{article}&#10;\usepackage{amsmath}&#10;\pagestyle{empty}&#10;\begin{document}&#10;\[&#10;w_{ij}=\left\{  &#10;\begin{aligned}  &#10;&amp;[1-(\frac{d_{ij}}{b})^2]^2,\;d_{ij}&lt;b \\  &#10;&amp;0,\; o.w.&#10;\end{aligned}  &#10;\right. &#10;\]&#10;&#10;&#10;&#10;\end{document}"/>
  <p:tag name="IGUANATEXSIZE" val="20"/>
  <p:tag name="IGUANATEXCURSOR" val="19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55.718"/>
  <p:tag name="ORIGINALWIDTH" val=" 4129.733"/>
  <p:tag name="OUTPUTTYPE" val="PNG"/>
  <p:tag name="IGUANATEXVERSION" val="162"/>
  <p:tag name="LATEXADDIN" val="\documentclass{article}&#10;\usepackage{amsmath}&#10;\pagestyle{empty}&#10;\begin{document}&#10;\[&#10;w_{ij}=exp(\frac{-R_{ij}}{b})&#10;\text{, where $R_{ij}$ : the rank of data point j at regression point i.}&#10;\]&#10;&#10;\end{document}"/>
  <p:tag name="IGUANATEXSIZE" val="18"/>
  <p:tag name="IGUANATEXCURSOR" val="12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83.4646"/>
  <p:tag name="ORIGINALWIDTH" val=" 809.8987"/>
  <p:tag name="OUTPUTTYPE" val="PNG"/>
  <p:tag name="IGUANATEXVERSION" val="162"/>
  <p:tag name="LATEXADDIN" val="\documentclass{article}&#10;\usepackage{amsmath}&#10;\pagestyle{empty}&#10;\begin{document}&#10;\[&#10;\sum_jw_{ij}=C \; \forall \;i&#10;\]&#10;&#10;\end{document}"/>
  <p:tag name="IGUANATEXSIZE" val="18"/>
  <p:tag name="IGUANATEXCURSOR" val="11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73.4533"/>
  <p:tag name="ORIGINALWIDTH" val=" 3612.299"/>
  <p:tag name="OUTPUTTYPE" val="PNG"/>
  <p:tag name="IGUANATEXVERSION" val="162"/>
  <p:tag name="LATEXADDIN" val="\documentclass{article}&#10;\usepackage{amsmath}&#10;\pagestyle{empty}&#10;\begin{document}&#10;\[&#10;w_{ij}=\left\{  &#10;\begin{aligned}  &#10;&amp;1,\;\text{j is one of the N points closest to the regression point i.} \\  &#10;&amp;0,\; o.w.&#10;\end{aligned}  &#10;\right. &#10;\]&#10;&#10;\end{document}"/>
  <p:tag name="IGUANATEXSIZE" val="18"/>
  <p:tag name="IGUANATEXCURSOR" val="23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09.599"/>
  <p:tag name="ORIGINALWIDTH" val=" 4249.719"/>
  <p:tag name="OUTPUTTYPE" val="PNG"/>
  <p:tag name="IGUANATEXVERSION" val="162"/>
  <p:tag name="LATEXADDIN" val="\documentclass{article}&#10;\usepackage{amsmath}&#10;\pagestyle{empty}&#10;\begin{document}&#10;\[&#10;w_{ij}=\left\{  &#10;\begin{aligned}  &#10;&amp;1,\;\text{j is one of the N points closest to the regression point i.} \\  &#10;&amp;0,\; o.w.&#10;\end{aligned}  &#10;\right. &#10;\]&#10;\text{combine with bi-square:}&#10;\[&#10;w_{ij}=\left\{  &#10;\begin{aligned}  &#10;&amp;[1-(\frac{d_{ij}}{b})^2]^2,\;\text{j is one of the N points closest to the regression point i.} \\  &#10;&amp;0,\; o.w.&#10;\end{aligned}  &#10;\right.&#10;\]&#10;\end{document}"/>
  <p:tag name="IGUANATEXSIZE" val="18"/>
  <p:tag name="IGUANATEXCURSOR" val="44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1.2073"/>
  <p:tag name="ORIGINALWIDTH" val=" 1235.845"/>
  <p:tag name="OUTPUTTYPE" val="PNG"/>
  <p:tag name="IGUANATEXVERSION" val="162"/>
  <p:tag name="LATEXADDIN" val="\documentclass{article}&#10;\usepackage{amsmath}&#10;\pagestyle{empty}&#10;\begin{document}&#10;&#10;\[&#10;CV=\sum_{i=1}^n[y_i-\hat{y}_{\neq i}(b)]^2&#10;\]&#10;&#10;&#10;\end{document}"/>
  <p:tag name="IGUANATEXSIZE" val="20"/>
  <p:tag name="IGUANATEXCURSOR" val="12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1.2073"/>
  <p:tag name="ORIGINALWIDTH" val=" 3426.322"/>
  <p:tag name="OUTPUTTYPE" val="PNG"/>
  <p:tag name="IGUANATEXVERSION" val="162"/>
  <p:tag name="LATEXADDIN" val="\documentclass{article}&#10;\usepackage{amsmath}&#10;\pagestyle{empty}&#10;\begin{document}&#10;&#10;\[&#10;GCV=n\sum_{i=1}^n[y_i-\hat{y}_i(b)]^2/(n-v_1)^2,\text{where $v_1$=tr(hat matrix S)}&#10;\]&#10;&#10;&#10;\end{document}"/>
  <p:tag name="IGUANATEXSIZE" val="20"/>
  <p:tag name="IGUANATEXCURSOR" val="16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94.7131"/>
  <p:tag name="ORIGINALWIDTH" val=" 2664.417"/>
  <p:tag name="OUTPUTTYPE" val="PNG"/>
  <p:tag name="IGUANATEXVERSION" val="162"/>
  <p:tag name="LATEXADDIN" val="\documentclass{article}&#10;\usepackage{amsmath}&#10;\pagestyle{empty}&#10;\begin{document}&#10;&#10;\[&#10;AIC_c=2n\;log(\hat{\sigma})+n\;log(2\pi)+n[\frac{n+tr(S)}{n-2-tr(S)}]&#10;\]&#10;&#10;&#10;\end{document}"/>
  <p:tag name="IGUANATEXSIZE" val="20"/>
  <p:tag name="IGUANATEXCURSOR" val="15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3036.37"/>
  <p:tag name="OUTPUTTYPE" val="PNG"/>
  <p:tag name="IGUANATEXVERSION" val="162"/>
  <p:tag name="LATEXADDIN" val="\documentclass{article}&#10;\usepackage{amsmath}&#10;\pagestyle{empty}&#10;\begin{document}&#10;&#10;\[&#10;BIC=-2\;log(L)+k\;log(n),\text{where $L$: model likelihood}&#10;\]&#10;&#10;&#10;\end{document}"/>
  <p:tag name="IGUANATEXSIZE" val="20"/>
  <p:tag name="IGUANATEXCURSOR" val="14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56.318"/>
  <p:tag name="ORIGINALWIDTH" val=" 1676.041"/>
  <p:tag name="OUTPUTTYPE" val="PNG"/>
  <p:tag name="IGUANATEXVERSION" val="162"/>
  <p:tag name="LATEXADDIN" val="\documentclass{article}&#10;\usepackage{amsmath}&#10;\pagestyle{empty}&#10;\begin{document}&#10;\[&#10;\begin{aligned}&#10;PctBach_i&#10;&amp;= \beta_0(i) \\&#10;&amp;+ \beta_1(i)PctRural_i \\&#10;&amp;+ \beta_2(i)PctEld_i \\&#10;&amp;+ \beta_3(i)PctFB_i \\&#10;&amp;+ \beta_4(i)PctPov_i \\&#10;&amp;+ \beta_5(i)PctBlack_i \\&#10;&amp;+ \epsilon_i&#10;\end{aligned}&#10;\]&#10;\[&#10;\text{where i: ith point in the space.}&#10;\]&#10;\end{document}"/>
  <p:tag name="IGUANATEXSIZE" val="20"/>
  <p:tag name="IGUANATEXCURSOR" val="28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1745</TotalTime>
  <Words>1918</Words>
  <Application>Microsoft Office PowerPoint</Application>
  <PresentationFormat>寬螢幕</PresentationFormat>
  <Paragraphs>341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0" baseType="lpstr">
      <vt:lpstr>標楷體</vt:lpstr>
      <vt:lpstr>Arial</vt:lpstr>
      <vt:lpstr>Calibri</vt:lpstr>
      <vt:lpstr>Calibri Light</vt:lpstr>
      <vt:lpstr>CMU Serif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ricki len</dc:creator>
  <cp:lastModifiedBy>ricki len</cp:lastModifiedBy>
  <cp:revision>21</cp:revision>
  <dcterms:created xsi:type="dcterms:W3CDTF">2026-02-06T08:38:10Z</dcterms:created>
  <dcterms:modified xsi:type="dcterms:W3CDTF">2026-07-02T11:55:22Z</dcterms:modified>
</cp:coreProperties>
</file>